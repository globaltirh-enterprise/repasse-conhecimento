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Fira Sans"/>
      <p:regular r:id="rId19"/>
      <p:bold r:id="rId20"/>
      <p:italic r:id="rId21"/>
      <p:boldItalic r:id="rId22"/>
    </p:embeddedFont>
    <p:embeddedFont>
      <p:font typeface="Fira Sans Light"/>
      <p:regular r:id="rId23"/>
      <p:bold r:id="rId24"/>
      <p:italic r:id="rId25"/>
      <p:boldItalic r:id="rId26"/>
    </p:embeddedFont>
    <p:embeddedFont>
      <p:font typeface="Open Sans"/>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bold.fntdata"/><Relationship Id="rId22" Type="http://schemas.openxmlformats.org/officeDocument/2006/relationships/font" Target="fonts/FiraSans-boldItalic.fntdata"/><Relationship Id="rId21" Type="http://schemas.openxmlformats.org/officeDocument/2006/relationships/font" Target="fonts/FiraSans-italic.fntdata"/><Relationship Id="rId24" Type="http://schemas.openxmlformats.org/officeDocument/2006/relationships/font" Target="fonts/FiraSansLight-bold.fntdata"/><Relationship Id="rId23" Type="http://schemas.openxmlformats.org/officeDocument/2006/relationships/font" Target="fonts/FiraSans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raSansLight-boldItalic.fntdata"/><Relationship Id="rId25" Type="http://schemas.openxmlformats.org/officeDocument/2006/relationships/font" Target="fonts/FiraSansLight-italic.fntdata"/><Relationship Id="rId28" Type="http://schemas.openxmlformats.org/officeDocument/2006/relationships/font" Target="fonts/OpenSans-boldItalic.fntdata"/><Relationship Id="rId27" Type="http://schemas.openxmlformats.org/officeDocument/2006/relationships/font" Target="fonts/Open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FiraSans-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7375ce789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e7375ce789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1207e8e7d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1207e8e7dd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fa0927945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9fa0927945_0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fef77851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9fef77851b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fef77851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9fef77851b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fef77851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9fef77851b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fef77851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9fef77851b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006f26c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a006f26c6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006f26c6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a006f26c66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006f26c6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a006f26c66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006f26c6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a006f26c66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fa092794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9fa0927945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7164451" y="1158586"/>
            <a:ext cx="3660516" cy="317002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130" name="Google Shape;130;p25"/>
          <p:cNvSpPr/>
          <p:nvPr/>
        </p:nvSpPr>
        <p:spPr>
          <a:xfrm>
            <a:off x="6061472" y="3517563"/>
            <a:ext cx="2485077" cy="2152089"/>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31" name="Google Shape;131;p25"/>
          <p:cNvSpPr/>
          <p:nvPr/>
        </p:nvSpPr>
        <p:spPr>
          <a:xfrm>
            <a:off x="6168171" y="2977421"/>
            <a:ext cx="1135839" cy="98364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2" name="Google Shape;132;p25"/>
          <p:cNvSpPr/>
          <p:nvPr/>
        </p:nvSpPr>
        <p:spPr>
          <a:xfrm>
            <a:off x="6868885" y="186802"/>
            <a:ext cx="1899810" cy="1645244"/>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3" name="Google Shape;133;p25"/>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34" name="Google Shape;134;p25"/>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135" name="Google Shape;135;p25"/>
          <p:cNvGrpSpPr/>
          <p:nvPr/>
        </p:nvGrpSpPr>
        <p:grpSpPr>
          <a:xfrm>
            <a:off x="514350" y="869375"/>
            <a:ext cx="9446063" cy="3570704"/>
            <a:chOff x="0" y="-3216137"/>
            <a:chExt cx="25189500" cy="9521877"/>
          </a:xfrm>
        </p:grpSpPr>
        <p:sp>
          <p:nvSpPr>
            <p:cNvPr id="136" name="Google Shape;136;p25"/>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Repasse conhecimento</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137" name="Google Shape;137;p25"/>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4 de Novembro de 2025</a:t>
              </a:r>
              <a:endParaRPr sz="700"/>
            </a:p>
          </p:txBody>
        </p:sp>
      </p:grpSp>
      <p:sp>
        <p:nvSpPr>
          <p:cNvPr id="138" name="Google Shape;138;p25"/>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39" name="Google Shape;139;p25"/>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2º Encontro: Introdução ao ADK</a:t>
            </a:r>
            <a:endParaRPr sz="1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5" name="Google Shape;145;p2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46" name="Google Shape;146;p2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7" name="Google Shape;147;p2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48" name="Google Shape;148;p2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49" name="Google Shape;149;p26"/>
          <p:cNvSpPr txBox="1"/>
          <p:nvPr/>
        </p:nvSpPr>
        <p:spPr>
          <a:xfrm>
            <a:off x="286075" y="1295113"/>
            <a:ext cx="6667500" cy="2558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Sumário:</a:t>
            </a:r>
            <a:endParaRPr b="1" sz="1800">
              <a:solidFill>
                <a:schemeClr val="dk2"/>
              </a:solidFill>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Agentes no contexto do ADK;</a:t>
            </a:r>
            <a:endParaRPr sz="1500">
              <a:latin typeface="Open Sans"/>
              <a:ea typeface="Open Sans"/>
              <a:cs typeface="Open Sans"/>
              <a:sym typeface="Open Sans"/>
            </a:endParaRPr>
          </a:p>
          <a:p>
            <a:pPr indent="-323850" lvl="1" marL="914400" marR="0" rtl="0" algn="l">
              <a:lnSpc>
                <a:spcPct val="139984"/>
              </a:lnSpc>
              <a:spcBef>
                <a:spcPts val="0"/>
              </a:spcBef>
              <a:spcAft>
                <a:spcPts val="0"/>
              </a:spcAft>
              <a:buSzPts val="1500"/>
              <a:buFont typeface="Open Sans"/>
              <a:buAutoNum type="alphaLcParenR"/>
            </a:pPr>
            <a:r>
              <a:rPr lang="en" sz="1500">
                <a:latin typeface="Open Sans"/>
                <a:ea typeface="Open Sans"/>
                <a:cs typeface="Open Sans"/>
                <a:sym typeface="Open Sans"/>
              </a:rPr>
              <a:t>LLM Agents;</a:t>
            </a:r>
            <a:endParaRPr sz="1500">
              <a:latin typeface="Open Sans"/>
              <a:ea typeface="Open Sans"/>
              <a:cs typeface="Open Sans"/>
              <a:sym typeface="Open Sans"/>
            </a:endParaRPr>
          </a:p>
          <a:p>
            <a:pPr indent="-323850" lvl="1" marL="914400" marR="0" rtl="0" algn="l">
              <a:lnSpc>
                <a:spcPct val="139984"/>
              </a:lnSpc>
              <a:spcBef>
                <a:spcPts val="0"/>
              </a:spcBef>
              <a:spcAft>
                <a:spcPts val="0"/>
              </a:spcAft>
              <a:buSzPts val="1500"/>
              <a:buFont typeface="Open Sans"/>
              <a:buAutoNum type="alphaLcParenR"/>
            </a:pPr>
            <a:r>
              <a:rPr lang="en" sz="1500">
                <a:latin typeface="Open Sans"/>
                <a:ea typeface="Open Sans"/>
                <a:cs typeface="Open Sans"/>
                <a:sym typeface="Open Sans"/>
              </a:rPr>
              <a:t>Workflow Agents;</a:t>
            </a:r>
            <a:endParaRPr sz="1500">
              <a:latin typeface="Open Sans"/>
              <a:ea typeface="Open Sans"/>
              <a:cs typeface="Open Sans"/>
              <a:sym typeface="Open Sans"/>
            </a:endParaRPr>
          </a:p>
          <a:p>
            <a:pPr indent="-323850" lvl="1" marL="914400" marR="0" rtl="0" algn="l">
              <a:lnSpc>
                <a:spcPct val="139984"/>
              </a:lnSpc>
              <a:spcBef>
                <a:spcPts val="0"/>
              </a:spcBef>
              <a:spcAft>
                <a:spcPts val="0"/>
              </a:spcAft>
              <a:buSzPts val="1500"/>
              <a:buFont typeface="Open Sans"/>
              <a:buAutoNum type="alphaLcParenR"/>
            </a:pPr>
            <a:r>
              <a:rPr lang="en" sz="1500">
                <a:latin typeface="Open Sans"/>
                <a:ea typeface="Open Sans"/>
                <a:cs typeface="Open Sans"/>
                <a:sym typeface="Open Sans"/>
              </a:rPr>
              <a:t>Custom Agents;</a:t>
            </a:r>
            <a:endParaRPr sz="1500">
              <a:latin typeface="Open Sans"/>
              <a:ea typeface="Open Sans"/>
              <a:cs typeface="Open Sans"/>
              <a:sym typeface="Open Sans"/>
            </a:endParaRPr>
          </a:p>
          <a:p>
            <a:pPr indent="-323850" lvl="1" marL="914400" marR="0" rtl="0" algn="l">
              <a:lnSpc>
                <a:spcPct val="139984"/>
              </a:lnSpc>
              <a:spcBef>
                <a:spcPts val="0"/>
              </a:spcBef>
              <a:spcAft>
                <a:spcPts val="0"/>
              </a:spcAft>
              <a:buSzPts val="1500"/>
              <a:buFont typeface="Open Sans"/>
              <a:buAutoNum type="alphaLcParenR"/>
            </a:pPr>
            <a:r>
              <a:rPr lang="en" sz="1500">
                <a:latin typeface="Open Sans"/>
                <a:ea typeface="Open Sans"/>
                <a:cs typeface="Open Sans"/>
                <a:sym typeface="Open Sans"/>
              </a:rPr>
              <a:t>Config Agents;</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Ferramentas;</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Demonstração do ADK;</a:t>
            </a:r>
            <a:endParaRPr sz="1500">
              <a:latin typeface="Open Sans"/>
              <a:ea typeface="Open Sans"/>
              <a:cs typeface="Open Sans"/>
              <a:sym typeface="Open Sans"/>
            </a:endParaRPr>
          </a:p>
        </p:txBody>
      </p:sp>
      <p:sp>
        <p:nvSpPr>
          <p:cNvPr id="150" name="Google Shape;150;p2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279450" y="798275"/>
            <a:ext cx="7147200" cy="2991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Agentes no contexto do ADK</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rPr lang="en" sz="1800">
                <a:latin typeface="Open Sans"/>
                <a:ea typeface="Open Sans"/>
                <a:cs typeface="Open Sans"/>
                <a:sym typeface="Open Sans"/>
              </a:rPr>
              <a:t>Um Agente é uma unidade de execução autônoma projetada para agir de forma independente a fim de atingir objetivos específicos. Os agentes podem executar tarefas, interagir com usuários, utilizar ferramentas externas e coordenar-se com outros agentes. </a:t>
            </a:r>
            <a:r>
              <a:rPr lang="en" sz="1800">
                <a:solidFill>
                  <a:schemeClr val="dk1"/>
                </a:solidFill>
                <a:latin typeface="Open Sans"/>
                <a:ea typeface="Open Sans"/>
                <a:cs typeface="Open Sans"/>
                <a:sym typeface="Open Sans"/>
              </a:rPr>
              <a:t>A base para todos os agentes no </a:t>
            </a:r>
            <a:r>
              <a:rPr b="1" lang="en" sz="1800">
                <a:solidFill>
                  <a:schemeClr val="dk1"/>
                </a:solidFill>
                <a:latin typeface="Open Sans"/>
                <a:ea typeface="Open Sans"/>
                <a:cs typeface="Open Sans"/>
                <a:sym typeface="Open Sans"/>
              </a:rPr>
              <a:t>ADK</a:t>
            </a:r>
            <a:r>
              <a:rPr lang="en" sz="1800">
                <a:solidFill>
                  <a:schemeClr val="dk1"/>
                </a:solidFill>
                <a:latin typeface="Open Sans"/>
                <a:ea typeface="Open Sans"/>
                <a:cs typeface="Open Sans"/>
                <a:sym typeface="Open Sans"/>
              </a:rPr>
              <a:t> é a classe </a:t>
            </a:r>
            <a:r>
              <a:rPr b="1" lang="en" sz="1800">
                <a:solidFill>
                  <a:schemeClr val="dk1"/>
                </a:solidFill>
                <a:latin typeface="Open Sans"/>
                <a:ea typeface="Open Sans"/>
                <a:cs typeface="Open Sans"/>
                <a:sym typeface="Open Sans"/>
              </a:rPr>
              <a:t>BaseAgent</a:t>
            </a:r>
            <a:r>
              <a:rPr lang="en" sz="1800">
                <a:solidFill>
                  <a:schemeClr val="dk1"/>
                </a:solidFill>
                <a:latin typeface="Open Sans"/>
                <a:ea typeface="Open Sans"/>
                <a:cs typeface="Open Sans"/>
                <a:sym typeface="Open Sans"/>
              </a:rPr>
              <a:t>. Ela serve como o modelo fundamental. </a:t>
            </a:r>
            <a:endParaRPr sz="1300">
              <a:solidFill>
                <a:schemeClr val="dk1"/>
              </a:solidFill>
              <a:latin typeface="Open Sans"/>
              <a:ea typeface="Open Sans"/>
              <a:cs typeface="Open Sans"/>
              <a:sym typeface="Open Sans"/>
            </a:endParaRPr>
          </a:p>
        </p:txBody>
      </p:sp>
      <p:sp>
        <p:nvSpPr>
          <p:cNvPr id="156" name="Google Shape;156;p2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7" name="Google Shape;157;p2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58" name="Google Shape;158;p2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9" name="Google Shape;159;p2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60" name="Google Shape;160;p2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61" name="Google Shape;161;p2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162" name="Google Shape;162;p27"/>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nvSpPr>
        <p:spPr>
          <a:xfrm>
            <a:off x="279450" y="798275"/>
            <a:ext cx="7147200" cy="1751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Agentes no contexto do ADK</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latin typeface="Open Sans"/>
                <a:ea typeface="Open Sans"/>
                <a:cs typeface="Open Sans"/>
                <a:sym typeface="Open Sans"/>
              </a:rPr>
            </a:br>
            <a:endParaRPr sz="1300">
              <a:solidFill>
                <a:schemeClr val="dk1"/>
              </a:solidFill>
              <a:latin typeface="Open Sans"/>
              <a:ea typeface="Open Sans"/>
              <a:cs typeface="Open Sans"/>
              <a:sym typeface="Open Sans"/>
            </a:endParaRPr>
          </a:p>
        </p:txBody>
      </p:sp>
      <p:sp>
        <p:nvSpPr>
          <p:cNvPr id="168" name="Google Shape;168;p2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69" name="Google Shape;169;p2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70" name="Google Shape;170;p2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71" name="Google Shape;171;p2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72" name="Google Shape;172;p2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73" name="Google Shape;173;p2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174" name="Google Shape;174;p28"/>
          <p:cNvPicPr preferRelativeResize="0"/>
          <p:nvPr/>
        </p:nvPicPr>
        <p:blipFill>
          <a:blip r:embed="rId5">
            <a:alphaModFix/>
          </a:blip>
          <a:stretch>
            <a:fillRect/>
          </a:stretch>
        </p:blipFill>
        <p:spPr>
          <a:xfrm>
            <a:off x="5872099" y="90475"/>
            <a:ext cx="626001" cy="626001"/>
          </a:xfrm>
          <a:prstGeom prst="rect">
            <a:avLst/>
          </a:prstGeom>
          <a:noFill/>
          <a:ln>
            <a:noFill/>
          </a:ln>
        </p:spPr>
      </p:pic>
      <p:pic>
        <p:nvPicPr>
          <p:cNvPr id="175" name="Google Shape;175;p28"/>
          <p:cNvPicPr preferRelativeResize="0"/>
          <p:nvPr/>
        </p:nvPicPr>
        <p:blipFill>
          <a:blip r:embed="rId6">
            <a:alphaModFix/>
          </a:blip>
          <a:stretch>
            <a:fillRect/>
          </a:stretch>
        </p:blipFill>
        <p:spPr>
          <a:xfrm>
            <a:off x="252142" y="1268400"/>
            <a:ext cx="6875251" cy="3224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nvSpPr>
        <p:spPr>
          <a:xfrm>
            <a:off x="279450" y="798275"/>
            <a:ext cx="7147200" cy="3102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LLM </a:t>
            </a:r>
            <a:r>
              <a:rPr b="1" lang="en" sz="1800">
                <a:solidFill>
                  <a:schemeClr val="dk2"/>
                </a:solidFill>
                <a:latin typeface="Open Sans"/>
                <a:ea typeface="Open Sans"/>
                <a:cs typeface="Open Sans"/>
                <a:sym typeface="Open Sans"/>
              </a:rPr>
              <a:t>Agents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rPr lang="en">
                <a:latin typeface="Open Sans"/>
                <a:ea typeface="Open Sans"/>
                <a:cs typeface="Open Sans"/>
                <a:sym typeface="Open Sans"/>
              </a:rPr>
              <a:t>O </a:t>
            </a:r>
            <a:r>
              <a:rPr b="1" lang="en">
                <a:latin typeface="Open Sans"/>
                <a:ea typeface="Open Sans"/>
                <a:cs typeface="Open Sans"/>
                <a:sym typeface="Open Sans"/>
              </a:rPr>
              <a:t>LlmAgent</a:t>
            </a:r>
            <a:r>
              <a:rPr lang="en">
                <a:latin typeface="Open Sans"/>
                <a:ea typeface="Open Sans"/>
                <a:cs typeface="Open Sans"/>
                <a:sym typeface="Open Sans"/>
              </a:rPr>
              <a:t> (ou apenas de </a:t>
            </a:r>
            <a:r>
              <a:rPr b="1" lang="en">
                <a:latin typeface="Open Sans"/>
                <a:ea typeface="Open Sans"/>
                <a:cs typeface="Open Sans"/>
                <a:sym typeface="Open Sans"/>
              </a:rPr>
              <a:t>Agente</a:t>
            </a:r>
            <a:r>
              <a:rPr lang="en">
                <a:latin typeface="Open Sans"/>
                <a:ea typeface="Open Sans"/>
                <a:cs typeface="Open Sans"/>
                <a:sym typeface="Open Sans"/>
              </a:rPr>
              <a:t>) é um componente central do ADK, atuando como a parte "pensante" da sua aplicação. Ele aproveita o poder de uma LLM para raciocinar, compreender a linguagem natural, tomar decisões, gerar respostas e interagir com ferramentas.</a:t>
            </a:r>
            <a:endParaRPr>
              <a:latin typeface="Open Sans"/>
              <a:ea typeface="Open Sans"/>
              <a:cs typeface="Open Sans"/>
              <a:sym typeface="Open Sans"/>
            </a:endParaRPr>
          </a:p>
          <a:p>
            <a:pPr indent="0" lvl="0" marL="0" marR="0" rtl="0" algn="l">
              <a:lnSpc>
                <a:spcPct val="139984"/>
              </a:lnSpc>
              <a:spcBef>
                <a:spcPts val="0"/>
              </a:spcBef>
              <a:spcAft>
                <a:spcPts val="0"/>
              </a:spcAft>
              <a:buNone/>
            </a:pPr>
            <a:r>
              <a:t/>
            </a:r>
            <a:endParaRPr>
              <a:latin typeface="Open Sans"/>
              <a:ea typeface="Open Sans"/>
              <a:cs typeface="Open Sans"/>
              <a:sym typeface="Open Sans"/>
            </a:endParaRPr>
          </a:p>
          <a:p>
            <a:pPr indent="0" lvl="0" marL="0" rtl="0" algn="l">
              <a:lnSpc>
                <a:spcPct val="139984"/>
              </a:lnSpc>
              <a:spcBef>
                <a:spcPts val="0"/>
              </a:spcBef>
              <a:spcAft>
                <a:spcPts val="0"/>
              </a:spcAft>
              <a:buClr>
                <a:schemeClr val="dk1"/>
              </a:buClr>
              <a:buFont typeface="Arial"/>
              <a:buNone/>
            </a:pPr>
            <a:r>
              <a:rPr lang="en">
                <a:solidFill>
                  <a:schemeClr val="dk1"/>
                </a:solidFill>
                <a:latin typeface="Open Sans"/>
                <a:ea typeface="Open Sans"/>
                <a:cs typeface="Open Sans"/>
                <a:sym typeface="Open Sans"/>
              </a:rPr>
              <a:t>Construir um </a:t>
            </a:r>
            <a:r>
              <a:rPr b="1" lang="en">
                <a:solidFill>
                  <a:schemeClr val="dk1"/>
                </a:solidFill>
                <a:latin typeface="Open Sans"/>
                <a:ea typeface="Open Sans"/>
                <a:cs typeface="Open Sans"/>
                <a:sym typeface="Open Sans"/>
              </a:rPr>
              <a:t>LlmAgent</a:t>
            </a:r>
            <a:r>
              <a:rPr lang="en">
                <a:solidFill>
                  <a:schemeClr val="dk1"/>
                </a:solidFill>
                <a:latin typeface="Open Sans"/>
                <a:ea typeface="Open Sans"/>
                <a:cs typeface="Open Sans"/>
                <a:sym typeface="Open Sans"/>
              </a:rPr>
              <a:t> eficaz envolve definir sua identidade, orientar claramente seu comportamento por meio de instruções e equipá-lo com as ferramentas e capacidades necessárias.</a:t>
            </a:r>
            <a:endParaRPr>
              <a:solidFill>
                <a:schemeClr val="dk1"/>
              </a:solidFill>
              <a:highlight>
                <a:schemeClr val="dk1"/>
              </a:highlight>
              <a:latin typeface="Open Sans"/>
              <a:ea typeface="Open Sans"/>
              <a:cs typeface="Open Sans"/>
              <a:sym typeface="Open Sans"/>
            </a:endParaRPr>
          </a:p>
        </p:txBody>
      </p:sp>
      <p:sp>
        <p:nvSpPr>
          <p:cNvPr id="181" name="Google Shape;181;p2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2" name="Google Shape;182;p2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83" name="Google Shape;183;p2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4" name="Google Shape;184;p2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85" name="Google Shape;185;p2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86" name="Google Shape;186;p2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187" name="Google Shape;187;p29"/>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nvSpPr>
        <p:spPr>
          <a:xfrm>
            <a:off x="279450" y="798275"/>
            <a:ext cx="6786900" cy="5543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Workflow Agents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rPr lang="en">
                <a:latin typeface="Open Sans"/>
                <a:ea typeface="Open Sans"/>
                <a:cs typeface="Open Sans"/>
                <a:sym typeface="Open Sans"/>
              </a:rPr>
              <a:t>Os workflow agents são componentes especializados do ADK projetados exclusivamente para orquestrar o fluxo de execução de subagentes. Sua principal função é gerenciar como e quando outros agentes são executados, definindo o fluxo de controle de um processo.</a:t>
            </a:r>
            <a:endParaRPr>
              <a:latin typeface="Open Sans"/>
              <a:ea typeface="Open Sans"/>
              <a:cs typeface="Open Sans"/>
              <a:sym typeface="Open Sans"/>
            </a:endParaRPr>
          </a:p>
          <a:p>
            <a:pPr indent="0" lvl="0" marL="0" marR="0" rtl="0" algn="l">
              <a:lnSpc>
                <a:spcPct val="139984"/>
              </a:lnSpc>
              <a:spcBef>
                <a:spcPts val="0"/>
              </a:spcBef>
              <a:spcAft>
                <a:spcPts val="0"/>
              </a:spcAft>
              <a:buNone/>
            </a:pPr>
            <a:r>
              <a:t/>
            </a:r>
            <a:endParaRPr>
              <a:latin typeface="Open Sans"/>
              <a:ea typeface="Open Sans"/>
              <a:cs typeface="Open Sans"/>
              <a:sym typeface="Open Sans"/>
            </a:endParaRPr>
          </a:p>
          <a:p>
            <a:pPr indent="0" lvl="0" marL="0" marR="0" rtl="0" algn="l">
              <a:lnSpc>
                <a:spcPct val="139984"/>
              </a:lnSpc>
              <a:spcBef>
                <a:spcPts val="0"/>
              </a:spcBef>
              <a:spcAft>
                <a:spcPts val="0"/>
              </a:spcAft>
              <a:buNone/>
            </a:pPr>
            <a:r>
              <a:rPr lang="en">
                <a:latin typeface="Open Sans"/>
                <a:ea typeface="Open Sans"/>
                <a:cs typeface="Open Sans"/>
                <a:sym typeface="Open Sans"/>
              </a:rPr>
              <a:t>Ao contrário dos LLM Agents, que utilizam LLMs para raciocínio dinâmico e tomada de decisões, os workflow agents operam com base em lógica predefinida. Eles determinam a sequência de execução de acordo com seu tipo (</a:t>
            </a:r>
            <a:r>
              <a:rPr lang="en">
                <a:solidFill>
                  <a:schemeClr val="dk1"/>
                </a:solidFill>
                <a:latin typeface="Open Sans"/>
                <a:ea typeface="Open Sans"/>
                <a:cs typeface="Open Sans"/>
                <a:sym typeface="Open Sans"/>
              </a:rPr>
              <a:t> </a:t>
            </a:r>
            <a:r>
              <a:rPr b="1" lang="en">
                <a:solidFill>
                  <a:schemeClr val="dk1"/>
                </a:solidFill>
                <a:latin typeface="Open Sans"/>
                <a:ea typeface="Open Sans"/>
                <a:cs typeface="Open Sans"/>
                <a:sym typeface="Open Sans"/>
              </a:rPr>
              <a:t>sequencial</a:t>
            </a:r>
            <a:r>
              <a:rPr lang="en">
                <a:solidFill>
                  <a:schemeClr val="dk1"/>
                </a:solidFill>
                <a:latin typeface="Open Sans"/>
                <a:ea typeface="Open Sans"/>
                <a:cs typeface="Open Sans"/>
                <a:sym typeface="Open Sans"/>
              </a:rPr>
              <a:t>, </a:t>
            </a:r>
            <a:r>
              <a:rPr b="1" lang="en">
                <a:solidFill>
                  <a:schemeClr val="dk1"/>
                </a:solidFill>
                <a:latin typeface="Open Sans"/>
                <a:ea typeface="Open Sans"/>
                <a:cs typeface="Open Sans"/>
                <a:sym typeface="Open Sans"/>
              </a:rPr>
              <a:t>paralelo</a:t>
            </a:r>
            <a:r>
              <a:rPr lang="en">
                <a:solidFill>
                  <a:schemeClr val="dk1"/>
                </a:solidFill>
                <a:latin typeface="Open Sans"/>
                <a:ea typeface="Open Sans"/>
                <a:cs typeface="Open Sans"/>
                <a:sym typeface="Open Sans"/>
              </a:rPr>
              <a:t> e </a:t>
            </a:r>
            <a:r>
              <a:rPr b="1" lang="en">
                <a:solidFill>
                  <a:schemeClr val="dk1"/>
                </a:solidFill>
                <a:latin typeface="Open Sans"/>
                <a:ea typeface="Open Sans"/>
                <a:cs typeface="Open Sans"/>
                <a:sym typeface="Open Sans"/>
              </a:rPr>
              <a:t>loop</a:t>
            </a:r>
            <a:r>
              <a:rPr lang="en">
                <a:solidFill>
                  <a:schemeClr val="dk1"/>
                </a:solidFill>
                <a:latin typeface="Open Sans"/>
                <a:ea typeface="Open Sans"/>
                <a:cs typeface="Open Sans"/>
                <a:sym typeface="Open Sans"/>
              </a:rPr>
              <a:t>)</a:t>
            </a:r>
            <a:r>
              <a:rPr lang="en">
                <a:latin typeface="Open Sans"/>
                <a:ea typeface="Open Sans"/>
                <a:cs typeface="Open Sans"/>
                <a:sym typeface="Open Sans"/>
              </a:rPr>
              <a:t> sem consultar um LLM para a orquestração em si. Isso resulta em padrões de execução determinísticos e previsíveis.</a:t>
            </a:r>
            <a:endParaRPr>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highlight>
                <a:srgbClr val="FFFFFF"/>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highlight>
                <a:schemeClr val="dk1"/>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highlight>
                <a:schemeClr val="dk1"/>
              </a:highlight>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highlight>
                  <a:schemeClr val="dk1"/>
                </a:highlight>
                <a:latin typeface="Open Sans"/>
                <a:ea typeface="Open Sans"/>
                <a:cs typeface="Open Sans"/>
                <a:sym typeface="Open Sans"/>
              </a:rPr>
            </a:br>
            <a:endParaRPr sz="1300">
              <a:solidFill>
                <a:schemeClr val="dk1"/>
              </a:solidFill>
              <a:highlight>
                <a:schemeClr val="dk1"/>
              </a:highlight>
              <a:latin typeface="Open Sans"/>
              <a:ea typeface="Open Sans"/>
              <a:cs typeface="Open Sans"/>
              <a:sym typeface="Open Sans"/>
            </a:endParaRPr>
          </a:p>
        </p:txBody>
      </p:sp>
      <p:sp>
        <p:nvSpPr>
          <p:cNvPr id="193" name="Google Shape;193;p3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4" name="Google Shape;194;p3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95" name="Google Shape;195;p3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6" name="Google Shape;196;p3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97" name="Google Shape;197;p3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98" name="Google Shape;198;p3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199" name="Google Shape;199;p30"/>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nvSpPr>
        <p:spPr>
          <a:xfrm>
            <a:off x="279450" y="798275"/>
            <a:ext cx="7147200" cy="5242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Custom Agents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rPr lang="en" sz="1800">
                <a:latin typeface="Open Sans"/>
                <a:ea typeface="Open Sans"/>
                <a:cs typeface="Open Sans"/>
                <a:sym typeface="Open Sans"/>
              </a:rPr>
              <a:t>É essencialmente qualquer classe que você cria que herda de `</a:t>
            </a:r>
            <a:r>
              <a:rPr b="1" lang="en" sz="1800">
                <a:latin typeface="Open Sans"/>
                <a:ea typeface="Open Sans"/>
                <a:cs typeface="Open Sans"/>
                <a:sym typeface="Open Sans"/>
              </a:rPr>
              <a:t>google.adk.agents.BaseAgent</a:t>
            </a:r>
            <a:r>
              <a:rPr lang="en" sz="1800">
                <a:latin typeface="Open Sans"/>
                <a:ea typeface="Open Sans"/>
                <a:cs typeface="Open Sans"/>
                <a:sym typeface="Open Sans"/>
              </a:rPr>
              <a:t>` e implementa sua lógica de execução principal dentro do método assíncrono `</a:t>
            </a:r>
            <a:r>
              <a:rPr b="1" lang="en" sz="1800">
                <a:latin typeface="Open Sans"/>
                <a:ea typeface="Open Sans"/>
                <a:cs typeface="Open Sans"/>
                <a:sym typeface="Open Sans"/>
              </a:rPr>
              <a:t>_run_async_impl</a:t>
            </a:r>
            <a:r>
              <a:rPr lang="en" sz="1800">
                <a:latin typeface="Open Sans"/>
                <a:ea typeface="Open Sans"/>
                <a:cs typeface="Open Sans"/>
                <a:sym typeface="Open Sans"/>
              </a:rPr>
              <a:t>`. Você tem controle total sobre como esse método chama outros agentes (subagentes), gerencia o estado e lida com eventos.</a:t>
            </a:r>
            <a:endParaRPr sz="1800">
              <a:latin typeface="Open Sans"/>
              <a:ea typeface="Open Sans"/>
              <a:cs typeface="Open Sans"/>
              <a:sym typeface="Open Sans"/>
            </a:endParaRPr>
          </a:p>
          <a:p>
            <a:pPr indent="0" lvl="0" marL="45720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highlight>
                <a:schemeClr val="dk1"/>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highlight>
                <a:schemeClr val="dk1"/>
              </a:highlight>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highlight>
                  <a:schemeClr val="dk1"/>
                </a:highlight>
                <a:latin typeface="Open Sans"/>
                <a:ea typeface="Open Sans"/>
                <a:cs typeface="Open Sans"/>
                <a:sym typeface="Open Sans"/>
              </a:rPr>
            </a:br>
            <a:endParaRPr sz="1300">
              <a:solidFill>
                <a:schemeClr val="dk1"/>
              </a:solidFill>
              <a:highlight>
                <a:schemeClr val="dk1"/>
              </a:highlight>
              <a:latin typeface="Open Sans"/>
              <a:ea typeface="Open Sans"/>
              <a:cs typeface="Open Sans"/>
              <a:sym typeface="Open Sans"/>
            </a:endParaRPr>
          </a:p>
        </p:txBody>
      </p:sp>
      <p:sp>
        <p:nvSpPr>
          <p:cNvPr id="205" name="Google Shape;205;p3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6" name="Google Shape;206;p3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07" name="Google Shape;207;p3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8" name="Google Shape;208;p3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09" name="Google Shape;209;p3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10" name="Google Shape;210;p3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11" name="Google Shape;211;p31"/>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nvSpPr>
        <p:spPr>
          <a:xfrm>
            <a:off x="279450" y="798275"/>
            <a:ext cx="7147200" cy="5242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Config </a:t>
            </a:r>
            <a:r>
              <a:rPr b="1" lang="en" sz="1800">
                <a:solidFill>
                  <a:schemeClr val="dk2"/>
                </a:solidFill>
                <a:latin typeface="Open Sans"/>
                <a:ea typeface="Open Sans"/>
                <a:cs typeface="Open Sans"/>
                <a:sym typeface="Open Sans"/>
              </a:rPr>
              <a:t>Agents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800">
                <a:latin typeface="Open Sans"/>
                <a:ea typeface="Open Sans"/>
                <a:cs typeface="Open Sans"/>
                <a:sym typeface="Open Sans"/>
              </a:rPr>
              <a:t>ADK permite criar um fluxo de trabalho do ADK sem escrever código. Um Config Agent utiliza um arquivo de texto no formato YAML com uma breve descrição do agente, permitindo que praticamente qualquer pessoa crie e execute um agente do ADK.</a:t>
            </a:r>
            <a:endParaRPr sz="1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highlight>
                <a:schemeClr val="dk1"/>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highlight>
                <a:schemeClr val="dk1"/>
              </a:highlight>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highlight>
                  <a:schemeClr val="dk1"/>
                </a:highlight>
                <a:latin typeface="Open Sans"/>
                <a:ea typeface="Open Sans"/>
                <a:cs typeface="Open Sans"/>
                <a:sym typeface="Open Sans"/>
              </a:rPr>
            </a:br>
            <a:endParaRPr sz="1300">
              <a:solidFill>
                <a:schemeClr val="dk1"/>
              </a:solidFill>
              <a:highlight>
                <a:schemeClr val="dk1"/>
              </a:highlight>
              <a:latin typeface="Open Sans"/>
              <a:ea typeface="Open Sans"/>
              <a:cs typeface="Open Sans"/>
              <a:sym typeface="Open Sans"/>
            </a:endParaRPr>
          </a:p>
        </p:txBody>
      </p:sp>
      <p:sp>
        <p:nvSpPr>
          <p:cNvPr id="217" name="Google Shape;217;p3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8" name="Google Shape;218;p3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19" name="Google Shape;219;p3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0" name="Google Shape;220;p3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21" name="Google Shape;221;p3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22" name="Google Shape;222;p3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23" name="Google Shape;223;p32"/>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nvSpPr>
        <p:spPr>
          <a:xfrm>
            <a:off x="279450" y="798275"/>
            <a:ext cx="7147200" cy="5242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Config Agents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rPr lang="en" sz="1800">
                <a:latin typeface="Open Sans"/>
                <a:ea typeface="Open Sans"/>
                <a:cs typeface="Open Sans"/>
                <a:sym typeface="Open Sans"/>
              </a:rPr>
              <a:t>ADK permite criar um fluxo de trabalho do ADK sem escrever código. Um </a:t>
            </a:r>
            <a:r>
              <a:rPr b="1" lang="en" sz="1800">
                <a:latin typeface="Open Sans"/>
                <a:ea typeface="Open Sans"/>
                <a:cs typeface="Open Sans"/>
                <a:sym typeface="Open Sans"/>
              </a:rPr>
              <a:t>Config Agent</a:t>
            </a:r>
            <a:r>
              <a:rPr lang="en" sz="1800">
                <a:latin typeface="Open Sans"/>
                <a:ea typeface="Open Sans"/>
                <a:cs typeface="Open Sans"/>
                <a:sym typeface="Open Sans"/>
              </a:rPr>
              <a:t> utiliza um arquivo de texto no formato YAML com uma breve descrição do agente, permitindo que praticamente qualquer pessoa crie e execute um agente do ADK.</a:t>
            </a:r>
            <a:endParaRPr sz="1800">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highlight>
                <a:schemeClr val="dk1"/>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highlight>
                <a:schemeClr val="dk1"/>
              </a:highlight>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highlight>
                  <a:schemeClr val="dk1"/>
                </a:highlight>
                <a:latin typeface="Open Sans"/>
                <a:ea typeface="Open Sans"/>
                <a:cs typeface="Open Sans"/>
                <a:sym typeface="Open Sans"/>
              </a:rPr>
            </a:br>
            <a:endParaRPr sz="1300">
              <a:solidFill>
                <a:schemeClr val="dk1"/>
              </a:solidFill>
              <a:highlight>
                <a:schemeClr val="dk1"/>
              </a:highlight>
              <a:latin typeface="Open Sans"/>
              <a:ea typeface="Open Sans"/>
              <a:cs typeface="Open Sans"/>
              <a:sym typeface="Open Sans"/>
            </a:endParaRPr>
          </a:p>
        </p:txBody>
      </p:sp>
      <p:sp>
        <p:nvSpPr>
          <p:cNvPr id="229" name="Google Shape;229;p3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0" name="Google Shape;230;p3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31" name="Google Shape;231;p3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2" name="Google Shape;232;p3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33" name="Google Shape;233;p3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34" name="Google Shape;234;p3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35" name="Google Shape;235;p33"/>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nvSpPr>
        <p:spPr>
          <a:xfrm>
            <a:off x="279450" y="798275"/>
            <a:ext cx="7147200" cy="5629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Ferramentas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rPr lang="en" sz="1800">
                <a:latin typeface="Open Sans"/>
                <a:ea typeface="Open Sans"/>
                <a:cs typeface="Open Sans"/>
                <a:sym typeface="Open Sans"/>
              </a:rPr>
              <a:t>As Ferramentas são funções de programação com entrada e saída estruturadas que podem ser chamadas por um Agente ADK para executar ações. As Ferramentas ADK funcionam de maneira semelhante ao uso de uma chamada de função com o Gemini ou outros modelos de IA generativa. </a:t>
            </a:r>
            <a:endParaRPr sz="1800">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highlight>
                <a:schemeClr val="dk1"/>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highlight>
                <a:schemeClr val="dk1"/>
              </a:highlight>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highlight>
                  <a:schemeClr val="dk1"/>
                </a:highlight>
                <a:latin typeface="Open Sans"/>
                <a:ea typeface="Open Sans"/>
                <a:cs typeface="Open Sans"/>
                <a:sym typeface="Open Sans"/>
              </a:rPr>
            </a:br>
            <a:endParaRPr sz="1300">
              <a:solidFill>
                <a:schemeClr val="dk1"/>
              </a:solidFill>
              <a:highlight>
                <a:schemeClr val="dk1"/>
              </a:highlight>
              <a:latin typeface="Open Sans"/>
              <a:ea typeface="Open Sans"/>
              <a:cs typeface="Open Sans"/>
              <a:sym typeface="Open Sans"/>
            </a:endParaRPr>
          </a:p>
        </p:txBody>
      </p:sp>
      <p:sp>
        <p:nvSpPr>
          <p:cNvPr id="241" name="Google Shape;241;p3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2" name="Google Shape;242;p3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43" name="Google Shape;243;p3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4" name="Google Shape;244;p3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45" name="Google Shape;245;p3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46" name="Google Shape;246;p3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47" name="Google Shape;247;p34"/>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5"/>
          <p:cNvSpPr txBox="1"/>
          <p:nvPr/>
        </p:nvSpPr>
        <p:spPr>
          <a:xfrm>
            <a:off x="279450" y="798275"/>
            <a:ext cx="7147200" cy="4423200"/>
          </a:xfrm>
          <a:prstGeom prst="rect">
            <a:avLst/>
          </a:prstGeom>
          <a:noFill/>
          <a:ln>
            <a:noFill/>
          </a:ln>
        </p:spPr>
        <p:txBody>
          <a:bodyPr anchorCtr="0" anchor="t" bIns="0" lIns="0" spcFirstLastPara="1" rIns="0" wrap="square" tIns="0">
            <a:spAutoFit/>
          </a:bodyPr>
          <a:lstStyle/>
          <a:p>
            <a:pPr indent="0" lvl="0" marL="0" rtl="0" algn="l">
              <a:lnSpc>
                <a:spcPct val="139984"/>
              </a:lnSpc>
              <a:spcBef>
                <a:spcPts val="0"/>
              </a:spcBef>
              <a:spcAft>
                <a:spcPts val="0"/>
              </a:spcAft>
              <a:buClr>
                <a:schemeClr val="dk1"/>
              </a:buClr>
              <a:buFont typeface="Arial"/>
              <a:buNone/>
            </a:pPr>
            <a:r>
              <a:rPr b="1" lang="en" sz="1800">
                <a:solidFill>
                  <a:schemeClr val="dk2"/>
                </a:solidFill>
                <a:latin typeface="Open Sans"/>
                <a:ea typeface="Open Sans"/>
                <a:cs typeface="Open Sans"/>
                <a:sym typeface="Open Sans"/>
              </a:rPr>
              <a:t>Demonstração do ADK</a:t>
            </a:r>
            <a:br>
              <a:rPr b="1" lang="en" sz="1800">
                <a:solidFill>
                  <a:schemeClr val="dk2"/>
                </a:solidFill>
                <a:latin typeface="Open Sans"/>
                <a:ea typeface="Open Sans"/>
                <a:cs typeface="Open Sans"/>
                <a:sym typeface="Open Sans"/>
              </a:rPr>
            </a:br>
            <a:br>
              <a:rPr b="1" lang="en" sz="1800">
                <a:solidFill>
                  <a:schemeClr val="dk2"/>
                </a:solidFill>
                <a:latin typeface="Open Sans"/>
                <a:ea typeface="Open Sans"/>
                <a:cs typeface="Open Sans"/>
                <a:sym typeface="Open Sans"/>
              </a:rPr>
            </a:br>
            <a:br>
              <a:rPr b="1" lang="en" sz="1800">
                <a:solidFill>
                  <a:schemeClr val="dk2"/>
                </a:solidFill>
                <a:latin typeface="Open Sans"/>
                <a:ea typeface="Open Sans"/>
                <a:cs typeface="Open Sans"/>
                <a:sym typeface="Open Sans"/>
              </a:rPr>
            </a:br>
            <a:r>
              <a:rPr b="1" lang="en" sz="1600">
                <a:solidFill>
                  <a:schemeClr val="dk1"/>
                </a:solidFill>
                <a:latin typeface="Open Sans"/>
                <a:ea typeface="Open Sans"/>
                <a:cs typeface="Open Sans"/>
                <a:sym typeface="Open Sans"/>
              </a:rPr>
              <a:t>ADK no ambiente linux.</a:t>
            </a:r>
            <a:endParaRPr sz="1800">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b="1" sz="1800">
              <a:solidFill>
                <a:schemeClr val="dk2"/>
              </a:solidFill>
              <a:highlight>
                <a:schemeClr val="dk1"/>
              </a:highlight>
              <a:latin typeface="Open Sans"/>
              <a:ea typeface="Open Sans"/>
              <a:cs typeface="Open Sans"/>
              <a:sym typeface="Open Sans"/>
            </a:endParaRPr>
          </a:p>
          <a:p>
            <a:pPr indent="0" lvl="0" marL="0" rtl="0" algn="l">
              <a:lnSpc>
                <a:spcPct val="139984"/>
              </a:lnSpc>
              <a:spcBef>
                <a:spcPts val="0"/>
              </a:spcBef>
              <a:spcAft>
                <a:spcPts val="0"/>
              </a:spcAft>
              <a:buSzPts val="1100"/>
              <a:buNone/>
            </a:pPr>
            <a:r>
              <a:t/>
            </a:r>
            <a:endParaRPr sz="1800">
              <a:highlight>
                <a:schemeClr val="dk1"/>
              </a:highlight>
              <a:latin typeface="Open Sans"/>
              <a:ea typeface="Open Sans"/>
              <a:cs typeface="Open Sans"/>
              <a:sym typeface="Open Sans"/>
            </a:endParaRPr>
          </a:p>
          <a:p>
            <a:pPr indent="0" lvl="0" marL="0" marR="0" rtl="0" algn="l">
              <a:lnSpc>
                <a:spcPct val="139984"/>
              </a:lnSpc>
              <a:spcBef>
                <a:spcPts val="0"/>
              </a:spcBef>
              <a:spcAft>
                <a:spcPts val="0"/>
              </a:spcAft>
              <a:buNone/>
            </a:pPr>
            <a:br>
              <a:rPr b="1" lang="en" sz="1800">
                <a:solidFill>
                  <a:schemeClr val="dk2"/>
                </a:solidFill>
                <a:highlight>
                  <a:schemeClr val="dk1"/>
                </a:highlight>
                <a:latin typeface="Open Sans"/>
                <a:ea typeface="Open Sans"/>
                <a:cs typeface="Open Sans"/>
                <a:sym typeface="Open Sans"/>
              </a:rPr>
            </a:br>
            <a:endParaRPr sz="1300">
              <a:solidFill>
                <a:schemeClr val="dk1"/>
              </a:solidFill>
              <a:highlight>
                <a:schemeClr val="dk1"/>
              </a:highlight>
              <a:latin typeface="Open Sans"/>
              <a:ea typeface="Open Sans"/>
              <a:cs typeface="Open Sans"/>
              <a:sym typeface="Open Sans"/>
            </a:endParaRPr>
          </a:p>
        </p:txBody>
      </p:sp>
      <p:sp>
        <p:nvSpPr>
          <p:cNvPr id="253" name="Google Shape;253;p3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4" name="Google Shape;254;p3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55" name="Google Shape;255;p3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6" name="Google Shape;256;p3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57" name="Google Shape;257;p3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58" name="Google Shape;258;p3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59" name="Google Shape;259;p35"/>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p:nvPr/>
        </p:nvSpPr>
        <p:spPr>
          <a:xfrm>
            <a:off x="7164451" y="1158587"/>
            <a:ext cx="3664872" cy="317379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265" name="Google Shape;265;p36"/>
          <p:cNvSpPr/>
          <p:nvPr/>
        </p:nvSpPr>
        <p:spPr>
          <a:xfrm>
            <a:off x="6061472" y="3517563"/>
            <a:ext cx="2488494" cy="215504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66" name="Google Shape;266;p36"/>
          <p:cNvSpPr/>
          <p:nvPr/>
        </p:nvSpPr>
        <p:spPr>
          <a:xfrm>
            <a:off x="6168171" y="2977421"/>
            <a:ext cx="1140183" cy="987403"/>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7" name="Google Shape;267;p36"/>
          <p:cNvSpPr/>
          <p:nvPr/>
        </p:nvSpPr>
        <p:spPr>
          <a:xfrm>
            <a:off x="6868885" y="186802"/>
            <a:ext cx="1900304" cy="164567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8" name="Google Shape;268;p36"/>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69" name="Google Shape;269;p36"/>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270" name="Google Shape;270;p36"/>
          <p:cNvGrpSpPr/>
          <p:nvPr/>
        </p:nvGrpSpPr>
        <p:grpSpPr>
          <a:xfrm>
            <a:off x="514350" y="869375"/>
            <a:ext cx="9446063" cy="3570704"/>
            <a:chOff x="0" y="-3216137"/>
            <a:chExt cx="25189500" cy="9521877"/>
          </a:xfrm>
        </p:grpSpPr>
        <p:sp>
          <p:nvSpPr>
            <p:cNvPr id="271" name="Google Shape;271;p36"/>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Agradecemos!</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272" name="Google Shape;272;p36"/>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4</a:t>
              </a:r>
              <a:r>
                <a:rPr lang="en" sz="1800">
                  <a:latin typeface="Fira Sans Light"/>
                  <a:ea typeface="Fira Sans Light"/>
                  <a:cs typeface="Fira Sans Light"/>
                  <a:sym typeface="Fira Sans Light"/>
                </a:rPr>
                <a:t> de Novembro de 2025</a:t>
              </a:r>
              <a:endParaRPr sz="700"/>
            </a:p>
          </p:txBody>
        </p:sp>
      </p:grpSp>
      <p:sp>
        <p:nvSpPr>
          <p:cNvPr id="273" name="Google Shape;273;p36"/>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74" name="Google Shape;274;p36"/>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