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Fira Sans"/>
      <p:regular r:id="rId20"/>
      <p:bold r:id="rId21"/>
      <p:italic r:id="rId22"/>
      <p:boldItalic r:id="rId23"/>
    </p:embeddedFont>
    <p:embeddedFont>
      <p:font typeface="Fira Sans Light"/>
      <p:regular r:id="rId24"/>
      <p:bold r:id="rId25"/>
      <p:italic r:id="rId26"/>
      <p:boldItalic r:id="rId27"/>
    </p:embeddedFont>
    <p:embeddedFont>
      <p:font typeface="Open Sa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E2C2E5-548A-45E9-B986-32E24DE41699}">
  <a:tblStyle styleId="{70E2C2E5-548A-45E9-B986-32E24DE416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regular.fntdata"/><Relationship Id="rId22" Type="http://schemas.openxmlformats.org/officeDocument/2006/relationships/font" Target="fonts/FiraSans-italic.fntdata"/><Relationship Id="rId21" Type="http://schemas.openxmlformats.org/officeDocument/2006/relationships/font" Target="fonts/FiraSans-bold.fntdata"/><Relationship Id="rId24" Type="http://schemas.openxmlformats.org/officeDocument/2006/relationships/font" Target="fonts/FiraSansLight-regular.fntdata"/><Relationship Id="rId23" Type="http://schemas.openxmlformats.org/officeDocument/2006/relationships/font" Target="fonts/Fir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FiraSansLight-italic.fntdata"/><Relationship Id="rId25" Type="http://schemas.openxmlformats.org/officeDocument/2006/relationships/font" Target="fonts/FiraSansLight-bold.fntdata"/><Relationship Id="rId28" Type="http://schemas.openxmlformats.org/officeDocument/2006/relationships/font" Target="fonts/OpenSans-bold.fntdata"/><Relationship Id="rId27" Type="http://schemas.openxmlformats.org/officeDocument/2006/relationships/font" Target="fonts/FiraSansLigh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7375ce789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e7375ce789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207e8e7dd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1207e8e7dd_2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0c6bd20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0c6bd20b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0c6bd20b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0c6bd20b5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0c6bd20b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0c6bd20b5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0c6bd20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0c6bd20b5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fca8c01e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6fca8c01e2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fa092794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fa0927945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7164451" y="1158586"/>
            <a:ext cx="3660516" cy="317002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696"/>
          </a:solid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6061472" y="3517563"/>
            <a:ext cx="2485077" cy="2152089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6168171" y="2977421"/>
            <a:ext cx="1135839" cy="98364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32" name="Google Shape;132;p25"/>
          <p:cNvSpPr/>
          <p:nvPr/>
        </p:nvSpPr>
        <p:spPr>
          <a:xfrm>
            <a:off x="6868885" y="186802"/>
            <a:ext cx="1899810" cy="1645244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33" name="Google Shape;133;p25"/>
          <p:cNvSpPr/>
          <p:nvPr/>
        </p:nvSpPr>
        <p:spPr>
          <a:xfrm>
            <a:off x="514350" y="369051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5"/>
          <p:cNvSpPr/>
          <p:nvPr/>
        </p:nvSpPr>
        <p:spPr>
          <a:xfrm>
            <a:off x="184424" y="4593608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0" y="0"/>
                </a:lnTo>
                <a:lnTo>
                  <a:pt x="2684350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5"/>
          <p:cNvSpPr txBox="1"/>
          <p:nvPr/>
        </p:nvSpPr>
        <p:spPr>
          <a:xfrm>
            <a:off x="3056925" y="4804800"/>
            <a:ext cx="343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514350" y="1878400"/>
            <a:ext cx="343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4º Encontro: Aplicações com ADK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8399556" y="1343931"/>
            <a:ext cx="1493096" cy="12930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42" name="Google Shape;142;p26"/>
          <p:cNvSpPr/>
          <p:nvPr/>
        </p:nvSpPr>
        <p:spPr>
          <a:xfrm>
            <a:off x="6830045" y="-67641"/>
            <a:ext cx="2099384" cy="1818076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143" name="Google Shape;143;p26"/>
          <p:cNvSpPr/>
          <p:nvPr/>
        </p:nvSpPr>
        <p:spPr>
          <a:xfrm>
            <a:off x="6621970" y="-478076"/>
            <a:ext cx="1239722" cy="107360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44" name="Google Shape;144;p26"/>
          <p:cNvSpPr/>
          <p:nvPr/>
        </p:nvSpPr>
        <p:spPr>
          <a:xfrm>
            <a:off x="252160" y="192509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6"/>
          <p:cNvSpPr/>
          <p:nvPr/>
        </p:nvSpPr>
        <p:spPr>
          <a:xfrm>
            <a:off x="52186" y="4698525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1" y="0"/>
                </a:lnTo>
                <a:lnTo>
                  <a:pt x="2684351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26"/>
          <p:cNvSpPr txBox="1"/>
          <p:nvPr/>
        </p:nvSpPr>
        <p:spPr>
          <a:xfrm>
            <a:off x="286075" y="1295113"/>
            <a:ext cx="66675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Sumário: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AutoNum type="arabicParenR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Retrieval-Augmented Generation (RAG)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AutoNum type="arabicParenR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Aplicações práticas - RAG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-323850" lvl="0" marL="45720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500"/>
              <a:buFont typeface="Open Sans"/>
              <a:buAutoNum type="arabicParenR"/>
            </a:pPr>
            <a:r>
              <a:rPr lang="en" sz="1500">
                <a:latin typeface="Open Sans"/>
                <a:ea typeface="Open Sans"/>
                <a:cs typeface="Open Sans"/>
                <a:sym typeface="Open Sans"/>
              </a:rPr>
              <a:t>Aplicações Práticas - Deploy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6144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279450" y="798275"/>
            <a:ext cx="70077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Retrieval-Augmented Generation (RAG)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 geração aumentada via recuperação (RAG) é o processo de otimizar a saída de um grande modelo de linguagem, de forma que ele faça referência a uma base de conhecimento confiável fora das suas fontes de dados de treinamento antes de gerar uma resposta.</a:t>
            </a: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8399556" y="1343931"/>
            <a:ext cx="1493096" cy="12930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54" name="Google Shape;154;p27"/>
          <p:cNvSpPr/>
          <p:nvPr/>
        </p:nvSpPr>
        <p:spPr>
          <a:xfrm>
            <a:off x="6830045" y="-67641"/>
            <a:ext cx="2099384" cy="1818076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155" name="Google Shape;155;p27"/>
          <p:cNvSpPr/>
          <p:nvPr/>
        </p:nvSpPr>
        <p:spPr>
          <a:xfrm>
            <a:off x="6621970" y="-478076"/>
            <a:ext cx="1239722" cy="107360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56" name="Google Shape;156;p27"/>
          <p:cNvSpPr/>
          <p:nvPr/>
        </p:nvSpPr>
        <p:spPr>
          <a:xfrm>
            <a:off x="252160" y="192509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27"/>
          <p:cNvSpPr/>
          <p:nvPr/>
        </p:nvSpPr>
        <p:spPr>
          <a:xfrm>
            <a:off x="52186" y="4698525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1" y="0"/>
                </a:lnTo>
                <a:lnTo>
                  <a:pt x="2684351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7"/>
          <p:cNvSpPr txBox="1"/>
          <p:nvPr/>
        </p:nvSpPr>
        <p:spPr>
          <a:xfrm>
            <a:off x="6144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/>
        </p:nvSpPr>
        <p:spPr>
          <a:xfrm>
            <a:off x="279450" y="798275"/>
            <a:ext cx="7007700" cy="3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RAG no ADK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 ferramenta </a:t>
            </a: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vertex_ai_rag_retrieval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permite que o agente realize a recuperação de dados privados usando o </a:t>
            </a: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Vertex AI RAG Engine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Ao usar o grounding com o Vertex AI RAG Engine, é necessário preparar um corpus RAG previamente. </a:t>
            </a: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8399556" y="1343931"/>
            <a:ext cx="1493096" cy="12930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65" name="Google Shape;165;p28"/>
          <p:cNvSpPr/>
          <p:nvPr/>
        </p:nvSpPr>
        <p:spPr>
          <a:xfrm>
            <a:off x="6830045" y="-67641"/>
            <a:ext cx="2099384" cy="1818076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166" name="Google Shape;166;p28"/>
          <p:cNvSpPr/>
          <p:nvPr/>
        </p:nvSpPr>
        <p:spPr>
          <a:xfrm>
            <a:off x="6621970" y="-478076"/>
            <a:ext cx="1239722" cy="107360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67" name="Google Shape;167;p28"/>
          <p:cNvSpPr/>
          <p:nvPr/>
        </p:nvSpPr>
        <p:spPr>
          <a:xfrm>
            <a:off x="252160" y="192509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28"/>
          <p:cNvSpPr/>
          <p:nvPr/>
        </p:nvSpPr>
        <p:spPr>
          <a:xfrm>
            <a:off x="52186" y="4698525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1" y="0"/>
                </a:lnTo>
                <a:lnTo>
                  <a:pt x="2684351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28"/>
          <p:cNvSpPr txBox="1"/>
          <p:nvPr/>
        </p:nvSpPr>
        <p:spPr>
          <a:xfrm>
            <a:off x="6144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279450" y="798275"/>
            <a:ext cx="70077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Corpus RAG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Um corpus, também chamado de índice, é uma coleção de documentos ou fonte de informações. O corpus pode ser consultado para recuperar contextos relevantes para a geração de respostas. Ao criar um corpus pela primeira vez, o processo pode levar um minuto a mais.</a:t>
            </a: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8399556" y="1343931"/>
            <a:ext cx="1493096" cy="12930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76" name="Google Shape;176;p29"/>
          <p:cNvSpPr/>
          <p:nvPr/>
        </p:nvSpPr>
        <p:spPr>
          <a:xfrm>
            <a:off x="6830045" y="-67641"/>
            <a:ext cx="2099384" cy="1818076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177" name="Google Shape;177;p29"/>
          <p:cNvSpPr/>
          <p:nvPr/>
        </p:nvSpPr>
        <p:spPr>
          <a:xfrm>
            <a:off x="6621970" y="-478076"/>
            <a:ext cx="1239722" cy="107360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78" name="Google Shape;178;p29"/>
          <p:cNvSpPr/>
          <p:nvPr/>
        </p:nvSpPr>
        <p:spPr>
          <a:xfrm>
            <a:off x="252160" y="192509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29"/>
          <p:cNvSpPr/>
          <p:nvPr/>
        </p:nvSpPr>
        <p:spPr>
          <a:xfrm>
            <a:off x="52186" y="4698525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1" y="0"/>
                </a:lnTo>
                <a:lnTo>
                  <a:pt x="2684351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29"/>
          <p:cNvSpPr txBox="1"/>
          <p:nvPr/>
        </p:nvSpPr>
        <p:spPr>
          <a:xfrm>
            <a:off x="6144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30"/>
          <p:cNvGraphicFramePr/>
          <p:nvPr/>
        </p:nvGraphicFramePr>
        <p:xfrm>
          <a:off x="279450" y="134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{70E2C2E5-548A-45E9-B986-32E24DE41699}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Operação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Descrição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Crie um corpus RAG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Crie um corpus RAG para importar ou fazer upload de documentos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Atualiza um corpus RAG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Atualize um corpus de RAG criado anteriormente para importar ou fazer upload de documentos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Liste um corpus RAG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Liste todos os corpora de RAG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Acessar um corpus RAG	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Receber os metadados que descrevem o corpus RAG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Exclui um corpus RAG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Exclua o corpus RAG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30"/>
          <p:cNvSpPr txBox="1"/>
          <p:nvPr/>
        </p:nvSpPr>
        <p:spPr>
          <a:xfrm>
            <a:off x="279450" y="798275"/>
            <a:ext cx="86151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Corpus RAG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30"/>
          <p:cNvSpPr/>
          <p:nvPr/>
        </p:nvSpPr>
        <p:spPr>
          <a:xfrm>
            <a:off x="8399556" y="1343931"/>
            <a:ext cx="1493096" cy="12930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88" name="Google Shape;188;p30"/>
          <p:cNvSpPr/>
          <p:nvPr/>
        </p:nvSpPr>
        <p:spPr>
          <a:xfrm>
            <a:off x="6830045" y="-67641"/>
            <a:ext cx="2099384" cy="1818076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189" name="Google Shape;189;p30"/>
          <p:cNvSpPr/>
          <p:nvPr/>
        </p:nvSpPr>
        <p:spPr>
          <a:xfrm>
            <a:off x="6621970" y="-478076"/>
            <a:ext cx="1239722" cy="107360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90" name="Google Shape;190;p30"/>
          <p:cNvSpPr/>
          <p:nvPr/>
        </p:nvSpPr>
        <p:spPr>
          <a:xfrm>
            <a:off x="252160" y="192509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30"/>
          <p:cNvSpPr/>
          <p:nvPr/>
        </p:nvSpPr>
        <p:spPr>
          <a:xfrm>
            <a:off x="52186" y="4698525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1" y="0"/>
                </a:lnTo>
                <a:lnTo>
                  <a:pt x="2684351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30"/>
          <p:cNvSpPr txBox="1"/>
          <p:nvPr/>
        </p:nvSpPr>
        <p:spPr>
          <a:xfrm>
            <a:off x="6144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/>
        </p:nvSpPr>
        <p:spPr>
          <a:xfrm>
            <a:off x="279450" y="798275"/>
            <a:ext cx="7007700" cy="3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Demonstração do RAG - Deploy</a:t>
            </a: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31"/>
          <p:cNvSpPr/>
          <p:nvPr/>
        </p:nvSpPr>
        <p:spPr>
          <a:xfrm>
            <a:off x="8399556" y="1343931"/>
            <a:ext cx="1493096" cy="12930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199" name="Google Shape;199;p31"/>
          <p:cNvSpPr/>
          <p:nvPr/>
        </p:nvSpPr>
        <p:spPr>
          <a:xfrm>
            <a:off x="6830045" y="-67641"/>
            <a:ext cx="2099384" cy="1818076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200" name="Google Shape;200;p31"/>
          <p:cNvSpPr/>
          <p:nvPr/>
        </p:nvSpPr>
        <p:spPr>
          <a:xfrm>
            <a:off x="6621970" y="-478076"/>
            <a:ext cx="1239722" cy="107360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201" name="Google Shape;201;p31"/>
          <p:cNvSpPr/>
          <p:nvPr/>
        </p:nvSpPr>
        <p:spPr>
          <a:xfrm>
            <a:off x="252160" y="192509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31"/>
          <p:cNvSpPr/>
          <p:nvPr/>
        </p:nvSpPr>
        <p:spPr>
          <a:xfrm>
            <a:off x="52186" y="4698525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1" y="0"/>
                </a:lnTo>
                <a:lnTo>
                  <a:pt x="2684351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31"/>
          <p:cNvSpPr txBox="1"/>
          <p:nvPr/>
        </p:nvSpPr>
        <p:spPr>
          <a:xfrm>
            <a:off x="6144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/>
          <p:nvPr/>
        </p:nvSpPr>
        <p:spPr>
          <a:xfrm>
            <a:off x="7164451" y="1158587"/>
            <a:ext cx="3664872" cy="317379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696"/>
          </a:solidFill>
          <a:ln>
            <a:noFill/>
          </a:ln>
        </p:spPr>
      </p:sp>
      <p:sp>
        <p:nvSpPr>
          <p:cNvPr id="209" name="Google Shape;209;p32"/>
          <p:cNvSpPr/>
          <p:nvPr/>
        </p:nvSpPr>
        <p:spPr>
          <a:xfrm>
            <a:off x="6061472" y="3517563"/>
            <a:ext cx="2488494" cy="215504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1B5593"/>
          </a:solidFill>
          <a:ln>
            <a:noFill/>
          </a:ln>
        </p:spPr>
      </p:sp>
      <p:sp>
        <p:nvSpPr>
          <p:cNvPr id="210" name="Google Shape;210;p32"/>
          <p:cNvSpPr/>
          <p:nvPr/>
        </p:nvSpPr>
        <p:spPr>
          <a:xfrm>
            <a:off x="6168171" y="2977421"/>
            <a:ext cx="1140183" cy="98740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211" name="Google Shape;211;p32"/>
          <p:cNvSpPr/>
          <p:nvPr/>
        </p:nvSpPr>
        <p:spPr>
          <a:xfrm>
            <a:off x="6868885" y="186802"/>
            <a:ext cx="1900304" cy="164567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58634"/>
          </a:solidFill>
          <a:ln>
            <a:noFill/>
          </a:ln>
        </p:spPr>
      </p:sp>
      <p:sp>
        <p:nvSpPr>
          <p:cNvPr id="212" name="Google Shape;212;p32"/>
          <p:cNvSpPr/>
          <p:nvPr/>
        </p:nvSpPr>
        <p:spPr>
          <a:xfrm>
            <a:off x="514350" y="369051"/>
            <a:ext cx="682323" cy="421963"/>
          </a:xfrm>
          <a:custGeom>
            <a:rect b="b" l="l" r="r" t="t"/>
            <a:pathLst>
              <a:path extrusionOk="0" h="843926" w="1364646">
                <a:moveTo>
                  <a:pt x="0" y="0"/>
                </a:moveTo>
                <a:lnTo>
                  <a:pt x="1364646" y="0"/>
                </a:lnTo>
                <a:lnTo>
                  <a:pt x="1364646" y="843926"/>
                </a:lnTo>
                <a:lnTo>
                  <a:pt x="0" y="8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32"/>
          <p:cNvSpPr/>
          <p:nvPr/>
        </p:nvSpPr>
        <p:spPr>
          <a:xfrm>
            <a:off x="184424" y="4593608"/>
            <a:ext cx="1342176" cy="411675"/>
          </a:xfrm>
          <a:custGeom>
            <a:rect b="b" l="l" r="r" t="t"/>
            <a:pathLst>
              <a:path extrusionOk="0" h="823351" w="2684351">
                <a:moveTo>
                  <a:pt x="0" y="0"/>
                </a:moveTo>
                <a:lnTo>
                  <a:pt x="2684350" y="0"/>
                </a:lnTo>
                <a:lnTo>
                  <a:pt x="2684350" y="823351"/>
                </a:lnTo>
                <a:lnTo>
                  <a:pt x="0" y="823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4" name="Google Shape;214;p32"/>
          <p:cNvGrpSpPr/>
          <p:nvPr/>
        </p:nvGrpSpPr>
        <p:grpSpPr>
          <a:xfrm>
            <a:off x="514350" y="869375"/>
            <a:ext cx="9446063" cy="3570704"/>
            <a:chOff x="0" y="-3216137"/>
            <a:chExt cx="25189500" cy="9521877"/>
          </a:xfrm>
        </p:grpSpPr>
        <p:sp>
          <p:nvSpPr>
            <p:cNvPr id="215" name="Google Shape;215;p32"/>
            <p:cNvSpPr txBox="1"/>
            <p:nvPr/>
          </p:nvSpPr>
          <p:spPr>
            <a:xfrm>
              <a:off x="0" y="-3216137"/>
              <a:ext cx="25189500" cy="48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800">
                  <a:latin typeface="Fira Sans"/>
                  <a:ea typeface="Fira Sans"/>
                  <a:cs typeface="Fira Sans"/>
                  <a:sym typeface="Fira Sans"/>
                </a:rPr>
                <a:t>Agradecemos!</a:t>
              </a:r>
              <a:endParaRPr b="1" sz="4800"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l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6" name="Google Shape;216;p32"/>
            <p:cNvSpPr txBox="1"/>
            <p:nvPr/>
          </p:nvSpPr>
          <p:spPr>
            <a:xfrm>
              <a:off x="0" y="5566839"/>
              <a:ext cx="136035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Fira Sans Light"/>
                  <a:ea typeface="Fira Sans Light"/>
                  <a:cs typeface="Fira Sans Light"/>
                  <a:sym typeface="Fira Sans Light"/>
                </a:rPr>
                <a:t>5</a:t>
              </a:r>
              <a:r>
                <a:rPr lang="en" sz="1800">
                  <a:latin typeface="Fira Sans Light"/>
                  <a:ea typeface="Fira Sans Light"/>
                  <a:cs typeface="Fira Sans Light"/>
                  <a:sym typeface="Fira Sans Light"/>
                </a:rPr>
                <a:t> de Novembro de 2025</a:t>
              </a:r>
              <a:endParaRPr sz="700"/>
            </a:p>
          </p:txBody>
        </p:sp>
      </p:grpSp>
      <p:sp>
        <p:nvSpPr>
          <p:cNvPr id="217" name="Google Shape;217;p32"/>
          <p:cNvSpPr txBox="1"/>
          <p:nvPr/>
        </p:nvSpPr>
        <p:spPr>
          <a:xfrm>
            <a:off x="3056925" y="4804800"/>
            <a:ext cx="343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Ⓒ 2025 - Todos os direitos reservados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514350" y="1878400"/>
            <a:ext cx="343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