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Fira Sans"/>
      <p:regular r:id="rId23"/>
      <p:bold r:id="rId24"/>
      <p:italic r:id="rId25"/>
      <p:boldItalic r:id="rId26"/>
    </p:embeddedFont>
    <p:embeddedFont>
      <p:font typeface="Fira Sans Light"/>
      <p:regular r:id="rId27"/>
      <p:bold r:id="rId28"/>
      <p:italic r:id="rId29"/>
      <p:boldItalic r:id="rId30"/>
    </p:embeddedFont>
    <p:embeddedFont>
      <p:font typeface="Open Sans"/>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FiraSans-bold.fntdata"/><Relationship Id="rId23" Type="http://schemas.openxmlformats.org/officeDocument/2006/relationships/font" Target="fonts/Fira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raSans-boldItalic.fntdata"/><Relationship Id="rId25" Type="http://schemas.openxmlformats.org/officeDocument/2006/relationships/font" Target="fonts/FiraSans-italic.fntdata"/><Relationship Id="rId28" Type="http://schemas.openxmlformats.org/officeDocument/2006/relationships/font" Target="fonts/FiraSansLight-bold.fntdata"/><Relationship Id="rId27" Type="http://schemas.openxmlformats.org/officeDocument/2006/relationships/font" Target="fonts/FiraSans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raSans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FiraSansLight-boldItalic.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7375ce78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e7375ce789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207e8e7d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1207e8e7d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e7375ce789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e7375ce789_1_2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fca8c01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fca8c01e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fca8c01e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6fca8c01e2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fca8c01e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6fca8c01e2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fca8c01e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6fca8c01e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fca8c01e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6fca8c01e2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fca8c01e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6fca8c01e2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6fca8c01e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6fca8c01e2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6fca8c01e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6fca8c01e2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6fca8c01e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6fca8c01e2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fca8c01e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6fca8c01e2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6fca8c01e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6fca8c01e2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6fca8c01e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6fca8c01e2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fa092794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9fa0927945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7164451" y="1158586"/>
            <a:ext cx="3660516" cy="317002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130" name="Google Shape;130;p25"/>
          <p:cNvSpPr/>
          <p:nvPr/>
        </p:nvSpPr>
        <p:spPr>
          <a:xfrm>
            <a:off x="6061472" y="3517563"/>
            <a:ext cx="2485077" cy="2152089"/>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31" name="Google Shape;131;p25"/>
          <p:cNvSpPr/>
          <p:nvPr/>
        </p:nvSpPr>
        <p:spPr>
          <a:xfrm>
            <a:off x="6168171" y="2977421"/>
            <a:ext cx="1135839" cy="98364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2" name="Google Shape;132;p25"/>
          <p:cNvSpPr/>
          <p:nvPr/>
        </p:nvSpPr>
        <p:spPr>
          <a:xfrm>
            <a:off x="6868885" y="186802"/>
            <a:ext cx="1899810" cy="1645244"/>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3" name="Google Shape;133;p25"/>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34" name="Google Shape;134;p25"/>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135" name="Google Shape;135;p25"/>
          <p:cNvGrpSpPr/>
          <p:nvPr/>
        </p:nvGrpSpPr>
        <p:grpSpPr>
          <a:xfrm>
            <a:off x="514350" y="869375"/>
            <a:ext cx="9446063" cy="3570704"/>
            <a:chOff x="0" y="-3216137"/>
            <a:chExt cx="25189500" cy="9521877"/>
          </a:xfrm>
        </p:grpSpPr>
        <p:sp>
          <p:nvSpPr>
            <p:cNvPr id="136" name="Google Shape;136;p25"/>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Repasse conhecimento</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137" name="Google Shape;137;p25"/>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5 de Novembro de 2025</a:t>
              </a:r>
              <a:endParaRPr sz="700"/>
            </a:p>
          </p:txBody>
        </p:sp>
      </p:grpSp>
      <p:sp>
        <p:nvSpPr>
          <p:cNvPr id="138" name="Google Shape;138;p25"/>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39" name="Google Shape;139;p25"/>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3º Encontro: Aplicações com ADK</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5" name="Google Shape;145;p2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46" name="Google Shape;146;p2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7" name="Google Shape;147;p2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48" name="Google Shape;148;p2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49" name="Google Shape;149;p26"/>
          <p:cNvSpPr txBox="1"/>
          <p:nvPr/>
        </p:nvSpPr>
        <p:spPr>
          <a:xfrm>
            <a:off x="286075" y="1295113"/>
            <a:ext cx="6667500" cy="1265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Sumário:</a:t>
            </a:r>
            <a:endParaRPr b="1" sz="1800">
              <a:solidFill>
                <a:schemeClr val="dk2"/>
              </a:solidFill>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Model Context Protocol (MCP)</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LiteLLM</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Aplicações práticas</a:t>
            </a:r>
            <a:endParaRPr sz="1500">
              <a:latin typeface="Open Sans"/>
              <a:ea typeface="Open Sans"/>
              <a:cs typeface="Open Sans"/>
              <a:sym typeface="Open Sans"/>
            </a:endParaRPr>
          </a:p>
        </p:txBody>
      </p:sp>
      <p:sp>
        <p:nvSpPr>
          <p:cNvPr id="150" name="Google Shape;150;p2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79450" y="798275"/>
            <a:ext cx="71472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O </a:t>
            </a:r>
            <a:r>
              <a:rPr b="1" lang="en" sz="1200">
                <a:latin typeface="Open Sans"/>
                <a:ea typeface="Open Sans"/>
                <a:cs typeface="Open Sans"/>
                <a:sym typeface="Open Sans"/>
              </a:rPr>
              <a:t>MCP </a:t>
            </a:r>
            <a:r>
              <a:rPr lang="en" sz="1200">
                <a:latin typeface="Open Sans"/>
                <a:ea typeface="Open Sans"/>
                <a:cs typeface="Open Sans"/>
                <a:sym typeface="Open Sans"/>
              </a:rPr>
              <a:t>(Protocolo de Contexto do Modelo) é um padrão de código aberto que serve para conectar aplicações de inteligência artificial a sistemas externos.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Através do MCP, aplicações de IA, como o Claude ou o ChatGPT, podem se conectar a fontes de dados (a exemplo de arquivos locais e bancos de dados), ferramentas (como buscadores e calculadoras) e fluxos de trabalho (como prompts especializados). Isso lhes permite acessar informações essenciais e executar tarefas.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Pode-se pensar no MCP como uma porta USB-C para as aplicações de IA. Assim como o USB-C oferece um meio padronizado para conectar aparelhos eletrônicos, o MCP estabelece uma forma unificada para que as aplicações de IA se conectem a sistemas externos.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156" name="Google Shape;156;p27"/>
          <p:cNvSpPr/>
          <p:nvPr/>
        </p:nvSpPr>
        <p:spPr>
          <a:xfrm>
            <a:off x="8399556" y="1343931"/>
            <a:ext cx="1488889" cy="128938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7" name="Google Shape;157;p27"/>
          <p:cNvSpPr/>
          <p:nvPr/>
        </p:nvSpPr>
        <p:spPr>
          <a:xfrm>
            <a:off x="6830045" y="-67641"/>
            <a:ext cx="2100757" cy="181926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58" name="Google Shape;158;p27"/>
          <p:cNvSpPr/>
          <p:nvPr/>
        </p:nvSpPr>
        <p:spPr>
          <a:xfrm>
            <a:off x="6621970" y="-478076"/>
            <a:ext cx="1240695" cy="107444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9" name="Google Shape;159;p2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60" name="Google Shape;160;p2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61" name="Google Shape;161;p2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279450" y="798275"/>
            <a:ext cx="6596400" cy="1089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a:t>
            </a:r>
            <a:br>
              <a:rPr b="1" lang="en" sz="1800">
                <a:solidFill>
                  <a:schemeClr val="dk2"/>
                </a:solidFill>
                <a:latin typeface="Open Sans"/>
                <a:ea typeface="Open Sans"/>
                <a:cs typeface="Open Sans"/>
                <a:sym typeface="Open Sans"/>
              </a:rPr>
            </a:br>
            <a:r>
              <a:rPr lang="en" sz="1200">
                <a:solidFill>
                  <a:schemeClr val="dk1"/>
                </a:solidFill>
                <a:latin typeface="Open Sans"/>
                <a:ea typeface="Open Sans"/>
                <a:cs typeface="Open Sans"/>
                <a:sym typeface="Open Sans"/>
              </a:rPr>
              <a:t>O MCP opera sob uma arquitetura cliente-servidor, determinando como um servidor MCP expõe dados (recursos), templates interativos (prompts) e funções (ferramentas) para o consumo por um cliente MCP, como um host de LLM ou um agente de IA.</a:t>
            </a:r>
            <a:endParaRPr sz="1200">
              <a:solidFill>
                <a:schemeClr val="dk1"/>
              </a:solidFill>
              <a:latin typeface="Open Sans"/>
              <a:ea typeface="Open Sans"/>
              <a:cs typeface="Open Sans"/>
              <a:sym typeface="Open Sans"/>
            </a:endParaRPr>
          </a:p>
        </p:txBody>
      </p:sp>
      <p:sp>
        <p:nvSpPr>
          <p:cNvPr id="167" name="Google Shape;167;p2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68" name="Google Shape;168;p2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69" name="Google Shape;169;p2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0" name="Google Shape;170;p2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71" name="Google Shape;171;p2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72" name="Google Shape;172;p2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173" name="Google Shape;173;p28"/>
          <p:cNvPicPr preferRelativeResize="0"/>
          <p:nvPr/>
        </p:nvPicPr>
        <p:blipFill>
          <a:blip r:embed="rId5">
            <a:alphaModFix/>
          </a:blip>
          <a:stretch>
            <a:fillRect/>
          </a:stretch>
        </p:blipFill>
        <p:spPr>
          <a:xfrm>
            <a:off x="152400" y="2040275"/>
            <a:ext cx="7807483" cy="2615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nvSpPr>
        <p:spPr>
          <a:xfrm>
            <a:off x="279450" y="798275"/>
            <a:ext cx="71472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Com o ADK, fica mais fácil integrar ferramentas MCP aos seus agentes. Ele serve tanto para desenvolver uma ferramenta que acessa um serviço MCP, quanto para disponibilizar um servidor MCP próprio, permitindo que outros desenvolvedores ou agentes utilizem suas ferramentas.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Existem dois tipos principais de padrões de aplicações MCP com ADK:</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Usando Servidores MCP já existentes com o ADK</a:t>
            </a:r>
            <a:r>
              <a:rPr lang="en" sz="1200">
                <a:latin typeface="Open Sans"/>
                <a:ea typeface="Open Sans"/>
                <a:cs typeface="Open Sans"/>
                <a:sym typeface="Open Sans"/>
              </a:rPr>
              <a:t>: Configurando um agente ADK para atuar como cliente e consumir ferramentas de servidores MCP externos.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Disponibilizando Ferramentas ADK através de um Servidor MCP</a:t>
            </a:r>
            <a:r>
              <a:rPr lang="en" sz="1200">
                <a:latin typeface="Open Sans"/>
                <a:ea typeface="Open Sans"/>
                <a:cs typeface="Open Sans"/>
                <a:sym typeface="Open Sans"/>
              </a:rPr>
              <a:t>: Criando um servidor MCP para expor as ferramentas ADK, permitindo que qualquer cliente MCP se conecte a elas.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179" name="Google Shape;179;p2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0" name="Google Shape;180;p2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81" name="Google Shape;181;p2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2" name="Google Shape;182;p2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83" name="Google Shape;183;p2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84" name="Google Shape;184;p2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nvSpPr>
        <p:spPr>
          <a:xfrm>
            <a:off x="279450" y="798275"/>
            <a:ext cx="70743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 - MCPToolset: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Para integrar ferramentas de um servidor MCP, o ADK utiliza principalmente a classe </a:t>
            </a:r>
            <a:r>
              <a:rPr b="1" lang="en" sz="1200">
                <a:latin typeface="Open Sans"/>
                <a:ea typeface="Open Sans"/>
                <a:cs typeface="Open Sans"/>
                <a:sym typeface="Open Sans"/>
              </a:rPr>
              <a:t>MCPToolset</a:t>
            </a:r>
            <a:r>
              <a:rPr lang="en" sz="1200">
                <a:latin typeface="Open Sans"/>
                <a:ea typeface="Open Sans"/>
                <a:cs typeface="Open Sans"/>
                <a:sym typeface="Open Sans"/>
              </a:rPr>
              <a:t>. A ideia é simples: ao incluir uma instância da MCPToolset na lista de ferramentas (tools) do seu agente, a interação com o servidor MCP é completamente automatizada.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O Processo ocorre da seguinte forma:</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     1. </a:t>
            </a:r>
            <a:r>
              <a:rPr b="1" lang="en" sz="1200">
                <a:latin typeface="Open Sans"/>
                <a:ea typeface="Open Sans"/>
                <a:cs typeface="Open Sans"/>
                <a:sym typeface="Open Sans"/>
              </a:rPr>
              <a:t>Gerenciamento da Conexão</a:t>
            </a:r>
            <a:r>
              <a:rPr lang="en" sz="1200">
                <a:latin typeface="Open Sans"/>
                <a:ea typeface="Open Sans"/>
                <a:cs typeface="Open Sans"/>
                <a:sym typeface="Open Sans"/>
              </a:rPr>
              <a:t>: A </a:t>
            </a:r>
            <a:r>
              <a:rPr i="1" lang="en" sz="1200">
                <a:latin typeface="Open Sans"/>
                <a:ea typeface="Open Sans"/>
                <a:cs typeface="Open Sans"/>
                <a:sym typeface="Open Sans"/>
              </a:rPr>
              <a:t>MCPToolset</a:t>
            </a:r>
            <a:r>
              <a:rPr lang="en" sz="1200">
                <a:latin typeface="Open Sans"/>
                <a:ea typeface="Open Sans"/>
                <a:cs typeface="Open Sans"/>
                <a:sym typeface="Open Sans"/>
              </a:rPr>
              <a:t> inicia e gerencia a conexão com o servidor MCP desde o começo. Ela pode se conectar a um servidor local (com </a:t>
            </a:r>
            <a:r>
              <a:rPr i="1" lang="en" sz="1200">
                <a:latin typeface="Open Sans"/>
                <a:ea typeface="Open Sans"/>
                <a:cs typeface="Open Sans"/>
                <a:sym typeface="Open Sans"/>
              </a:rPr>
              <a:t>StdioConnectionParams</a:t>
            </a:r>
            <a:r>
              <a:rPr lang="en" sz="1200">
                <a:latin typeface="Open Sans"/>
                <a:ea typeface="Open Sans"/>
                <a:cs typeface="Open Sans"/>
                <a:sym typeface="Open Sans"/>
              </a:rPr>
              <a:t>, via entrada/saída padrão) ou a um servidor remoto (com </a:t>
            </a:r>
            <a:r>
              <a:rPr i="1" lang="en" sz="1200">
                <a:latin typeface="Open Sans"/>
                <a:ea typeface="Open Sans"/>
                <a:cs typeface="Open Sans"/>
                <a:sym typeface="Open Sans"/>
              </a:rPr>
              <a:t>SseConnectionParams</a:t>
            </a:r>
            <a:r>
              <a:rPr lang="en" sz="1200">
                <a:latin typeface="Open Sans"/>
                <a:ea typeface="Open Sans"/>
                <a:cs typeface="Open Sans"/>
                <a:sym typeface="Open Sans"/>
              </a:rPr>
              <a:t>, usando Server-Sent Events). Além disso, ela cuida da desconexão de forma segura ao final da execução.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190" name="Google Shape;190;p3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1" name="Google Shape;191;p3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92" name="Google Shape;192;p3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3" name="Google Shape;193;p3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94" name="Google Shape;194;p3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95" name="Google Shape;195;p3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nvSpPr>
        <p:spPr>
          <a:xfrm>
            <a:off x="279450" y="798275"/>
            <a:ext cx="7074300" cy="4709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 - MCPToolset:</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     </a:t>
            </a:r>
            <a:r>
              <a:rPr b="1" lang="en" sz="1200">
                <a:latin typeface="Open Sans"/>
                <a:ea typeface="Open Sans"/>
                <a:cs typeface="Open Sans"/>
                <a:sym typeface="Open Sans"/>
              </a:rPr>
              <a:t>2. Busca e Adaptação de Ferramentas:</a:t>
            </a:r>
            <a:r>
              <a:rPr lang="en" sz="1200">
                <a:latin typeface="Open Sans"/>
                <a:ea typeface="Open Sans"/>
                <a:cs typeface="Open Sans"/>
                <a:sym typeface="Open Sans"/>
              </a:rPr>
              <a:t> Assim que a conexão é estabelecida, a </a:t>
            </a:r>
            <a:r>
              <a:rPr i="1" lang="en" sz="1200">
                <a:latin typeface="Open Sans"/>
                <a:ea typeface="Open Sans"/>
                <a:cs typeface="Open Sans"/>
                <a:sym typeface="Open Sans"/>
              </a:rPr>
              <a:t>MCPToolset </a:t>
            </a:r>
            <a:r>
              <a:rPr lang="en" sz="1200">
                <a:latin typeface="Open Sans"/>
                <a:ea typeface="Open Sans"/>
                <a:cs typeface="Open Sans"/>
                <a:sym typeface="Open Sans"/>
              </a:rPr>
              <a:t>pergunta ao servidor quais ferramentas ele possui (pelo método </a:t>
            </a:r>
            <a:r>
              <a:rPr i="1" lang="en" sz="1200">
                <a:latin typeface="Open Sans"/>
                <a:ea typeface="Open Sans"/>
                <a:cs typeface="Open Sans"/>
                <a:sym typeface="Open Sans"/>
              </a:rPr>
              <a:t>list_tools</a:t>
            </a:r>
            <a:r>
              <a:rPr lang="en" sz="1200">
                <a:latin typeface="Open Sans"/>
                <a:ea typeface="Open Sans"/>
                <a:cs typeface="Open Sans"/>
                <a:sym typeface="Open Sans"/>
              </a:rPr>
              <a:t>). Depois, ela transforma a estrutura de cada ferramenta encontrada em um formato que o ADK entende, criando instâncias de </a:t>
            </a:r>
            <a:r>
              <a:rPr i="1" lang="en" sz="1200">
                <a:latin typeface="Open Sans"/>
                <a:ea typeface="Open Sans"/>
                <a:cs typeface="Open Sans"/>
                <a:sym typeface="Open Sans"/>
              </a:rPr>
              <a:t>BaseTool</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     </a:t>
            </a:r>
            <a:r>
              <a:rPr b="1" lang="en" sz="1200">
                <a:latin typeface="Open Sans"/>
                <a:ea typeface="Open Sans"/>
                <a:cs typeface="Open Sans"/>
                <a:sym typeface="Open Sans"/>
              </a:rPr>
              <a:t>3. Disponibilização para o Agente:</a:t>
            </a:r>
            <a:r>
              <a:rPr lang="en" sz="1200">
                <a:latin typeface="Open Sans"/>
                <a:ea typeface="Open Sans"/>
                <a:cs typeface="Open Sans"/>
                <a:sym typeface="Open Sans"/>
              </a:rPr>
              <a:t> Para o seu </a:t>
            </a:r>
            <a:r>
              <a:rPr i="1" lang="en" sz="1200">
                <a:latin typeface="Open Sans"/>
                <a:ea typeface="Open Sans"/>
                <a:cs typeface="Open Sans"/>
                <a:sym typeface="Open Sans"/>
              </a:rPr>
              <a:t>LlmAgent</a:t>
            </a:r>
            <a:r>
              <a:rPr lang="en" sz="1200">
                <a:latin typeface="Open Sans"/>
                <a:ea typeface="Open Sans"/>
                <a:cs typeface="Open Sans"/>
                <a:sym typeface="Open Sans"/>
              </a:rPr>
              <a:t>, essas ferramentas adaptadas aparecem como se fossem nativas do ADK, simplificando o uso.</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     </a:t>
            </a:r>
            <a:r>
              <a:rPr b="1" lang="en" sz="1200">
                <a:latin typeface="Open Sans"/>
                <a:ea typeface="Open Sans"/>
                <a:cs typeface="Open Sans"/>
                <a:sym typeface="Open Sans"/>
              </a:rPr>
              <a:t>4. Atuação como Intermediário (Proxy):</a:t>
            </a:r>
            <a:r>
              <a:rPr lang="en" sz="1200">
                <a:latin typeface="Open Sans"/>
                <a:ea typeface="Open Sans"/>
                <a:cs typeface="Open Sans"/>
                <a:sym typeface="Open Sans"/>
              </a:rPr>
              <a:t> Quando seu </a:t>
            </a:r>
            <a:r>
              <a:rPr i="1" lang="en" sz="1200">
                <a:latin typeface="Open Sans"/>
                <a:ea typeface="Open Sans"/>
                <a:cs typeface="Open Sans"/>
                <a:sym typeface="Open Sans"/>
              </a:rPr>
              <a:t>LlmAgent </a:t>
            </a:r>
            <a:r>
              <a:rPr lang="en" sz="1200">
                <a:latin typeface="Open Sans"/>
                <a:ea typeface="Open Sans"/>
                <a:cs typeface="Open Sans"/>
                <a:sym typeface="Open Sans"/>
              </a:rPr>
              <a:t>escolhe usar uma dessas ferramentas, a </a:t>
            </a:r>
            <a:r>
              <a:rPr i="1" lang="en" sz="1200">
                <a:latin typeface="Open Sans"/>
                <a:ea typeface="Open Sans"/>
                <a:cs typeface="Open Sans"/>
                <a:sym typeface="Open Sans"/>
              </a:rPr>
              <a:t>MCPToolset </a:t>
            </a:r>
            <a:r>
              <a:rPr lang="en" sz="1200">
                <a:latin typeface="Open Sans"/>
                <a:ea typeface="Open Sans"/>
                <a:cs typeface="Open Sans"/>
                <a:sym typeface="Open Sans"/>
              </a:rPr>
              <a:t>intercepta a chamada de forma transparente. Ela a reenvia para o servidor MCP (usando o método </a:t>
            </a:r>
            <a:r>
              <a:rPr i="1" lang="en" sz="1200">
                <a:latin typeface="Open Sans"/>
                <a:ea typeface="Open Sans"/>
                <a:cs typeface="Open Sans"/>
                <a:sym typeface="Open Sans"/>
              </a:rPr>
              <a:t>call_tool</a:t>
            </a:r>
            <a:r>
              <a:rPr lang="en" sz="1200">
                <a:latin typeface="Open Sans"/>
                <a:ea typeface="Open Sans"/>
                <a:cs typeface="Open Sans"/>
                <a:sym typeface="Open Sans"/>
              </a:rPr>
              <a:t>), junto com os parâmetros, e entrega a resposta do servidor de volta ao agente.</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     </a:t>
            </a:r>
            <a:r>
              <a:rPr b="1" lang="en" sz="1200">
                <a:latin typeface="Open Sans"/>
                <a:ea typeface="Open Sans"/>
                <a:cs typeface="Open Sans"/>
                <a:sym typeface="Open Sans"/>
              </a:rPr>
              <a:t>5. Seleção de Ferramentas (Opcional):</a:t>
            </a:r>
            <a:r>
              <a:rPr lang="en" sz="1200">
                <a:latin typeface="Open Sans"/>
                <a:ea typeface="Open Sans"/>
                <a:cs typeface="Open Sans"/>
                <a:sym typeface="Open Sans"/>
              </a:rPr>
              <a:t> Se não quiser usar todas as ferramentas do servidor, você pode definir o parâmetro </a:t>
            </a:r>
            <a:r>
              <a:rPr i="1" lang="en" sz="1200">
                <a:latin typeface="Open Sans"/>
                <a:ea typeface="Open Sans"/>
                <a:cs typeface="Open Sans"/>
                <a:sym typeface="Open Sans"/>
              </a:rPr>
              <a:t>tool_filter </a:t>
            </a:r>
            <a:r>
              <a:rPr lang="en" sz="1200">
                <a:latin typeface="Open Sans"/>
                <a:ea typeface="Open Sans"/>
                <a:cs typeface="Open Sans"/>
                <a:sym typeface="Open Sans"/>
              </a:rPr>
              <a:t>na criação da </a:t>
            </a:r>
            <a:r>
              <a:rPr i="1" lang="en" sz="1200">
                <a:latin typeface="Open Sans"/>
                <a:ea typeface="Open Sans"/>
                <a:cs typeface="Open Sans"/>
                <a:sym typeface="Open Sans"/>
              </a:rPr>
              <a:t>MCPToolset </a:t>
            </a:r>
            <a:r>
              <a:rPr lang="en" sz="1200">
                <a:latin typeface="Open Sans"/>
                <a:ea typeface="Open Sans"/>
                <a:cs typeface="Open Sans"/>
                <a:sym typeface="Open Sans"/>
              </a:rPr>
              <a:t>para expor apenas um grupo selecionado de ferramentas ao seu agente.</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01" name="Google Shape;201;p3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2" name="Google Shape;202;p3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03" name="Google Shape;203;p3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4" name="Google Shape;204;p3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05" name="Google Shape;205;p3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06" name="Google Shape;206;p3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nvSpPr>
        <p:spPr>
          <a:xfrm>
            <a:off x="279450" y="798275"/>
            <a:ext cx="7074300" cy="2382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 - </a:t>
            </a:r>
            <a:r>
              <a:rPr b="1" lang="en" sz="1800">
                <a:solidFill>
                  <a:schemeClr val="dk2"/>
                </a:solidFill>
                <a:latin typeface="Open Sans"/>
                <a:ea typeface="Open Sans"/>
                <a:cs typeface="Open Sans"/>
                <a:sym typeface="Open Sans"/>
              </a:rPr>
              <a:t>Toolbox for Databases</a:t>
            </a:r>
            <a:r>
              <a:rPr b="1" lang="en" sz="1800">
                <a:solidFill>
                  <a:schemeClr val="dk2"/>
                </a:solidFill>
                <a:latin typeface="Open Sans"/>
                <a:ea typeface="Open Sans"/>
                <a:cs typeface="Open Sans"/>
                <a:sym typeface="Open Sans"/>
              </a:rPr>
              <a:t>:</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O </a:t>
            </a:r>
            <a:r>
              <a:rPr b="1" lang="en" sz="1200">
                <a:latin typeface="Open Sans"/>
                <a:ea typeface="Open Sans"/>
                <a:cs typeface="Open Sans"/>
                <a:sym typeface="Open Sans"/>
              </a:rPr>
              <a:t>MCP Toolbox for Databases</a:t>
            </a:r>
            <a:r>
              <a:rPr lang="en" sz="1200">
                <a:latin typeface="Open Sans"/>
                <a:ea typeface="Open Sans"/>
                <a:cs typeface="Open Sans"/>
                <a:sym typeface="Open Sans"/>
              </a:rPr>
              <a:t> é um servidor MCP de código aberto que disponibiliza de forma segura suas fontes de dados de backend. Ele oferece um conjunto de ferramentas prontas para produção, projetadas para agentes de IA Generativa. Atuando como uma camada de abstração universal, a ferramenta permite que seu </a:t>
            </a:r>
            <a:r>
              <a:rPr b="1" lang="en" sz="1200">
                <a:latin typeface="Open Sans"/>
                <a:ea typeface="Open Sans"/>
                <a:cs typeface="Open Sans"/>
                <a:sym typeface="Open Sans"/>
              </a:rPr>
              <a:t>agente ADK</a:t>
            </a:r>
            <a:r>
              <a:rPr lang="en" sz="1200">
                <a:latin typeface="Open Sans"/>
                <a:ea typeface="Open Sans"/>
                <a:cs typeface="Open Sans"/>
                <a:sym typeface="Open Sans"/>
              </a:rPr>
              <a:t> consulte, analise e obtenha informações com segurança a partir de uma ampla variedade de </a:t>
            </a:r>
            <a:r>
              <a:rPr b="1" lang="en" sz="1200">
                <a:latin typeface="Open Sans"/>
                <a:ea typeface="Open Sans"/>
                <a:cs typeface="Open Sans"/>
                <a:sym typeface="Open Sans"/>
              </a:rPr>
              <a:t>bancos de dados</a:t>
            </a:r>
            <a:r>
              <a:rPr lang="en" sz="1200">
                <a:latin typeface="Open Sans"/>
                <a:ea typeface="Open Sans"/>
                <a:cs typeface="Open Sans"/>
                <a:sym typeface="Open Sans"/>
              </a:rPr>
              <a:t> com suporte nativo.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12" name="Google Shape;212;p3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3" name="Google Shape;213;p3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14" name="Google Shape;214;p3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5" name="Google Shape;215;p3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16" name="Google Shape;216;p3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17" name="Google Shape;217;p3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18" name="Google Shape;218;p32"/>
          <p:cNvPicPr preferRelativeResize="0"/>
          <p:nvPr/>
        </p:nvPicPr>
        <p:blipFill>
          <a:blip r:embed="rId5">
            <a:alphaModFix/>
          </a:blip>
          <a:stretch>
            <a:fillRect/>
          </a:stretch>
        </p:blipFill>
        <p:spPr>
          <a:xfrm>
            <a:off x="1508175" y="2727250"/>
            <a:ext cx="4681300" cy="234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nvSpPr>
        <p:spPr>
          <a:xfrm>
            <a:off x="279450" y="798275"/>
            <a:ext cx="7074300" cy="1865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 - Toolbox for Databases: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O servidor do MCP Toolbox já inclui uma extensa biblioteca de conectores, garantindo que os agentes possam interagir de forma segura com seu complexo ecossistema de dados. Entre essas estão: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24" name="Google Shape;224;p3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5" name="Google Shape;225;p3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26" name="Google Shape;226;p3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7" name="Google Shape;227;p3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28" name="Google Shape;228;p3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29" name="Google Shape;229;p3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30" name="Google Shape;230;p33"/>
          <p:cNvSpPr txBox="1"/>
          <p:nvPr/>
        </p:nvSpPr>
        <p:spPr>
          <a:xfrm>
            <a:off x="279450" y="2251475"/>
            <a:ext cx="1452900" cy="2511900"/>
          </a:xfrm>
          <a:prstGeom prst="rect">
            <a:avLst/>
          </a:prstGeom>
          <a:noFill/>
          <a:ln>
            <a:noFill/>
          </a:ln>
        </p:spPr>
        <p:txBody>
          <a:bodyPr anchorCtr="0" anchor="t" bIns="0" lIns="0" spcFirstLastPara="1" rIns="0" wrap="square" tIns="0">
            <a:spAutoFit/>
          </a:bodyPr>
          <a:lstStyle/>
          <a:p>
            <a:pPr indent="0" lvl="0" marL="0" rtl="0" algn="l">
              <a:lnSpc>
                <a:spcPct val="139984"/>
              </a:lnSpc>
              <a:spcBef>
                <a:spcPts val="0"/>
              </a:spcBef>
              <a:spcAft>
                <a:spcPts val="0"/>
              </a:spcAft>
              <a:buNone/>
            </a:pPr>
            <a:r>
              <a:rPr lang="en" sz="1200">
                <a:solidFill>
                  <a:schemeClr val="dk2"/>
                </a:solidFill>
                <a:latin typeface="Open Sans"/>
                <a:ea typeface="Open Sans"/>
                <a:cs typeface="Open Sans"/>
                <a:sym typeface="Open Sans"/>
              </a:rPr>
              <a:t>Google CLoud:</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solidFill>
                  <a:schemeClr val="dk2"/>
                </a:solidFill>
                <a:latin typeface="Open Sans"/>
                <a:ea typeface="Open Sans"/>
                <a:cs typeface="Open Sans"/>
                <a:sym typeface="Open Sans"/>
              </a:rPr>
              <a:t>BigQuery</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AlloyDB</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Spanner</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Cloud SQL</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Firestore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Bigtable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Dataplex</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p:txBody>
      </p:sp>
      <p:sp>
        <p:nvSpPr>
          <p:cNvPr id="231" name="Google Shape;231;p33"/>
          <p:cNvSpPr txBox="1"/>
          <p:nvPr/>
        </p:nvSpPr>
        <p:spPr>
          <a:xfrm>
            <a:off x="1955850" y="2251475"/>
            <a:ext cx="2026200" cy="3028800"/>
          </a:xfrm>
          <a:prstGeom prst="rect">
            <a:avLst/>
          </a:prstGeom>
          <a:noFill/>
          <a:ln>
            <a:noFill/>
          </a:ln>
        </p:spPr>
        <p:txBody>
          <a:bodyPr anchorCtr="0" anchor="t" bIns="0" lIns="0" spcFirstLastPara="1" rIns="0" wrap="square" tIns="0">
            <a:spAutoFit/>
          </a:bodyPr>
          <a:lstStyle/>
          <a:p>
            <a:pPr indent="0" lvl="0" marL="0" rtl="0" algn="l">
              <a:lnSpc>
                <a:spcPct val="139984"/>
              </a:lnSpc>
              <a:spcBef>
                <a:spcPts val="0"/>
              </a:spcBef>
              <a:spcAft>
                <a:spcPts val="0"/>
              </a:spcAft>
              <a:buNone/>
            </a:pPr>
            <a:r>
              <a:rPr lang="en" sz="1200">
                <a:solidFill>
                  <a:schemeClr val="dk2"/>
                </a:solidFill>
                <a:latin typeface="Open Sans"/>
                <a:ea typeface="Open Sans"/>
                <a:cs typeface="Open Sans"/>
                <a:sym typeface="Open Sans"/>
              </a:rPr>
              <a:t>Relacional &amp; SQL</a:t>
            </a:r>
            <a:r>
              <a:rPr lang="en" sz="1200">
                <a:solidFill>
                  <a:schemeClr val="dk2"/>
                </a:solidFill>
                <a:latin typeface="Open Sans"/>
                <a:ea typeface="Open Sans"/>
                <a:cs typeface="Open Sans"/>
                <a:sym typeface="Open Sans"/>
              </a:rPr>
              <a:t>:</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PostgreSQL</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MySQL</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Microsoft SQL Server</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ClickHouse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TiDB</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OceanBase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Firebird</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SQLite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YugabyteDB</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p:txBody>
      </p:sp>
      <p:sp>
        <p:nvSpPr>
          <p:cNvPr id="232" name="Google Shape;232;p33"/>
          <p:cNvSpPr txBox="1"/>
          <p:nvPr/>
        </p:nvSpPr>
        <p:spPr>
          <a:xfrm>
            <a:off x="4165650" y="2251475"/>
            <a:ext cx="1914000" cy="1994700"/>
          </a:xfrm>
          <a:prstGeom prst="rect">
            <a:avLst/>
          </a:prstGeom>
          <a:noFill/>
          <a:ln>
            <a:noFill/>
          </a:ln>
        </p:spPr>
        <p:txBody>
          <a:bodyPr anchorCtr="0" anchor="t" bIns="0" lIns="0" spcFirstLastPara="1" rIns="0" wrap="square" tIns="0">
            <a:spAutoFit/>
          </a:bodyPr>
          <a:lstStyle/>
          <a:p>
            <a:pPr indent="0" lvl="0" marL="0" rtl="0" algn="l">
              <a:lnSpc>
                <a:spcPct val="139984"/>
              </a:lnSpc>
              <a:spcBef>
                <a:spcPts val="0"/>
              </a:spcBef>
              <a:spcAft>
                <a:spcPts val="0"/>
              </a:spcAft>
              <a:buNone/>
            </a:pPr>
            <a:r>
              <a:rPr lang="en" sz="1200">
                <a:solidFill>
                  <a:schemeClr val="dk2"/>
                </a:solidFill>
                <a:latin typeface="Open Sans"/>
                <a:ea typeface="Open Sans"/>
                <a:cs typeface="Open Sans"/>
                <a:sym typeface="Open Sans"/>
              </a:rPr>
              <a:t>NoSQL &amp; Key-Value Stores</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MongoDB</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Couchbase</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Redis</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Valkey</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Cassandra</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p:txBody>
      </p:sp>
      <p:sp>
        <p:nvSpPr>
          <p:cNvPr id="233" name="Google Shape;233;p33"/>
          <p:cNvSpPr txBox="1"/>
          <p:nvPr/>
        </p:nvSpPr>
        <p:spPr>
          <a:xfrm>
            <a:off x="6223050" y="2251475"/>
            <a:ext cx="2511000" cy="1994700"/>
          </a:xfrm>
          <a:prstGeom prst="rect">
            <a:avLst/>
          </a:prstGeom>
          <a:noFill/>
          <a:ln>
            <a:noFill/>
          </a:ln>
        </p:spPr>
        <p:txBody>
          <a:bodyPr anchorCtr="0" anchor="t" bIns="0" lIns="0" spcFirstLastPara="1" rIns="0" wrap="square" tIns="0">
            <a:spAutoFit/>
          </a:bodyPr>
          <a:lstStyle/>
          <a:p>
            <a:pPr indent="0" lvl="0" marL="0" rtl="0" algn="l">
              <a:lnSpc>
                <a:spcPct val="139984"/>
              </a:lnSpc>
              <a:spcBef>
                <a:spcPts val="0"/>
              </a:spcBef>
              <a:spcAft>
                <a:spcPts val="0"/>
              </a:spcAft>
              <a:buNone/>
            </a:pPr>
            <a:r>
              <a:rPr lang="en" sz="1200">
                <a:solidFill>
                  <a:schemeClr val="dk2"/>
                </a:solidFill>
                <a:latin typeface="Open Sans"/>
                <a:ea typeface="Open Sans"/>
                <a:cs typeface="Open Sans"/>
                <a:sym typeface="Open Sans"/>
              </a:rPr>
              <a:t>Grafos, Plataformas e Outros:</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Neo4j</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Dgraph</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Looker</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Trino</a:t>
            </a:r>
            <a:endParaRPr sz="12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HTTP</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2"/>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nvSpPr>
        <p:spPr>
          <a:xfrm>
            <a:off x="279450" y="798275"/>
            <a:ext cx="7074300" cy="2124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Model Context Protocol (MCP) - Exemplos:</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AutoNum type="arabicPeriod"/>
            </a:pPr>
            <a:r>
              <a:rPr lang="en" sz="1200">
                <a:solidFill>
                  <a:schemeClr val="dk1"/>
                </a:solidFill>
                <a:latin typeface="Open Sans"/>
                <a:ea typeface="Open Sans"/>
                <a:cs typeface="Open Sans"/>
                <a:sym typeface="Open Sans"/>
              </a:rPr>
              <a:t>Sistema de arquivos com MCP Server;</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AutoNum type="arabicPeriod"/>
            </a:pPr>
            <a:r>
              <a:rPr lang="en" sz="1200">
                <a:solidFill>
                  <a:schemeClr val="dk1"/>
                </a:solidFill>
                <a:latin typeface="Open Sans"/>
                <a:ea typeface="Open Sans"/>
                <a:cs typeface="Open Sans"/>
                <a:sym typeface="Open Sans"/>
              </a:rPr>
              <a:t>Conexão com API externa usando Google Maps;</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AutoNum type="arabicPeriod"/>
            </a:pPr>
            <a:r>
              <a:rPr lang="en" sz="1200">
                <a:solidFill>
                  <a:schemeClr val="dk1"/>
                </a:solidFill>
                <a:latin typeface="Open Sans"/>
                <a:ea typeface="Open Sans"/>
                <a:cs typeface="Open Sans"/>
                <a:sym typeface="Open Sans"/>
              </a:rPr>
              <a:t>Host próprio de um MCP server;</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39" name="Google Shape;239;p3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0" name="Google Shape;240;p3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41" name="Google Shape;241;p3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2" name="Google Shape;242;p3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43" name="Google Shape;243;p3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44" name="Google Shape;244;p3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nvSpPr>
        <p:spPr>
          <a:xfrm>
            <a:off x="279450" y="798275"/>
            <a:ext cx="7074300" cy="3675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LiteLLM</a:t>
            </a:r>
            <a:r>
              <a:rPr b="1" lang="en" sz="1800">
                <a:solidFill>
                  <a:schemeClr val="dk2"/>
                </a:solidFill>
                <a:latin typeface="Open Sans"/>
                <a:ea typeface="Open Sans"/>
                <a:cs typeface="Open Sans"/>
                <a:sym typeface="Open Sans"/>
              </a:rPr>
              <a:t>:</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O </a:t>
            </a:r>
            <a:r>
              <a:rPr b="1" lang="en" sz="1200">
                <a:solidFill>
                  <a:schemeClr val="dk1"/>
                </a:solidFill>
                <a:latin typeface="Open Sans"/>
                <a:ea typeface="Open Sans"/>
                <a:cs typeface="Open Sans"/>
                <a:sym typeface="Open Sans"/>
              </a:rPr>
              <a:t>LiteLLM </a:t>
            </a:r>
            <a:r>
              <a:rPr lang="en" sz="1200">
                <a:solidFill>
                  <a:schemeClr val="dk1"/>
                </a:solidFill>
                <a:latin typeface="Open Sans"/>
                <a:ea typeface="Open Sans"/>
                <a:cs typeface="Open Sans"/>
                <a:sym typeface="Open Sans"/>
              </a:rPr>
              <a:t>é uma biblioteca de código aberto em Python que atua como uma interface unificada para mais de 100 provedores de Modelos de Linguagem Grande (LLMs). Ele permite que desenvolvedores interajam com diversos modelos de IA, como os da OpenAI, Azure, Anthropic, Google Vertex AI e </a:t>
            </a:r>
            <a:r>
              <a:rPr i="1" lang="en" sz="1200">
                <a:solidFill>
                  <a:schemeClr val="dk1"/>
                </a:solidFill>
                <a:latin typeface="Open Sans"/>
                <a:ea typeface="Open Sans"/>
                <a:cs typeface="Open Sans"/>
                <a:sym typeface="Open Sans"/>
              </a:rPr>
              <a:t>HuggingFace</a:t>
            </a:r>
            <a:r>
              <a:rPr lang="en" sz="1200">
                <a:solidFill>
                  <a:schemeClr val="dk1"/>
                </a:solidFill>
                <a:latin typeface="Open Sans"/>
                <a:ea typeface="Open Sans"/>
                <a:cs typeface="Open Sans"/>
                <a:sym typeface="Open Sans"/>
              </a:rPr>
              <a:t>, usando um formato de chamada de API padronizado, semelhante ao da OpenAI.</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Seu principal objetivo é a de simplificar o processo de </a:t>
            </a:r>
            <a:r>
              <a:rPr b="1" lang="en" sz="1200">
                <a:solidFill>
                  <a:schemeClr val="dk1"/>
                </a:solidFill>
                <a:latin typeface="Open Sans"/>
                <a:ea typeface="Open Sans"/>
                <a:cs typeface="Open Sans"/>
                <a:sym typeface="Open Sans"/>
              </a:rPr>
              <a:t>lidar com diferentes APIs</a:t>
            </a:r>
            <a:r>
              <a:rPr lang="en" sz="1200">
                <a:solidFill>
                  <a:schemeClr val="dk1"/>
                </a:solidFill>
                <a:latin typeface="Open Sans"/>
                <a:ea typeface="Open Sans"/>
                <a:cs typeface="Open Sans"/>
                <a:sym typeface="Open Sans"/>
              </a:rPr>
              <a:t>, métodos de autenticação e SDKs, o que exige reescrita de código e ajustes manuais constantes. Essencialmente, você escreve seu código uma vez e pode executá-lo com qualquer modelo compatível, evitando a dependência de um único fornecedor.</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50" name="Google Shape;250;p3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1" name="Google Shape;251;p3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52" name="Google Shape;252;p3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3" name="Google Shape;253;p3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54" name="Google Shape;254;p3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55" name="Google Shape;255;p3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6"/>
          <p:cNvSpPr txBox="1"/>
          <p:nvPr/>
        </p:nvSpPr>
        <p:spPr>
          <a:xfrm>
            <a:off x="279450" y="798275"/>
            <a:ext cx="7074300" cy="3416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LiteLLM:</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O </a:t>
            </a:r>
            <a:r>
              <a:rPr b="1" lang="en" sz="1200">
                <a:solidFill>
                  <a:schemeClr val="dk1"/>
                </a:solidFill>
                <a:latin typeface="Open Sans"/>
                <a:ea typeface="Open Sans"/>
                <a:cs typeface="Open Sans"/>
                <a:sym typeface="Open Sans"/>
              </a:rPr>
              <a:t>LiteLLM </a:t>
            </a:r>
            <a:r>
              <a:rPr lang="en" sz="1200">
                <a:solidFill>
                  <a:schemeClr val="dk1"/>
                </a:solidFill>
                <a:latin typeface="Open Sans"/>
                <a:ea typeface="Open Sans"/>
                <a:cs typeface="Open Sans"/>
                <a:sym typeface="Open Sans"/>
              </a:rPr>
              <a:t>funciona de duas maneiras principais:</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SDK Python</a:t>
            </a:r>
            <a:r>
              <a:rPr lang="en" sz="1200">
                <a:solidFill>
                  <a:schemeClr val="dk1"/>
                </a:solidFill>
                <a:latin typeface="Open Sans"/>
                <a:ea typeface="Open Sans"/>
                <a:cs typeface="Open Sans"/>
                <a:sym typeface="Open Sans"/>
              </a:rPr>
              <a:t>: Uma biblioteca leve que você importa diretamente no seu código, ideal para desenvolvedores individuais e projetos menores.</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Servidor Proxy (LLM Gateway)</a:t>
            </a:r>
            <a:r>
              <a:rPr lang="en" sz="1200">
                <a:solidFill>
                  <a:schemeClr val="dk1"/>
                </a:solidFill>
                <a:latin typeface="Open Sans"/>
                <a:ea typeface="Open Sans"/>
                <a:cs typeface="Open Sans"/>
                <a:sym typeface="Open Sans"/>
              </a:rPr>
              <a:t>: Um servidor central que atua como um gateway para todas as solicitações de LLM dentro de uma organização, projetado para equipes que precisam de governança centralizada, controle de custos e alta confiabilidade</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61" name="Google Shape;261;p3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2" name="Google Shape;262;p3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63" name="Google Shape;263;p3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4" name="Google Shape;264;p3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65" name="Google Shape;265;p3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66" name="Google Shape;266;p3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nvSpPr>
        <p:spPr>
          <a:xfrm>
            <a:off x="279450" y="798275"/>
            <a:ext cx="7074300" cy="496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LiteLLM - Principais Funcionalidades:</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API Unificada:</a:t>
            </a:r>
            <a:r>
              <a:rPr lang="en" sz="1200">
                <a:solidFill>
                  <a:schemeClr val="dk1"/>
                </a:solidFill>
                <a:latin typeface="Open Sans"/>
                <a:ea typeface="Open Sans"/>
                <a:cs typeface="Open Sans"/>
                <a:sym typeface="Open Sans"/>
              </a:rPr>
              <a:t> Fornece uma sintaxe única para todos os provedores de LLM suportados, para que a troca de modelos não exija a reescrita do código.</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Rastreamento de Custos:</a:t>
            </a:r>
            <a:r>
              <a:rPr lang="en" sz="1200">
                <a:solidFill>
                  <a:schemeClr val="dk1"/>
                </a:solidFill>
                <a:latin typeface="Open Sans"/>
                <a:ea typeface="Open Sans"/>
                <a:cs typeface="Open Sans"/>
                <a:sym typeface="Open Sans"/>
              </a:rPr>
              <a:t> Permite monitorar os gastos em todos os provedores em um único painel, em vez de verificar vários sistemas de faturamento.</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Balanceamento de Carga:</a:t>
            </a:r>
            <a:r>
              <a:rPr lang="en" sz="1200">
                <a:solidFill>
                  <a:schemeClr val="dk1"/>
                </a:solidFill>
                <a:latin typeface="Open Sans"/>
                <a:ea typeface="Open Sans"/>
                <a:cs typeface="Open Sans"/>
                <a:sym typeface="Open Sans"/>
              </a:rPr>
              <a:t> Distribui as solicitações de forma inteligente entre diferentes provedores ou modelos para garantir desempenho otimizado e alta disponibilidade.</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Gerenciamento de Erros e Fallbacks:</a:t>
            </a:r>
            <a:r>
              <a:rPr lang="en" sz="1200">
                <a:solidFill>
                  <a:schemeClr val="dk1"/>
                </a:solidFill>
                <a:latin typeface="Open Sans"/>
                <a:ea typeface="Open Sans"/>
                <a:cs typeface="Open Sans"/>
                <a:sym typeface="Open Sans"/>
              </a:rPr>
              <a:t> Padroniza as classes de erro e permite configurar fallbacks automáticos para um provedor alternativo caso o principal falhe.</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Suporte a Streaming:</a:t>
            </a:r>
            <a:r>
              <a:rPr lang="en" sz="1200">
                <a:solidFill>
                  <a:schemeClr val="dk1"/>
                </a:solidFill>
                <a:latin typeface="Open Sans"/>
                <a:ea typeface="Open Sans"/>
                <a:cs typeface="Open Sans"/>
                <a:sym typeface="Open Sans"/>
              </a:rPr>
              <a:t> Permite receber a saída do LLM em tempo real à medida que os tokens são gerados, melhorando a experiência do usuário.</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Código Aberto e Orientado pela Comunidade:</a:t>
            </a:r>
            <a:r>
              <a:rPr lang="en" sz="1200">
                <a:solidFill>
                  <a:schemeClr val="dk1"/>
                </a:solidFill>
                <a:latin typeface="Open Sans"/>
                <a:ea typeface="Open Sans"/>
                <a:cs typeface="Open Sans"/>
                <a:sym typeface="Open Sans"/>
              </a:rPr>
              <a:t> Sendo de código aberto, o LiteLLM garante transparência e desenvolvimento contínuo com o apoio da comunidade.</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72" name="Google Shape;272;p3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3" name="Google Shape;273;p3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74" name="Google Shape;274;p3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5" name="Google Shape;275;p3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76" name="Google Shape;276;p3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77" name="Google Shape;277;p3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nvSpPr>
        <p:spPr>
          <a:xfrm>
            <a:off x="279450" y="798275"/>
            <a:ext cx="7007700" cy="496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LiteLLM - Casos de uso:</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Finanças:</a:t>
            </a:r>
            <a:r>
              <a:rPr lang="en" sz="1200">
                <a:solidFill>
                  <a:schemeClr val="dk1"/>
                </a:solidFill>
                <a:latin typeface="Open Sans"/>
                <a:ea typeface="Open Sans"/>
                <a:cs typeface="Open Sans"/>
                <a:sym typeface="Open Sans"/>
              </a:rPr>
              <a:t> Uma empresa pode usar roteamento inteligente para direcionar a sumarização de documentos para um modelo de alta precisão como o Claude 4 Sonnet, enquanto a análise de sentimento em tempo real utiliza um modelo mais rápido e barato como o Gemini 2.5 Flash.</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Saúde:</a:t>
            </a:r>
            <a:r>
              <a:rPr lang="en" sz="1200">
                <a:solidFill>
                  <a:schemeClr val="dk1"/>
                </a:solidFill>
                <a:latin typeface="Open Sans"/>
                <a:ea typeface="Open Sans"/>
                <a:cs typeface="Open Sans"/>
                <a:sym typeface="Open Sans"/>
              </a:rPr>
              <a:t> Uma organização de saúde pode auto-hospedar o LiteLLM Proxy para gerenciar uma frota de modelos híbrida, encaminhando consultas com informações de saúde protegidas para um modelo local e consultas anônimas para uma API na nuvem, garantindo a conformidade.</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Desenvolvimento: </a:t>
            </a:r>
            <a:r>
              <a:rPr lang="en" sz="1200">
                <a:solidFill>
                  <a:schemeClr val="dk1"/>
                </a:solidFill>
                <a:latin typeface="Open Sans"/>
                <a:ea typeface="Open Sans"/>
                <a:cs typeface="Open Sans"/>
                <a:sym typeface="Open Sans"/>
              </a:rPr>
              <a:t>Engenheiros podem experimentar e implantar o melhor modelo para cada trabalho específico sem o atrito de integrar múltiplas APIs, usando um modelo para previsão de falhas de máquinas e outro para resumir relatórios de produção diários.</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83" name="Google Shape;283;p3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84" name="Google Shape;284;p3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85" name="Google Shape;285;p3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86" name="Google Shape;286;p3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87" name="Google Shape;287;p3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88" name="Google Shape;288;p3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nvSpPr>
        <p:spPr>
          <a:xfrm>
            <a:off x="279450" y="798275"/>
            <a:ext cx="7007700" cy="2382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LiteLLM - Exemplo com ADK:</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304800" lvl="0" marL="457200" rtl="0" algn="l">
              <a:lnSpc>
                <a:spcPct val="139984"/>
              </a:lnSpc>
              <a:spcBef>
                <a:spcPts val="0"/>
              </a:spcBef>
              <a:spcAft>
                <a:spcPts val="0"/>
              </a:spcAft>
              <a:buClr>
                <a:schemeClr val="dk1"/>
              </a:buClr>
              <a:buSzPts val="1200"/>
              <a:buFont typeface="Open Sans"/>
              <a:buAutoNum type="arabicPeriod"/>
            </a:pPr>
            <a:r>
              <a:rPr lang="en" sz="1200">
                <a:solidFill>
                  <a:schemeClr val="dk1"/>
                </a:solidFill>
                <a:latin typeface="Open Sans"/>
                <a:ea typeface="Open Sans"/>
                <a:cs typeface="Open Sans"/>
                <a:sym typeface="Open Sans"/>
              </a:rPr>
              <a:t>Continuação do exemplo com exemplo do </a:t>
            </a:r>
            <a:r>
              <a:rPr i="1" lang="en" sz="1200">
                <a:solidFill>
                  <a:schemeClr val="dk1"/>
                </a:solidFill>
                <a:latin typeface="Open Sans"/>
                <a:ea typeface="Open Sans"/>
                <a:cs typeface="Open Sans"/>
                <a:sym typeface="Open Sans"/>
              </a:rPr>
              <a:t>get_weather</a:t>
            </a:r>
            <a:r>
              <a:rPr lang="en" sz="1200">
                <a:solidFill>
                  <a:schemeClr val="dk1"/>
                </a:solidFill>
                <a:latin typeface="Open Sans"/>
                <a:ea typeface="Open Sans"/>
                <a:cs typeface="Open Sans"/>
                <a:sym typeface="Open Sans"/>
              </a:rPr>
              <a:t> da aula 1.</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94" name="Google Shape;294;p3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95" name="Google Shape;295;p3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96" name="Google Shape;296;p3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97" name="Google Shape;297;p3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98" name="Google Shape;298;p3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99" name="Google Shape;299;p3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p:nvPr/>
        </p:nvSpPr>
        <p:spPr>
          <a:xfrm>
            <a:off x="7164451" y="1158587"/>
            <a:ext cx="3664872" cy="317379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305" name="Google Shape;305;p40"/>
          <p:cNvSpPr/>
          <p:nvPr/>
        </p:nvSpPr>
        <p:spPr>
          <a:xfrm>
            <a:off x="6061472" y="3517563"/>
            <a:ext cx="2488494" cy="215504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06" name="Google Shape;306;p40"/>
          <p:cNvSpPr/>
          <p:nvPr/>
        </p:nvSpPr>
        <p:spPr>
          <a:xfrm>
            <a:off x="6168171" y="2977421"/>
            <a:ext cx="1140183" cy="987403"/>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7" name="Google Shape;307;p40"/>
          <p:cNvSpPr/>
          <p:nvPr/>
        </p:nvSpPr>
        <p:spPr>
          <a:xfrm>
            <a:off x="6868885" y="186802"/>
            <a:ext cx="1900304" cy="164567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8" name="Google Shape;308;p40"/>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09" name="Google Shape;309;p40"/>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310" name="Google Shape;310;p40"/>
          <p:cNvGrpSpPr/>
          <p:nvPr/>
        </p:nvGrpSpPr>
        <p:grpSpPr>
          <a:xfrm>
            <a:off x="514350" y="869375"/>
            <a:ext cx="9446063" cy="3570704"/>
            <a:chOff x="0" y="-3216137"/>
            <a:chExt cx="25189500" cy="9521877"/>
          </a:xfrm>
        </p:grpSpPr>
        <p:sp>
          <p:nvSpPr>
            <p:cNvPr id="311" name="Google Shape;311;p40"/>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Agradecemos!</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312" name="Google Shape;312;p40"/>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5</a:t>
              </a:r>
              <a:r>
                <a:rPr lang="en" sz="1800">
                  <a:latin typeface="Fira Sans Light"/>
                  <a:ea typeface="Fira Sans Light"/>
                  <a:cs typeface="Fira Sans Light"/>
                  <a:sym typeface="Fira Sans Light"/>
                </a:rPr>
                <a:t> de Novembro de 2025</a:t>
              </a:r>
              <a:endParaRPr sz="700"/>
            </a:p>
          </p:txBody>
        </p:sp>
      </p:grpSp>
      <p:sp>
        <p:nvSpPr>
          <p:cNvPr id="313" name="Google Shape;313;p40"/>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14" name="Google Shape;314;p40"/>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