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Fira Sans"/>
      <p:regular r:id="rId30"/>
      <p:bold r:id="rId31"/>
      <p:italic r:id="rId32"/>
      <p:boldItalic r:id="rId33"/>
    </p:embeddedFont>
    <p:embeddedFont>
      <p:font typeface="Fira Sans Light"/>
      <p:regular r:id="rId34"/>
      <p:bold r:id="rId35"/>
      <p:italic r:id="rId36"/>
      <p:boldItalic r:id="rId37"/>
    </p:embeddedFont>
    <p:embeddedFont>
      <p:font typeface="Open Sans"/>
      <p:bold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64CD69-AE30-42A8-B995-D1895864914F}">
  <a:tblStyle styleId="{3564CD69-AE30-42A8-B995-D1895864914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FiraSans-bold.fntdata"/><Relationship Id="rId30" Type="http://schemas.openxmlformats.org/officeDocument/2006/relationships/font" Target="fonts/FiraSans-regular.fntdata"/><Relationship Id="rId11" Type="http://schemas.openxmlformats.org/officeDocument/2006/relationships/slide" Target="slides/slide4.xml"/><Relationship Id="rId33" Type="http://schemas.openxmlformats.org/officeDocument/2006/relationships/font" Target="fonts/FiraSans-boldItalic.fntdata"/><Relationship Id="rId10" Type="http://schemas.openxmlformats.org/officeDocument/2006/relationships/slide" Target="slides/slide3.xml"/><Relationship Id="rId32" Type="http://schemas.openxmlformats.org/officeDocument/2006/relationships/font" Target="fonts/FiraSans-italic.fntdata"/><Relationship Id="rId13" Type="http://schemas.openxmlformats.org/officeDocument/2006/relationships/slide" Target="slides/slide6.xml"/><Relationship Id="rId35" Type="http://schemas.openxmlformats.org/officeDocument/2006/relationships/font" Target="fonts/FiraSansLight-bold.fntdata"/><Relationship Id="rId12" Type="http://schemas.openxmlformats.org/officeDocument/2006/relationships/slide" Target="slides/slide5.xml"/><Relationship Id="rId34" Type="http://schemas.openxmlformats.org/officeDocument/2006/relationships/font" Target="fonts/FiraSansLight-regular.fntdata"/><Relationship Id="rId15" Type="http://schemas.openxmlformats.org/officeDocument/2006/relationships/slide" Target="slides/slide8.xml"/><Relationship Id="rId37" Type="http://schemas.openxmlformats.org/officeDocument/2006/relationships/font" Target="fonts/FiraSansLight-boldItalic.fntdata"/><Relationship Id="rId14" Type="http://schemas.openxmlformats.org/officeDocument/2006/relationships/slide" Target="slides/slide7.xml"/><Relationship Id="rId36" Type="http://schemas.openxmlformats.org/officeDocument/2006/relationships/font" Target="fonts/FiraSansLight-italic.fntdata"/><Relationship Id="rId17" Type="http://schemas.openxmlformats.org/officeDocument/2006/relationships/slide" Target="slides/slide10.xml"/><Relationship Id="rId39" Type="http://schemas.openxmlformats.org/officeDocument/2006/relationships/font" Target="fonts/OpenSans-boldItalic.fntdata"/><Relationship Id="rId16" Type="http://schemas.openxmlformats.org/officeDocument/2006/relationships/slide" Target="slides/slide9.xml"/><Relationship Id="rId38" Type="http://schemas.openxmlformats.org/officeDocument/2006/relationships/font" Target="fonts/OpenSans-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7375ce789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e7375ce789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1207e8e7d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21207e8e7dd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fa09279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9fa092794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fa092794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9fa0927945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fa092794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9fa0927945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e7375ce789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2e7375ce789_1_2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fa092794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9fa0927945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fbf95845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9fbf958452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fa092794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9fa0927945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fa092794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9fa0927945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fa092794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9fa0927945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fa092794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9fa0927945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fa092794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9fa0927945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fa0927945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9fa0927945_0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fa0927945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9fa0927945_0_2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9fa0927945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9fa0927945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9fa0927945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9fa0927945_0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fbf958452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9fbf958452_2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9fbf9584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39fbf95845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9fbf95845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9fbf958452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9fa0927945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39fa0927945_0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fa092794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9fa0927945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10.png"/><Relationship Id="rId8"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6.png"/><Relationship Id="rId6" Type="http://schemas.openxmlformats.org/officeDocument/2006/relationships/image" Target="../media/image11.png"/><Relationship Id="rId7" Type="http://schemas.openxmlformats.org/officeDocument/2006/relationships/image" Target="../media/image6.png"/><Relationship Id="rId8"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8.png"/><Relationship Id="rId8"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7164451" y="1158586"/>
            <a:ext cx="3660516" cy="317002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130" name="Google Shape;130;p25"/>
          <p:cNvSpPr/>
          <p:nvPr/>
        </p:nvSpPr>
        <p:spPr>
          <a:xfrm>
            <a:off x="6061472" y="3517563"/>
            <a:ext cx="2485077" cy="2152089"/>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31" name="Google Shape;131;p25"/>
          <p:cNvSpPr/>
          <p:nvPr/>
        </p:nvSpPr>
        <p:spPr>
          <a:xfrm>
            <a:off x="6168171" y="2977421"/>
            <a:ext cx="1135839" cy="98364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2" name="Google Shape;132;p25"/>
          <p:cNvSpPr/>
          <p:nvPr/>
        </p:nvSpPr>
        <p:spPr>
          <a:xfrm>
            <a:off x="6868885" y="186802"/>
            <a:ext cx="1899810" cy="1645244"/>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3" name="Google Shape;133;p25"/>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34" name="Google Shape;134;p25"/>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135" name="Google Shape;135;p25"/>
          <p:cNvGrpSpPr/>
          <p:nvPr/>
        </p:nvGrpSpPr>
        <p:grpSpPr>
          <a:xfrm>
            <a:off x="514350" y="869375"/>
            <a:ext cx="9446063" cy="3570704"/>
            <a:chOff x="0" y="-3216137"/>
            <a:chExt cx="25189500" cy="9521877"/>
          </a:xfrm>
        </p:grpSpPr>
        <p:sp>
          <p:nvSpPr>
            <p:cNvPr id="136" name="Google Shape;136;p25"/>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Repasse conhecimento</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137" name="Google Shape;137;p25"/>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3 de Novembro de 2025</a:t>
              </a:r>
              <a:endParaRPr sz="700"/>
            </a:p>
          </p:txBody>
        </p:sp>
      </p:grpSp>
      <p:sp>
        <p:nvSpPr>
          <p:cNvPr id="138" name="Google Shape;138;p25"/>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39" name="Google Shape;139;p25"/>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libri"/>
                <a:ea typeface="Calibri"/>
                <a:cs typeface="Calibri"/>
                <a:sym typeface="Calibri"/>
              </a:rPr>
              <a:t>1º Encontro: Introdução ao ADK</a:t>
            </a:r>
            <a:endParaRPr sz="1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5" name="Google Shape;145;p2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46" name="Google Shape;146;p2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7" name="Google Shape;147;p2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48" name="Google Shape;148;p2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49" name="Google Shape;149;p26"/>
          <p:cNvSpPr txBox="1"/>
          <p:nvPr/>
        </p:nvSpPr>
        <p:spPr>
          <a:xfrm>
            <a:off x="286075" y="1295113"/>
            <a:ext cx="6667500" cy="2234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Sumário:</a:t>
            </a:r>
            <a:endParaRPr b="1" sz="1800">
              <a:solidFill>
                <a:schemeClr val="dk2"/>
              </a:solidFill>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Apresentação Global TI+RH SOLUTIONS;</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Ementa e Cronograma de aulas;</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Agentes de IA;</a:t>
            </a:r>
            <a:endParaRPr sz="1500">
              <a:latin typeface="Open Sans"/>
              <a:ea typeface="Open Sans"/>
              <a:cs typeface="Open Sans"/>
              <a:sym typeface="Open Sans"/>
            </a:endParaRPr>
          </a:p>
          <a:p>
            <a:pPr indent="-323850" lvl="0" marL="457200" rtl="0" algn="l">
              <a:lnSpc>
                <a:spcPct val="139984"/>
              </a:lnSpc>
              <a:spcBef>
                <a:spcPts val="0"/>
              </a:spcBef>
              <a:spcAft>
                <a:spcPts val="0"/>
              </a:spcAft>
              <a:buSzPts val="1500"/>
              <a:buFont typeface="Open Sans"/>
              <a:buAutoNum type="arabicParenR"/>
            </a:pPr>
            <a:r>
              <a:rPr lang="en" sz="1500">
                <a:solidFill>
                  <a:schemeClr val="dk1"/>
                </a:solidFill>
                <a:latin typeface="Open Sans"/>
                <a:ea typeface="Open Sans"/>
                <a:cs typeface="Open Sans"/>
                <a:sym typeface="Open Sans"/>
              </a:rPr>
              <a:t>Introdução ao ADK;</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Caso de uso real;</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Demonstração do ADK;</a:t>
            </a:r>
            <a:endParaRPr sz="1500">
              <a:latin typeface="Open Sans"/>
              <a:ea typeface="Open Sans"/>
              <a:cs typeface="Open Sans"/>
              <a:sym typeface="Open Sans"/>
            </a:endParaRPr>
          </a:p>
        </p:txBody>
      </p:sp>
      <p:sp>
        <p:nvSpPr>
          <p:cNvPr id="150" name="Google Shape;150;p2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56" name="Google Shape;156;p2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57" name="Google Shape;157;p2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58" name="Google Shape;158;p27"/>
          <p:cNvSpPr txBox="1"/>
          <p:nvPr/>
        </p:nvSpPr>
        <p:spPr>
          <a:xfrm>
            <a:off x="286075" y="1295125"/>
            <a:ext cx="8087700" cy="3736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Apresentação Global TI+RH SOLUTIONS</a:t>
            </a:r>
            <a:r>
              <a:rPr b="1" lang="en" sz="1800">
                <a:solidFill>
                  <a:schemeClr val="dk2"/>
                </a:solidFill>
                <a:latin typeface="Open Sans"/>
                <a:ea typeface="Open Sans"/>
                <a:cs typeface="Open Sans"/>
                <a:sym typeface="Open Sans"/>
              </a:rPr>
              <a:t>:</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600">
                <a:latin typeface="Open Sans"/>
                <a:ea typeface="Open Sans"/>
                <a:cs typeface="Open Sans"/>
                <a:sym typeface="Open Sans"/>
              </a:rPr>
              <a:t>Somos a Global TI+RH, uma empresa consolidada no setor de Tecnologia da Informação, com foco no desenvolvimento e suporte de soluções inovadoras em </a:t>
            </a:r>
            <a:r>
              <a:rPr b="1" lang="en" sz="1600">
                <a:latin typeface="Open Sans"/>
                <a:ea typeface="Open Sans"/>
                <a:cs typeface="Open Sans"/>
                <a:sym typeface="Open Sans"/>
              </a:rPr>
              <a:t>Inteligência Artificial</a:t>
            </a:r>
            <a:r>
              <a:rPr lang="en" sz="1600">
                <a:latin typeface="Open Sans"/>
                <a:ea typeface="Open Sans"/>
                <a:cs typeface="Open Sans"/>
                <a:sym typeface="Open Sans"/>
              </a:rPr>
              <a:t>. Com uma trajetória de mais de duas décadas, unimos experiência e tecnologia para impulsionar negócios.</a:t>
            </a:r>
            <a:endParaRPr sz="16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6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600">
                <a:latin typeface="Open Sans"/>
                <a:ea typeface="Open Sans"/>
                <a:cs typeface="Open Sans"/>
                <a:sym typeface="Open Sans"/>
              </a:rPr>
              <a:t>Com ampla atuação em Goiânia, dispomos de uma equipe de especialistas de alta performance. Nesta sessão, o compartilhamento de conhecimento será liderado por </a:t>
            </a:r>
            <a:r>
              <a:rPr b="1" lang="en" sz="1600">
                <a:latin typeface="Open Sans"/>
                <a:ea typeface="Open Sans"/>
                <a:cs typeface="Open Sans"/>
                <a:sym typeface="Open Sans"/>
              </a:rPr>
              <a:t>Lucas Cruvinel</a:t>
            </a:r>
            <a:r>
              <a:rPr lang="en" sz="1600">
                <a:latin typeface="Open Sans"/>
                <a:ea typeface="Open Sans"/>
                <a:cs typeface="Open Sans"/>
                <a:sym typeface="Open Sans"/>
              </a:rPr>
              <a:t> e </a:t>
            </a:r>
            <a:r>
              <a:rPr b="1" lang="en" sz="1600">
                <a:latin typeface="Open Sans"/>
                <a:ea typeface="Open Sans"/>
                <a:cs typeface="Open Sans"/>
                <a:sym typeface="Open Sans"/>
              </a:rPr>
              <a:t>Mateus Pereira</a:t>
            </a:r>
            <a:r>
              <a:rPr lang="en" sz="1600">
                <a:latin typeface="Open Sans"/>
                <a:ea typeface="Open Sans"/>
                <a:cs typeface="Open Sans"/>
                <a:sym typeface="Open Sans"/>
              </a:rPr>
              <a:t>, profissionais especializados em IA em nosso time.</a:t>
            </a:r>
            <a:endParaRPr sz="16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600">
              <a:latin typeface="Open Sans"/>
              <a:ea typeface="Open Sans"/>
              <a:cs typeface="Open Sans"/>
              <a:sym typeface="Open Sans"/>
            </a:endParaRPr>
          </a:p>
          <a:p>
            <a:pPr indent="0" lvl="0" marL="0" marR="0" rtl="0" algn="l">
              <a:lnSpc>
                <a:spcPct val="139984"/>
              </a:lnSpc>
              <a:spcBef>
                <a:spcPts val="0"/>
              </a:spcBef>
              <a:spcAft>
                <a:spcPts val="0"/>
              </a:spcAft>
              <a:buNone/>
            </a:pPr>
            <a:r>
              <a:t/>
            </a:r>
            <a:endParaRPr sz="1600">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64" name="Google Shape;164;p2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65" name="Google Shape;165;p2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66" name="Google Shape;166;p28"/>
          <p:cNvSpPr txBox="1"/>
          <p:nvPr/>
        </p:nvSpPr>
        <p:spPr>
          <a:xfrm>
            <a:off x="934475" y="769344"/>
            <a:ext cx="6667500" cy="664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Cronograma</a:t>
            </a:r>
            <a:r>
              <a:rPr b="1" lang="en" sz="1800">
                <a:solidFill>
                  <a:schemeClr val="dk2"/>
                </a:solidFill>
                <a:latin typeface="Open Sans"/>
                <a:ea typeface="Open Sans"/>
                <a:cs typeface="Open Sans"/>
                <a:sym typeface="Open Sans"/>
              </a:rPr>
              <a:t>:</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800">
              <a:latin typeface="Open Sans"/>
              <a:ea typeface="Open Sans"/>
              <a:cs typeface="Open Sans"/>
              <a:sym typeface="Open Sans"/>
            </a:endParaRPr>
          </a:p>
        </p:txBody>
      </p:sp>
      <p:graphicFrame>
        <p:nvGraphicFramePr>
          <p:cNvPr id="167" name="Google Shape;167;p28"/>
          <p:cNvGraphicFramePr/>
          <p:nvPr/>
        </p:nvGraphicFramePr>
        <p:xfrm>
          <a:off x="252150" y="1434150"/>
          <a:ext cx="3000000" cy="3000000"/>
        </p:xfrm>
        <a:graphic>
          <a:graphicData uri="http://schemas.openxmlformats.org/drawingml/2006/table">
            <a:tbl>
              <a:tblPr>
                <a:noFill/>
                <a:tableStyleId>{3564CD69-AE30-42A8-B995-D1895864914F}</a:tableStyleId>
              </a:tblPr>
              <a:tblGrid>
                <a:gridCol w="750275"/>
                <a:gridCol w="3360525"/>
                <a:gridCol w="4362650"/>
              </a:tblGrid>
              <a:tr h="354075">
                <a:tc>
                  <a:txBody>
                    <a:bodyPr/>
                    <a:lstStyle/>
                    <a:p>
                      <a:pPr indent="0" lvl="0" marL="0" rtl="0" algn="l">
                        <a:spcBef>
                          <a:spcPts val="0"/>
                        </a:spcBef>
                        <a:spcAft>
                          <a:spcPts val="0"/>
                        </a:spcAft>
                        <a:buNone/>
                      </a:pPr>
                      <a:r>
                        <a:rPr b="1" lang="en" sz="1200"/>
                        <a:t>Dia</a:t>
                      </a:r>
                      <a:endParaRPr b="1" sz="1200"/>
                    </a:p>
                  </a:txBody>
                  <a:tcPr marT="91425" marB="91425" marR="91425" marL="91425"/>
                </a:tc>
                <a:tc>
                  <a:txBody>
                    <a:bodyPr/>
                    <a:lstStyle/>
                    <a:p>
                      <a:pPr indent="0" lvl="0" marL="0" rtl="0" algn="l">
                        <a:spcBef>
                          <a:spcPts val="0"/>
                        </a:spcBef>
                        <a:spcAft>
                          <a:spcPts val="0"/>
                        </a:spcAft>
                        <a:buNone/>
                      </a:pPr>
                      <a:r>
                        <a:rPr b="1" lang="en" sz="1200"/>
                        <a:t>Conteúdo</a:t>
                      </a:r>
                      <a:endParaRPr b="1" sz="1200"/>
                    </a:p>
                  </a:txBody>
                  <a:tcPr marT="91425" marB="91425" marR="91425" marL="91425"/>
                </a:tc>
                <a:tc>
                  <a:txBody>
                    <a:bodyPr/>
                    <a:lstStyle/>
                    <a:p>
                      <a:pPr indent="0" lvl="0" marL="0" rtl="0" algn="l">
                        <a:spcBef>
                          <a:spcPts val="0"/>
                        </a:spcBef>
                        <a:spcAft>
                          <a:spcPts val="0"/>
                        </a:spcAft>
                        <a:buNone/>
                      </a:pPr>
                      <a:r>
                        <a:rPr b="1" lang="en" sz="1200"/>
                        <a:t>Objetivo</a:t>
                      </a:r>
                      <a:endParaRPr b="1" sz="1200"/>
                    </a:p>
                  </a:txBody>
                  <a:tcPr marT="91425" marB="91425" marR="91425" marL="91425"/>
                </a:tc>
              </a:tr>
              <a:tr h="354075">
                <a:tc>
                  <a:txBody>
                    <a:bodyPr/>
                    <a:lstStyle/>
                    <a:p>
                      <a:pPr indent="0" lvl="0" marL="0" rtl="0" algn="l">
                        <a:spcBef>
                          <a:spcPts val="0"/>
                        </a:spcBef>
                        <a:spcAft>
                          <a:spcPts val="0"/>
                        </a:spcAft>
                        <a:buNone/>
                      </a:pPr>
                      <a:r>
                        <a:rPr lang="en" sz="1200"/>
                        <a:t>03/11</a:t>
                      </a:r>
                      <a:endParaRPr sz="1200"/>
                    </a:p>
                  </a:txBody>
                  <a:tcPr marT="91425" marB="91425" marR="91425" marL="91425"/>
                </a:tc>
                <a:tc>
                  <a:txBody>
                    <a:bodyPr/>
                    <a:lstStyle/>
                    <a:p>
                      <a:pPr indent="0" lvl="0" marL="0" rtl="0" algn="l">
                        <a:spcBef>
                          <a:spcPts val="0"/>
                        </a:spcBef>
                        <a:spcAft>
                          <a:spcPts val="0"/>
                        </a:spcAft>
                        <a:buNone/>
                      </a:pPr>
                      <a:r>
                        <a:rPr lang="en" sz="1200"/>
                        <a:t>Introdução ao ADK</a:t>
                      </a:r>
                      <a:endParaRPr sz="1200"/>
                    </a:p>
                  </a:txBody>
                  <a:tcPr marT="91425" marB="91425" marR="91425" marL="91425"/>
                </a:tc>
                <a:tc>
                  <a:txBody>
                    <a:bodyPr/>
                    <a:lstStyle/>
                    <a:p>
                      <a:pPr indent="0" lvl="0" marL="0" rtl="0" algn="l">
                        <a:spcBef>
                          <a:spcPts val="0"/>
                        </a:spcBef>
                        <a:spcAft>
                          <a:spcPts val="0"/>
                        </a:spcAft>
                        <a:buNone/>
                      </a:pPr>
                      <a:r>
                        <a:rPr lang="en" sz="1200"/>
                        <a:t>Compreender o propósito e os principais blocos do ADK.</a:t>
                      </a:r>
                      <a:endParaRPr sz="1200"/>
                    </a:p>
                  </a:txBody>
                  <a:tcPr marT="91425" marB="91425" marR="91425" marL="91425"/>
                </a:tc>
              </a:tr>
              <a:tr h="354075">
                <a:tc>
                  <a:txBody>
                    <a:bodyPr/>
                    <a:lstStyle/>
                    <a:p>
                      <a:pPr indent="0" lvl="0" marL="0" rtl="0" algn="l">
                        <a:spcBef>
                          <a:spcPts val="0"/>
                        </a:spcBef>
                        <a:spcAft>
                          <a:spcPts val="0"/>
                        </a:spcAft>
                        <a:buNone/>
                      </a:pPr>
                      <a:r>
                        <a:rPr lang="en" sz="1200"/>
                        <a:t>04/11</a:t>
                      </a:r>
                      <a:endParaRPr sz="1200"/>
                    </a:p>
                  </a:txBody>
                  <a:tcPr marT="91425" marB="91425" marR="91425" marL="91425"/>
                </a:tc>
                <a:tc>
                  <a:txBody>
                    <a:bodyPr/>
                    <a:lstStyle/>
                    <a:p>
                      <a:pPr indent="0" lvl="0" marL="0" rtl="0" algn="l">
                        <a:spcBef>
                          <a:spcPts val="0"/>
                        </a:spcBef>
                        <a:spcAft>
                          <a:spcPts val="0"/>
                        </a:spcAft>
                        <a:buNone/>
                      </a:pPr>
                      <a:r>
                        <a:rPr lang="en" sz="1200"/>
                        <a:t>Estrutura de Agentes</a:t>
                      </a:r>
                      <a:endParaRPr sz="1200"/>
                    </a:p>
                  </a:txBody>
                  <a:tcPr marT="91425" marB="91425" marR="91425" marL="91425"/>
                </a:tc>
                <a:tc>
                  <a:txBody>
                    <a:bodyPr/>
                    <a:lstStyle/>
                    <a:p>
                      <a:pPr indent="0" lvl="0" marL="0" rtl="0" algn="l">
                        <a:spcBef>
                          <a:spcPts val="0"/>
                        </a:spcBef>
                        <a:spcAft>
                          <a:spcPts val="0"/>
                        </a:spcAft>
                        <a:buNone/>
                      </a:pPr>
                      <a:r>
                        <a:rPr lang="en" sz="1200"/>
                        <a:t>Entender e aplicar agentes no contexto do ADK.</a:t>
                      </a:r>
                      <a:endParaRPr sz="1200"/>
                    </a:p>
                  </a:txBody>
                  <a:tcPr marT="91425" marB="91425" marR="91425" marL="91425"/>
                </a:tc>
              </a:tr>
              <a:tr h="354075">
                <a:tc>
                  <a:txBody>
                    <a:bodyPr/>
                    <a:lstStyle/>
                    <a:p>
                      <a:pPr indent="0" lvl="0" marL="0" rtl="0" algn="l">
                        <a:spcBef>
                          <a:spcPts val="0"/>
                        </a:spcBef>
                        <a:spcAft>
                          <a:spcPts val="0"/>
                        </a:spcAft>
                        <a:buNone/>
                      </a:pPr>
                      <a:r>
                        <a:rPr lang="en" sz="1200"/>
                        <a:t>05/11</a:t>
                      </a:r>
                      <a:endParaRPr sz="1200"/>
                    </a:p>
                  </a:txBody>
                  <a:tcPr marT="91425" marB="91425" marR="91425" marL="91425"/>
                </a:tc>
                <a:tc>
                  <a:txBody>
                    <a:bodyPr/>
                    <a:lstStyle/>
                    <a:p>
                      <a:pPr indent="0" lvl="0" marL="0" rtl="0" algn="l">
                        <a:spcBef>
                          <a:spcPts val="0"/>
                        </a:spcBef>
                        <a:spcAft>
                          <a:spcPts val="0"/>
                        </a:spcAft>
                        <a:buNone/>
                      </a:pPr>
                      <a:r>
                        <a:rPr lang="en" sz="1200"/>
                        <a:t>Ferramentas do ADK (Tools, ferramentas Built-ins, customizações, logs e testes)</a:t>
                      </a:r>
                      <a:endParaRPr sz="1200"/>
                    </a:p>
                  </a:txBody>
                  <a:tcPr marT="91425" marB="91425" marR="91425" marL="91425"/>
                </a:tc>
                <a:tc>
                  <a:txBody>
                    <a:bodyPr/>
                    <a:lstStyle/>
                    <a:p>
                      <a:pPr indent="0" lvl="0" marL="0" rtl="0" algn="l">
                        <a:spcBef>
                          <a:spcPts val="0"/>
                        </a:spcBef>
                        <a:spcAft>
                          <a:spcPts val="0"/>
                        </a:spcAft>
                        <a:buNone/>
                      </a:pPr>
                      <a:r>
                        <a:rPr lang="en" sz="1200"/>
                        <a:t>Apresentar as ferramentas customizadas e seus respectivos testes.</a:t>
                      </a:r>
                      <a:endParaRPr sz="1200"/>
                    </a:p>
                  </a:txBody>
                  <a:tcPr marT="91425" marB="91425" marR="91425" marL="91425"/>
                </a:tc>
              </a:tr>
              <a:tr h="354075">
                <a:tc>
                  <a:txBody>
                    <a:bodyPr/>
                    <a:lstStyle/>
                    <a:p>
                      <a:pPr indent="0" lvl="0" marL="0" rtl="0" algn="l">
                        <a:spcBef>
                          <a:spcPts val="0"/>
                        </a:spcBef>
                        <a:spcAft>
                          <a:spcPts val="0"/>
                        </a:spcAft>
                        <a:buNone/>
                      </a:pPr>
                      <a:r>
                        <a:rPr lang="en" sz="1200"/>
                        <a:t>06/11</a:t>
                      </a:r>
                      <a:endParaRPr sz="1200"/>
                    </a:p>
                  </a:txBody>
                  <a:tcPr marT="91425" marB="91425" marR="91425" marL="91425"/>
                </a:tc>
                <a:tc>
                  <a:txBody>
                    <a:bodyPr/>
                    <a:lstStyle/>
                    <a:p>
                      <a:pPr indent="0" lvl="0" marL="0" rtl="0" algn="l">
                        <a:spcBef>
                          <a:spcPts val="0"/>
                        </a:spcBef>
                        <a:spcAft>
                          <a:spcPts val="0"/>
                        </a:spcAft>
                        <a:buNone/>
                      </a:pPr>
                      <a:r>
                        <a:rPr lang="en" sz="1200"/>
                        <a:t>Aplicações </a:t>
                      </a:r>
                      <a:r>
                        <a:rPr lang="en" sz="1200"/>
                        <a:t>no ADK (Parte 1)</a:t>
                      </a:r>
                      <a:endParaRPr sz="1200"/>
                    </a:p>
                  </a:txBody>
                  <a:tcPr marT="91425" marB="91425" marR="91425" marL="91425"/>
                </a:tc>
                <a:tc>
                  <a:txBody>
                    <a:bodyPr/>
                    <a:lstStyle/>
                    <a:p>
                      <a:pPr indent="0" lvl="0" marL="0" rtl="0" algn="l">
                        <a:spcBef>
                          <a:spcPts val="0"/>
                        </a:spcBef>
                        <a:spcAft>
                          <a:spcPts val="0"/>
                        </a:spcAft>
                        <a:buNone/>
                      </a:pPr>
                      <a:r>
                        <a:rPr lang="en" sz="1200"/>
                        <a:t>Construindo</a:t>
                      </a:r>
                      <a:r>
                        <a:rPr lang="en" sz="1200"/>
                        <a:t> agentes inteligentes com ADK</a:t>
                      </a:r>
                      <a:endParaRPr sz="1200"/>
                    </a:p>
                  </a:txBody>
                  <a:tcPr marT="91425" marB="91425" marR="91425" marL="91425"/>
                </a:tc>
              </a:tr>
              <a:tr h="354075">
                <a:tc>
                  <a:txBody>
                    <a:bodyPr/>
                    <a:lstStyle/>
                    <a:p>
                      <a:pPr indent="0" lvl="0" marL="0" rtl="0" algn="l">
                        <a:spcBef>
                          <a:spcPts val="0"/>
                        </a:spcBef>
                        <a:spcAft>
                          <a:spcPts val="0"/>
                        </a:spcAft>
                        <a:buNone/>
                      </a:pPr>
                      <a:r>
                        <a:rPr lang="en" sz="1200"/>
                        <a:t>07/11</a:t>
                      </a:r>
                      <a:endParaRPr sz="1200"/>
                    </a:p>
                  </a:txBody>
                  <a:tcPr marT="91425" marB="91425" marR="91425" marL="91425"/>
                </a:tc>
                <a:tc>
                  <a:txBody>
                    <a:bodyPr/>
                    <a:lstStyle/>
                    <a:p>
                      <a:pPr indent="0" lvl="0" marL="0" rtl="0" algn="l">
                        <a:spcBef>
                          <a:spcPts val="0"/>
                        </a:spcBef>
                        <a:spcAft>
                          <a:spcPts val="0"/>
                        </a:spcAft>
                        <a:buNone/>
                      </a:pPr>
                      <a:r>
                        <a:rPr lang="en" sz="1200"/>
                        <a:t>Aplicações no ADK (Parte 2)</a:t>
                      </a:r>
                      <a:endParaRPr sz="1200"/>
                    </a:p>
                  </a:txBody>
                  <a:tcPr marT="91425" marB="91425" marR="91425" marL="91425"/>
                </a:tc>
                <a:tc>
                  <a:txBody>
                    <a:bodyPr/>
                    <a:lstStyle/>
                    <a:p>
                      <a:pPr indent="0" lvl="0" marL="0" rtl="0" algn="l">
                        <a:spcBef>
                          <a:spcPts val="0"/>
                        </a:spcBef>
                        <a:spcAft>
                          <a:spcPts val="0"/>
                        </a:spcAft>
                        <a:buNone/>
                      </a:pPr>
                      <a:r>
                        <a:rPr lang="en" sz="1200"/>
                        <a:t>Construindo agentes inteligentes com ADK</a:t>
                      </a:r>
                      <a:endParaRPr sz="1200"/>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73" name="Google Shape;173;p2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74" name="Google Shape;174;p2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75" name="Google Shape;175;p29"/>
          <p:cNvSpPr txBox="1"/>
          <p:nvPr/>
        </p:nvSpPr>
        <p:spPr>
          <a:xfrm>
            <a:off x="934475" y="769344"/>
            <a:ext cx="6667500" cy="664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Cronograma:</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800">
              <a:latin typeface="Open Sans"/>
              <a:ea typeface="Open Sans"/>
              <a:cs typeface="Open Sans"/>
              <a:sym typeface="Open Sans"/>
            </a:endParaRPr>
          </a:p>
        </p:txBody>
      </p:sp>
      <p:graphicFrame>
        <p:nvGraphicFramePr>
          <p:cNvPr id="176" name="Google Shape;176;p29"/>
          <p:cNvGraphicFramePr/>
          <p:nvPr/>
        </p:nvGraphicFramePr>
        <p:xfrm>
          <a:off x="252150" y="1434150"/>
          <a:ext cx="3000000" cy="3000000"/>
        </p:xfrm>
        <a:graphic>
          <a:graphicData uri="http://schemas.openxmlformats.org/drawingml/2006/table">
            <a:tbl>
              <a:tblPr>
                <a:noFill/>
                <a:tableStyleId>{3564CD69-AE30-42A8-B995-D1895864914F}</a:tableStyleId>
              </a:tblPr>
              <a:tblGrid>
                <a:gridCol w="750275"/>
                <a:gridCol w="3360525"/>
                <a:gridCol w="4362650"/>
              </a:tblGrid>
              <a:tr h="354075">
                <a:tc>
                  <a:txBody>
                    <a:bodyPr/>
                    <a:lstStyle/>
                    <a:p>
                      <a:pPr indent="0" lvl="0" marL="0" rtl="0" algn="l">
                        <a:spcBef>
                          <a:spcPts val="0"/>
                        </a:spcBef>
                        <a:spcAft>
                          <a:spcPts val="0"/>
                        </a:spcAft>
                        <a:buNone/>
                      </a:pPr>
                      <a:r>
                        <a:rPr b="1" lang="en" sz="1200"/>
                        <a:t>Dia</a:t>
                      </a:r>
                      <a:endParaRPr b="1" sz="1200"/>
                    </a:p>
                  </a:txBody>
                  <a:tcPr marT="91425" marB="91425" marR="91425" marL="91425"/>
                </a:tc>
                <a:tc>
                  <a:txBody>
                    <a:bodyPr/>
                    <a:lstStyle/>
                    <a:p>
                      <a:pPr indent="0" lvl="0" marL="0" rtl="0" algn="l">
                        <a:spcBef>
                          <a:spcPts val="0"/>
                        </a:spcBef>
                        <a:spcAft>
                          <a:spcPts val="0"/>
                        </a:spcAft>
                        <a:buNone/>
                      </a:pPr>
                      <a:r>
                        <a:rPr b="1" lang="en" sz="1200"/>
                        <a:t>Conteúdo</a:t>
                      </a:r>
                      <a:endParaRPr b="1"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1200"/>
                        <a:t>Objetivo</a:t>
                      </a:r>
                      <a:endParaRPr b="1" sz="1200"/>
                    </a:p>
                  </a:txBody>
                  <a:tcPr marT="91425" marB="91425" marR="91425" marL="91425">
                    <a:lnB cap="flat" cmpd="sng" w="9525">
                      <a:solidFill>
                        <a:srgbClr val="9E9E9E"/>
                      </a:solidFill>
                      <a:prstDash val="solid"/>
                      <a:round/>
                      <a:headEnd len="sm" w="sm" type="none"/>
                      <a:tailEnd len="sm" w="sm" type="none"/>
                    </a:lnB>
                  </a:tcPr>
                </a:tc>
              </a:tr>
              <a:tr h="354075">
                <a:tc>
                  <a:txBody>
                    <a:bodyPr/>
                    <a:lstStyle/>
                    <a:p>
                      <a:pPr indent="0" lvl="0" marL="0" rtl="0" algn="l">
                        <a:spcBef>
                          <a:spcPts val="0"/>
                        </a:spcBef>
                        <a:spcAft>
                          <a:spcPts val="0"/>
                        </a:spcAft>
                        <a:buNone/>
                      </a:pPr>
                      <a:r>
                        <a:rPr lang="en" sz="1200"/>
                        <a:t>17</a:t>
                      </a:r>
                      <a:r>
                        <a:rPr lang="en" sz="1200"/>
                        <a:t>/11</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ADK Wrappers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Implementação da API para expor o ADK.</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4075">
                <a:tc>
                  <a:txBody>
                    <a:bodyPr/>
                    <a:lstStyle/>
                    <a:p>
                      <a:pPr indent="0" lvl="0" marL="0" rtl="0" algn="l">
                        <a:spcBef>
                          <a:spcPts val="0"/>
                        </a:spcBef>
                        <a:spcAft>
                          <a:spcPts val="0"/>
                        </a:spcAft>
                        <a:buNone/>
                      </a:pPr>
                      <a:r>
                        <a:rPr lang="en" sz="1200"/>
                        <a:t>18</a:t>
                      </a:r>
                      <a:r>
                        <a:rPr lang="en" sz="1200"/>
                        <a:t>/11</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Cloud Run e Vertex AI</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Implantar e testar o funcionamento do Cloud Run, Vertex AI Engine e modelos IA em Vertex AI Garden.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4075">
                <a:tc>
                  <a:txBody>
                    <a:bodyPr/>
                    <a:lstStyle/>
                    <a:p>
                      <a:pPr indent="0" lvl="0" marL="0" rtl="0" algn="l">
                        <a:spcBef>
                          <a:spcPts val="0"/>
                        </a:spcBef>
                        <a:spcAft>
                          <a:spcPts val="0"/>
                        </a:spcAft>
                        <a:buNone/>
                      </a:pPr>
                      <a:r>
                        <a:rPr lang="en" sz="1200"/>
                        <a:t>19</a:t>
                      </a:r>
                      <a:r>
                        <a:rPr lang="en" sz="1200"/>
                        <a:t>/11</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Projeto Integrado</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Consolidar conhecimentos aplicando o ciclo completo do ADK.</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4075">
                <a:tc>
                  <a:txBody>
                    <a:bodyPr/>
                    <a:lstStyle/>
                    <a:p>
                      <a:pPr indent="0" lvl="0" marL="0" rtl="0" algn="l">
                        <a:spcBef>
                          <a:spcPts val="0"/>
                        </a:spcBef>
                        <a:spcAft>
                          <a:spcPts val="0"/>
                        </a:spcAft>
                        <a:buNone/>
                      </a:pPr>
                      <a:r>
                        <a:rPr lang="en" sz="1200"/>
                        <a:t>25</a:t>
                      </a:r>
                      <a:r>
                        <a:rPr lang="en" sz="1200"/>
                        <a:t>/11</a:t>
                      </a:r>
                      <a:endParaRPr sz="12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1200"/>
                        <a:t>Revisão geral e dúvidas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Revisão teórica e técnica.</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54075">
                <a:tc>
                  <a:txBody>
                    <a:bodyPr/>
                    <a:lstStyle/>
                    <a:p>
                      <a:pPr indent="0" lvl="0" marL="0" rtl="0" algn="l">
                        <a:spcBef>
                          <a:spcPts val="0"/>
                        </a:spcBef>
                        <a:spcAft>
                          <a:spcPts val="0"/>
                        </a:spcAft>
                        <a:buNone/>
                      </a:pPr>
                      <a:r>
                        <a:rPr lang="en" sz="1200"/>
                        <a:t>26</a:t>
                      </a:r>
                      <a:r>
                        <a:rPr lang="en" sz="1200"/>
                        <a:t>/11</a:t>
                      </a:r>
                      <a:endParaRPr sz="1200"/>
                    </a:p>
                  </a:txBody>
                  <a:tcPr marT="91425" marB="91425" marR="91425" marL="91425"/>
                </a:tc>
                <a:tc>
                  <a:txBody>
                    <a:bodyPr/>
                    <a:lstStyle/>
                    <a:p>
                      <a:pPr indent="0" lvl="0" marL="0" rtl="0" algn="l">
                        <a:spcBef>
                          <a:spcPts val="0"/>
                        </a:spcBef>
                        <a:spcAft>
                          <a:spcPts val="0"/>
                        </a:spcAft>
                        <a:buNone/>
                      </a:pPr>
                      <a:r>
                        <a:rPr lang="en" sz="1200"/>
                        <a:t>Extra</a:t>
                      </a:r>
                      <a:endParaRPr sz="12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a:t>Alocação caso necessário.</a:t>
                      </a:r>
                      <a:endParaRPr sz="1200"/>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nvSpPr>
        <p:spPr>
          <a:xfrm>
            <a:off x="279450" y="798275"/>
            <a:ext cx="7147200" cy="3546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IA Agêntica: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A Evolução dos LLMs</a:t>
            </a:r>
            <a:r>
              <a:rPr lang="en" sz="1200">
                <a:latin typeface="Open Sans"/>
                <a:ea typeface="Open Sans"/>
                <a:cs typeface="Open Sans"/>
                <a:sym typeface="Open Sans"/>
              </a:rPr>
              <a:t>: A Inteligência Artificial avançou de simples sistemas baseados em regras para sofisticadas arquiteturas de aprendizado profundo, como os Modelos de Linguagem Grandes (LLMs). Essa evolução desbloqueou capacidades sem precedentes na compreensão, geração e raciocínio da linguagem natural.</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O Surgimento dos agentes de IA</a:t>
            </a:r>
            <a:r>
              <a:rPr lang="en" sz="1200">
                <a:latin typeface="Open Sans"/>
                <a:ea typeface="Open Sans"/>
                <a:cs typeface="Open Sans"/>
                <a:sym typeface="Open Sans"/>
              </a:rPr>
              <a:t>: Com base nos LLMs, a IA agêntica representa o próximo passo transformador. Em vez de apenas responder a comandos, esses sistemas utilizam LLMs como seu principal motor de raciocínio.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De Passivo a Ativo</a:t>
            </a:r>
            <a:r>
              <a:rPr lang="en" sz="1200">
                <a:latin typeface="Open Sans"/>
                <a:ea typeface="Open Sans"/>
                <a:cs typeface="Open Sans"/>
                <a:sym typeface="Open Sans"/>
              </a:rPr>
              <a:t>: Os agentes de IA vão além do processamento passivo de informações para se tornarem participantes ativos e colaboradores. Eles podem perseguir metas, tomar decisões e executar ações de forma autônoma em ambientes digitais ou físicos para atingir os objetivos definidos pelo usuário.</a:t>
            </a:r>
            <a:endParaRPr sz="1200">
              <a:latin typeface="Open Sans"/>
              <a:ea typeface="Open Sans"/>
              <a:cs typeface="Open Sans"/>
              <a:sym typeface="Open Sans"/>
            </a:endParaRPr>
          </a:p>
        </p:txBody>
      </p:sp>
      <p:sp>
        <p:nvSpPr>
          <p:cNvPr id="182" name="Google Shape;182;p30"/>
          <p:cNvSpPr/>
          <p:nvPr/>
        </p:nvSpPr>
        <p:spPr>
          <a:xfrm>
            <a:off x="8399556" y="1343931"/>
            <a:ext cx="1488889" cy="128938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3" name="Google Shape;183;p30"/>
          <p:cNvSpPr/>
          <p:nvPr/>
        </p:nvSpPr>
        <p:spPr>
          <a:xfrm>
            <a:off x="6830045" y="-67641"/>
            <a:ext cx="2100757" cy="181926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84" name="Google Shape;184;p30"/>
          <p:cNvSpPr/>
          <p:nvPr/>
        </p:nvSpPr>
        <p:spPr>
          <a:xfrm>
            <a:off x="6621970" y="-478076"/>
            <a:ext cx="1240695" cy="107444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5" name="Google Shape;185;p3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86" name="Google Shape;186;p3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87" name="Google Shape;187;p3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nvSpPr>
        <p:spPr>
          <a:xfrm>
            <a:off x="279450" y="798275"/>
            <a:ext cx="7147200" cy="3380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IA Agêntica - Capacidade atual:</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solidFill>
                  <a:schemeClr val="dk1"/>
                </a:solidFill>
                <a:latin typeface="Open Sans"/>
                <a:ea typeface="Open Sans"/>
                <a:cs typeface="Open Sans"/>
                <a:sym typeface="Open Sans"/>
              </a:rPr>
              <a:t>Capacidades Fundamentais:</a:t>
            </a:r>
            <a:r>
              <a:rPr lang="en" sz="1200">
                <a:solidFill>
                  <a:schemeClr val="dk1"/>
                </a:solidFill>
                <a:latin typeface="Open Sans"/>
                <a:ea typeface="Open Sans"/>
                <a:cs typeface="Open Sans"/>
                <a:sym typeface="Open Sans"/>
              </a:rPr>
              <a:t> </a:t>
            </a:r>
            <a:endParaRPr sz="1200">
              <a:solidFill>
                <a:schemeClr val="dk1"/>
              </a:solidFill>
              <a:latin typeface="Open Sans"/>
              <a:ea typeface="Open Sans"/>
              <a:cs typeface="Open Sans"/>
              <a:sym typeface="Open Sans"/>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Open Sans"/>
                <a:ea typeface="Open Sans"/>
                <a:cs typeface="Open Sans"/>
                <a:sym typeface="Open Sans"/>
              </a:rPr>
              <a:t>Planejamento:</a:t>
            </a:r>
            <a:r>
              <a:rPr lang="en" sz="1200">
                <a:solidFill>
                  <a:schemeClr val="dk1"/>
                </a:solidFill>
                <a:latin typeface="Open Sans"/>
                <a:ea typeface="Open Sans"/>
                <a:cs typeface="Open Sans"/>
                <a:sym typeface="Open Sans"/>
              </a:rPr>
              <a:t> Estruturar etapas para alcançar um objetivo.</a:t>
            </a:r>
            <a:endParaRPr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Open Sans"/>
                <a:ea typeface="Open Sans"/>
                <a:cs typeface="Open Sans"/>
                <a:sym typeface="Open Sans"/>
              </a:rPr>
              <a:t>Uso de Ferramentas:</a:t>
            </a:r>
            <a:r>
              <a:rPr lang="en" sz="1200">
                <a:solidFill>
                  <a:schemeClr val="dk1"/>
                </a:solidFill>
                <a:latin typeface="Open Sans"/>
                <a:ea typeface="Open Sans"/>
                <a:cs typeface="Open Sans"/>
                <a:sym typeface="Open Sans"/>
              </a:rPr>
              <a:t> Acessar APIs, navegar na web e executar códigos.</a:t>
            </a:r>
            <a:endParaRPr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Open Sans"/>
                <a:ea typeface="Open Sans"/>
                <a:cs typeface="Open Sans"/>
                <a:sym typeface="Open Sans"/>
              </a:rPr>
              <a:t>Memória:</a:t>
            </a:r>
            <a:r>
              <a:rPr lang="en" sz="1200">
                <a:solidFill>
                  <a:schemeClr val="dk1"/>
                </a:solidFill>
                <a:latin typeface="Open Sans"/>
                <a:ea typeface="Open Sans"/>
                <a:cs typeface="Open Sans"/>
                <a:sym typeface="Open Sans"/>
              </a:rPr>
              <a:t> Reter informações para uso futuro.</a:t>
            </a:r>
            <a:endParaRPr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Open Sans"/>
                <a:ea typeface="Open Sans"/>
                <a:cs typeface="Open Sans"/>
                <a:sym typeface="Open Sans"/>
              </a:rPr>
              <a:t>Autocorreção:</a:t>
            </a:r>
            <a:r>
              <a:rPr lang="en" sz="1200">
                <a:solidFill>
                  <a:schemeClr val="dk1"/>
                </a:solidFill>
                <a:latin typeface="Open Sans"/>
                <a:ea typeface="Open Sans"/>
                <a:cs typeface="Open Sans"/>
                <a:sym typeface="Open Sans"/>
              </a:rPr>
              <a:t> Identificar e corrigir erros em suas ações.</a:t>
            </a:r>
            <a:endParaRPr sz="1200">
              <a:solidFill>
                <a:schemeClr val="dk1"/>
              </a:solidFill>
              <a:latin typeface="Open Sans"/>
              <a:ea typeface="Open Sans"/>
              <a:cs typeface="Open Sans"/>
              <a:sym typeface="Open Sans"/>
            </a:endParaRPr>
          </a:p>
          <a:p>
            <a:pPr indent="0" lvl="0" marL="0" rtl="0" algn="l">
              <a:lnSpc>
                <a:spcPct val="115000"/>
              </a:lnSpc>
              <a:spcBef>
                <a:spcPts val="1200"/>
              </a:spcBef>
              <a:spcAft>
                <a:spcPts val="0"/>
              </a:spcAft>
              <a:buNone/>
            </a:pPr>
            <a:r>
              <a:rPr b="1" lang="en" sz="1200">
                <a:solidFill>
                  <a:schemeClr val="dk1"/>
                </a:solidFill>
                <a:latin typeface="Open Sans"/>
                <a:ea typeface="Open Sans"/>
                <a:cs typeface="Open Sans"/>
                <a:sym typeface="Open Sans"/>
              </a:rPr>
              <a:t>Aplicações no Mundo Real:</a:t>
            </a:r>
            <a:r>
              <a:rPr lang="en" sz="1200">
                <a:solidFill>
                  <a:schemeClr val="dk1"/>
                </a:solidFill>
                <a:latin typeface="Open Sans"/>
                <a:ea typeface="Open Sans"/>
                <a:cs typeface="Open Sans"/>
                <a:sym typeface="Open Sans"/>
              </a:rPr>
              <a:t> </a:t>
            </a:r>
            <a:endParaRPr sz="1200">
              <a:solidFill>
                <a:schemeClr val="dk1"/>
              </a:solidFill>
              <a:latin typeface="Open Sans"/>
              <a:ea typeface="Open Sans"/>
              <a:cs typeface="Open Sans"/>
              <a:sym typeface="Open Sans"/>
            </a:endParaRPr>
          </a:p>
          <a:p>
            <a:pPr indent="-304800" lvl="0" marL="457200" rtl="0" algn="l">
              <a:lnSpc>
                <a:spcPct val="115000"/>
              </a:lnSpc>
              <a:spcBef>
                <a:spcPts val="120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Auxílio na gerência de projetos</a:t>
            </a:r>
            <a:r>
              <a:rPr lang="en"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Conduzir pesquisas aprofundadas.</a:t>
            </a:r>
            <a:endParaRPr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Automatizar fluxos de trabalho sofisticados.</a:t>
            </a:r>
            <a:endParaRPr sz="1200">
              <a:solidFill>
                <a:schemeClr val="dk1"/>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1"/>
              </a:buClr>
              <a:buSzPts val="1200"/>
              <a:buFont typeface="Open Sans"/>
              <a:buChar char="●"/>
            </a:pPr>
            <a:r>
              <a:rPr lang="en" sz="1200">
                <a:solidFill>
                  <a:schemeClr val="dk1"/>
                </a:solidFill>
                <a:latin typeface="Open Sans"/>
                <a:ea typeface="Open Sans"/>
                <a:cs typeface="Open Sans"/>
                <a:sym typeface="Open Sans"/>
              </a:rPr>
              <a:t>Atuar como assistentes pessoais verdadeiramente proativos.</a:t>
            </a:r>
            <a:endParaRPr b="1" sz="1500">
              <a:latin typeface="Open Sans"/>
              <a:ea typeface="Open Sans"/>
              <a:cs typeface="Open Sans"/>
              <a:sym typeface="Open Sans"/>
            </a:endParaRPr>
          </a:p>
        </p:txBody>
      </p:sp>
      <p:sp>
        <p:nvSpPr>
          <p:cNvPr id="193" name="Google Shape;193;p3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4" name="Google Shape;194;p3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95" name="Google Shape;195;p3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6" name="Google Shape;196;p3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97" name="Google Shape;197;p3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98" name="Google Shape;198;p3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nvSpPr>
        <p:spPr>
          <a:xfrm>
            <a:off x="279450" y="798275"/>
            <a:ext cx="7147200" cy="3804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IA Agêntica - Fluxo de agentes de IA: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solidFill>
                  <a:schemeClr val="dk1"/>
                </a:solidFill>
                <a:latin typeface="Open Sans"/>
                <a:ea typeface="Open Sans"/>
                <a:cs typeface="Open Sans"/>
                <a:sym typeface="Open Sans"/>
              </a:rPr>
              <a:t>A adoção de um workflow composto por múltiplos agentes de Inteligência Artificial representa uma evolução na forma como automatizamos e executamos tarefas complexas. Em vez de depender de um único modelo de IA monolítico, essa abordagem distribui o trabalho entre agentes especializados, que colaboram para atingir um objetivo comum com maior precisão e eficiência.</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solidFill>
                  <a:schemeClr val="dk1"/>
                </a:solidFill>
                <a:latin typeface="Open Sans"/>
                <a:ea typeface="Open Sans"/>
                <a:cs typeface="Open Sans"/>
                <a:sym typeface="Open Sans"/>
              </a:rPr>
              <a:t>Um dos principais benefícios de um workflow de agentes é a capacidade de dividir um problema complexo em subtarefas menores e gerenciáveis. Cada agente pode ser projetado ou treinado para uma função específica, atuando como um especialista em sua área.</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lang="en" sz="1200">
                <a:solidFill>
                  <a:schemeClr val="dk1"/>
                </a:solidFill>
                <a:latin typeface="Open Sans"/>
                <a:ea typeface="Open Sans"/>
                <a:cs typeface="Open Sans"/>
                <a:sym typeface="Open Sans"/>
              </a:rPr>
              <a:t>Diminuição das "Alucinações" é um dos maiores desafios da tecnologia. Workflows de múltiplos agentes são uma estratégia eficaz para mitigar esse risco. Ao estruturar o processo, é possível inserir etapas de validação e verificação.</a:t>
            </a:r>
            <a:endParaRPr sz="1200">
              <a:solidFill>
                <a:schemeClr val="dk1"/>
              </a:solidFill>
              <a:latin typeface="Open Sans"/>
              <a:ea typeface="Open Sans"/>
              <a:cs typeface="Open Sans"/>
              <a:sym typeface="Open Sans"/>
            </a:endParaRPr>
          </a:p>
        </p:txBody>
      </p:sp>
      <p:sp>
        <p:nvSpPr>
          <p:cNvPr id="204" name="Google Shape;204;p3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5" name="Google Shape;205;p3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06" name="Google Shape;206;p3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7" name="Google Shape;207;p3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08" name="Google Shape;208;p3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09" name="Google Shape;209;p3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nvSpPr>
        <p:spPr>
          <a:xfrm>
            <a:off x="279450" y="798275"/>
            <a:ext cx="7147200" cy="3028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Introdução ao ADK (Agent Development Kit):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solidFill>
                  <a:schemeClr val="dk1"/>
                </a:solidFill>
                <a:latin typeface="Open Sans"/>
                <a:ea typeface="Open Sans"/>
                <a:cs typeface="Open Sans"/>
                <a:sym typeface="Open Sans"/>
              </a:rPr>
              <a:t>O </a:t>
            </a:r>
            <a:r>
              <a:rPr b="1" lang="en" sz="1200">
                <a:solidFill>
                  <a:schemeClr val="dk1"/>
                </a:solidFill>
                <a:latin typeface="Open Sans"/>
                <a:ea typeface="Open Sans"/>
                <a:cs typeface="Open Sans"/>
                <a:sym typeface="Open Sans"/>
              </a:rPr>
              <a:t>ADK </a:t>
            </a:r>
            <a:r>
              <a:rPr lang="en" sz="1200">
                <a:solidFill>
                  <a:schemeClr val="dk1"/>
                </a:solidFill>
                <a:latin typeface="Open Sans"/>
                <a:ea typeface="Open Sans"/>
                <a:cs typeface="Open Sans"/>
                <a:sym typeface="Open Sans"/>
              </a:rPr>
              <a:t>foi projetado para capacitar desenvolvedores a criar, gerenciar, avaliar e implantar </a:t>
            </a:r>
            <a:r>
              <a:rPr b="1" lang="en" sz="1200">
                <a:solidFill>
                  <a:schemeClr val="dk1"/>
                </a:solidFill>
                <a:latin typeface="Open Sans"/>
                <a:ea typeface="Open Sans"/>
                <a:cs typeface="Open Sans"/>
                <a:sym typeface="Open Sans"/>
              </a:rPr>
              <a:t>agentes de IA</a:t>
            </a:r>
            <a:r>
              <a:rPr lang="en" sz="1200">
                <a:solidFill>
                  <a:schemeClr val="dk1"/>
                </a:solidFill>
                <a:latin typeface="Open Sans"/>
                <a:ea typeface="Open Sans"/>
                <a:cs typeface="Open Sans"/>
                <a:sym typeface="Open Sans"/>
              </a:rPr>
              <a:t>. Ele oferece um ambiente robusto e flexível para a criação de agentes conversacionais e não conversacionais, capazes de lidar com tarefas e fluxos de trabalho complexos.</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lang="en" sz="1200">
                <a:solidFill>
                  <a:schemeClr val="dk1"/>
                </a:solidFill>
                <a:latin typeface="Open Sans"/>
                <a:ea typeface="Open Sans"/>
                <a:cs typeface="Open Sans"/>
                <a:sym typeface="Open Sans"/>
              </a:rPr>
              <a:t>O ADK é um framework </a:t>
            </a:r>
            <a:r>
              <a:rPr b="1" lang="en" sz="1200">
                <a:solidFill>
                  <a:schemeClr val="dk1"/>
                </a:solidFill>
                <a:latin typeface="Open Sans"/>
                <a:ea typeface="Open Sans"/>
                <a:cs typeface="Open Sans"/>
                <a:sym typeface="Open Sans"/>
              </a:rPr>
              <a:t>flexível</a:t>
            </a:r>
            <a:r>
              <a:rPr lang="en" sz="1200">
                <a:solidFill>
                  <a:schemeClr val="dk1"/>
                </a:solidFill>
                <a:latin typeface="Open Sans"/>
                <a:ea typeface="Open Sans"/>
                <a:cs typeface="Open Sans"/>
                <a:sym typeface="Open Sans"/>
              </a:rPr>
              <a:t> e </a:t>
            </a:r>
            <a:r>
              <a:rPr b="1" lang="en" sz="1200">
                <a:solidFill>
                  <a:schemeClr val="dk1"/>
                </a:solidFill>
                <a:latin typeface="Open Sans"/>
                <a:ea typeface="Open Sans"/>
                <a:cs typeface="Open Sans"/>
                <a:sym typeface="Open Sans"/>
              </a:rPr>
              <a:t>modular </a:t>
            </a:r>
            <a:r>
              <a:rPr lang="en" sz="1200">
                <a:solidFill>
                  <a:schemeClr val="dk1"/>
                </a:solidFill>
                <a:latin typeface="Open Sans"/>
                <a:ea typeface="Open Sans"/>
                <a:cs typeface="Open Sans"/>
                <a:sym typeface="Open Sans"/>
              </a:rPr>
              <a:t>que embora tenha sido </a:t>
            </a:r>
            <a:r>
              <a:rPr lang="en" sz="1200">
                <a:solidFill>
                  <a:schemeClr val="dk1"/>
                </a:solidFill>
                <a:latin typeface="Open Sans"/>
                <a:ea typeface="Open Sans"/>
                <a:cs typeface="Open Sans"/>
                <a:sym typeface="Open Sans"/>
              </a:rPr>
              <a:t>construído</a:t>
            </a:r>
            <a:r>
              <a:rPr lang="en" sz="1200">
                <a:solidFill>
                  <a:schemeClr val="dk1"/>
                </a:solidFill>
                <a:latin typeface="Open Sans"/>
                <a:ea typeface="Open Sans"/>
                <a:cs typeface="Open Sans"/>
                <a:sym typeface="Open Sans"/>
              </a:rPr>
              <a:t> e otimizado para utilização com </a:t>
            </a:r>
            <a:r>
              <a:rPr b="1" lang="en" sz="1200">
                <a:solidFill>
                  <a:schemeClr val="dk1"/>
                </a:solidFill>
                <a:latin typeface="Open Sans"/>
                <a:ea typeface="Open Sans"/>
                <a:cs typeface="Open Sans"/>
                <a:sym typeface="Open Sans"/>
              </a:rPr>
              <a:t>Gemini</a:t>
            </a:r>
            <a:r>
              <a:rPr lang="en" sz="1200">
                <a:solidFill>
                  <a:schemeClr val="dk1"/>
                </a:solidFill>
                <a:latin typeface="Open Sans"/>
                <a:ea typeface="Open Sans"/>
                <a:cs typeface="Open Sans"/>
                <a:sym typeface="Open Sans"/>
              </a:rPr>
              <a:t> e o </a:t>
            </a:r>
            <a:r>
              <a:rPr lang="en" sz="1200">
                <a:solidFill>
                  <a:schemeClr val="dk1"/>
                </a:solidFill>
                <a:latin typeface="Open Sans"/>
                <a:ea typeface="Open Sans"/>
                <a:cs typeface="Open Sans"/>
                <a:sym typeface="Open Sans"/>
              </a:rPr>
              <a:t>ecossistema</a:t>
            </a:r>
            <a:r>
              <a:rPr lang="en" sz="1200">
                <a:solidFill>
                  <a:schemeClr val="dk1"/>
                </a:solidFill>
                <a:latin typeface="Open Sans"/>
                <a:ea typeface="Open Sans"/>
                <a:cs typeface="Open Sans"/>
                <a:sym typeface="Open Sans"/>
              </a:rPr>
              <a:t> Google, é totalmente </a:t>
            </a:r>
            <a:r>
              <a:rPr b="1" lang="en" sz="1200">
                <a:solidFill>
                  <a:schemeClr val="dk1"/>
                </a:solidFill>
                <a:latin typeface="Open Sans"/>
                <a:ea typeface="Open Sans"/>
                <a:cs typeface="Open Sans"/>
                <a:sym typeface="Open Sans"/>
              </a:rPr>
              <a:t>agnóstico</a:t>
            </a:r>
            <a:r>
              <a:rPr b="1" lang="en" sz="1200">
                <a:solidFill>
                  <a:schemeClr val="dk1"/>
                </a:solidFill>
                <a:latin typeface="Open Sans"/>
                <a:ea typeface="Open Sans"/>
                <a:cs typeface="Open Sans"/>
                <a:sym typeface="Open Sans"/>
              </a:rPr>
              <a:t> a modelo e deploy</a:t>
            </a:r>
            <a:r>
              <a:rPr lang="en" sz="1200">
                <a:solidFill>
                  <a:schemeClr val="dk1"/>
                </a:solidFill>
                <a:latin typeface="Open Sans"/>
                <a:ea typeface="Open Sans"/>
                <a:cs typeface="Open Sans"/>
                <a:sym typeface="Open Sans"/>
              </a:rPr>
              <a:t>, sendo construido para oferecer compatibilidade para qualquer outro framework.</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solidFill>
                  <a:schemeClr val="dk1"/>
                </a:solidFill>
                <a:latin typeface="Open Sans"/>
                <a:ea typeface="Open Sans"/>
                <a:cs typeface="Open Sans"/>
                <a:sym typeface="Open Sans"/>
              </a:rPr>
              <a:t>Atualmente pode ser utilizado via </a:t>
            </a:r>
            <a:r>
              <a:rPr b="1" lang="en" sz="1200">
                <a:solidFill>
                  <a:schemeClr val="dk1"/>
                </a:solidFill>
                <a:latin typeface="Open Sans"/>
                <a:ea typeface="Open Sans"/>
                <a:cs typeface="Open Sans"/>
                <a:sym typeface="Open Sans"/>
              </a:rPr>
              <a:t>Python </a:t>
            </a:r>
            <a:r>
              <a:rPr lang="en" sz="1200">
                <a:solidFill>
                  <a:schemeClr val="dk1"/>
                </a:solidFill>
                <a:latin typeface="Open Sans"/>
                <a:ea typeface="Open Sans"/>
                <a:cs typeface="Open Sans"/>
                <a:sym typeface="Open Sans"/>
              </a:rPr>
              <a:t>e </a:t>
            </a:r>
            <a:r>
              <a:rPr b="1" lang="en" sz="1200">
                <a:solidFill>
                  <a:schemeClr val="dk1"/>
                </a:solidFill>
                <a:latin typeface="Open Sans"/>
                <a:ea typeface="Open Sans"/>
                <a:cs typeface="Open Sans"/>
                <a:sym typeface="Open Sans"/>
              </a:rPr>
              <a:t>Java</a:t>
            </a:r>
            <a:r>
              <a:rPr lang="en"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p:txBody>
      </p:sp>
      <p:sp>
        <p:nvSpPr>
          <p:cNvPr id="215" name="Google Shape;215;p3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6" name="Google Shape;216;p3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17" name="Google Shape;217;p3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8" name="Google Shape;218;p3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19" name="Google Shape;219;p3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20" name="Google Shape;220;p3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21" name="Google Shape;221;p33"/>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nvSpPr>
        <p:spPr>
          <a:xfrm>
            <a:off x="279450" y="798275"/>
            <a:ext cx="7147200" cy="572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Introdução ao ADK - Funcionalidades:</a:t>
            </a:r>
            <a:br>
              <a:rPr b="1" lang="en" sz="1800">
                <a:solidFill>
                  <a:schemeClr val="dk2"/>
                </a:solidFill>
                <a:latin typeface="Open Sans"/>
                <a:ea typeface="Open Sans"/>
                <a:cs typeface="Open Sans"/>
                <a:sym typeface="Open Sans"/>
              </a:rPr>
            </a:br>
            <a:endParaRPr sz="1200">
              <a:solidFill>
                <a:schemeClr val="dk1"/>
              </a:solidFill>
              <a:latin typeface="Open Sans"/>
              <a:ea typeface="Open Sans"/>
              <a:cs typeface="Open Sans"/>
              <a:sym typeface="Open Sans"/>
            </a:endParaRPr>
          </a:p>
        </p:txBody>
      </p:sp>
      <p:sp>
        <p:nvSpPr>
          <p:cNvPr id="227" name="Google Shape;227;p3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8" name="Google Shape;228;p3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29" name="Google Shape;229;p3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30" name="Google Shape;230;p3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31" name="Google Shape;231;p3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32" name="Google Shape;232;p3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33" name="Google Shape;233;p34"/>
          <p:cNvPicPr preferRelativeResize="0"/>
          <p:nvPr/>
        </p:nvPicPr>
        <p:blipFill>
          <a:blip r:embed="rId5">
            <a:alphaModFix/>
          </a:blip>
          <a:stretch>
            <a:fillRect/>
          </a:stretch>
        </p:blipFill>
        <p:spPr>
          <a:xfrm>
            <a:off x="206445" y="2068758"/>
            <a:ext cx="3605525" cy="1818075"/>
          </a:xfrm>
          <a:prstGeom prst="rect">
            <a:avLst/>
          </a:prstGeom>
          <a:noFill/>
          <a:ln>
            <a:noFill/>
          </a:ln>
        </p:spPr>
      </p:pic>
      <p:pic>
        <p:nvPicPr>
          <p:cNvPr id="234" name="Google Shape;234;p34"/>
          <p:cNvPicPr preferRelativeResize="0"/>
          <p:nvPr/>
        </p:nvPicPr>
        <p:blipFill>
          <a:blip r:embed="rId6">
            <a:alphaModFix/>
          </a:blip>
          <a:stretch>
            <a:fillRect/>
          </a:stretch>
        </p:blipFill>
        <p:spPr>
          <a:xfrm>
            <a:off x="340696" y="2214765"/>
            <a:ext cx="257175" cy="285750"/>
          </a:xfrm>
          <a:prstGeom prst="rect">
            <a:avLst/>
          </a:prstGeom>
          <a:noFill/>
          <a:ln>
            <a:noFill/>
          </a:ln>
        </p:spPr>
      </p:pic>
      <p:sp>
        <p:nvSpPr>
          <p:cNvPr id="235" name="Google Shape;235;p34"/>
          <p:cNvSpPr txBox="1"/>
          <p:nvPr/>
        </p:nvSpPr>
        <p:spPr>
          <a:xfrm>
            <a:off x="696920" y="2157530"/>
            <a:ext cx="278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Orquestração Flexivel</a:t>
            </a:r>
            <a:endParaRPr b="1" sz="1200">
              <a:solidFill>
                <a:schemeClr val="dk1"/>
              </a:solidFill>
              <a:latin typeface="Open Sans"/>
              <a:ea typeface="Open Sans"/>
              <a:cs typeface="Open Sans"/>
              <a:sym typeface="Open Sans"/>
            </a:endParaRPr>
          </a:p>
        </p:txBody>
      </p:sp>
      <p:sp>
        <p:nvSpPr>
          <p:cNvPr id="236" name="Google Shape;236;p34"/>
          <p:cNvSpPr txBox="1"/>
          <p:nvPr/>
        </p:nvSpPr>
        <p:spPr>
          <a:xfrm>
            <a:off x="340695" y="2641780"/>
            <a:ext cx="3349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Defina fluxos de trabalho usando agentes (</a:t>
            </a:r>
            <a:r>
              <a:rPr i="1" lang="en" sz="1200">
                <a:solidFill>
                  <a:schemeClr val="dk1"/>
                </a:solidFill>
                <a:latin typeface="Open Sans"/>
                <a:ea typeface="Open Sans"/>
                <a:cs typeface="Open Sans"/>
                <a:sym typeface="Open Sans"/>
              </a:rPr>
              <a:t>Sequential, Parallel, Loop</a:t>
            </a:r>
            <a:r>
              <a:rPr lang="en" sz="1200">
                <a:solidFill>
                  <a:schemeClr val="dk1"/>
                </a:solidFill>
                <a:latin typeface="Open Sans"/>
                <a:ea typeface="Open Sans"/>
                <a:cs typeface="Open Sans"/>
                <a:sym typeface="Open Sans"/>
              </a:rPr>
              <a:t>) para pipelines previsíveis, ou aproveite o roteamento dinâmico impulsionado por LLM (transferência </a:t>
            </a:r>
            <a:r>
              <a:rPr i="1" lang="en" sz="1200">
                <a:solidFill>
                  <a:schemeClr val="dk1"/>
                </a:solidFill>
                <a:latin typeface="Open Sans"/>
                <a:ea typeface="Open Sans"/>
                <a:cs typeface="Open Sans"/>
                <a:sym typeface="Open Sans"/>
              </a:rPr>
              <a:t>LlmAgent</a:t>
            </a:r>
            <a:r>
              <a:rPr lang="en" sz="1200">
                <a:solidFill>
                  <a:schemeClr val="dk1"/>
                </a:solidFill>
                <a:latin typeface="Open Sans"/>
                <a:ea typeface="Open Sans"/>
                <a:cs typeface="Open Sans"/>
                <a:sym typeface="Open Sans"/>
              </a:rPr>
              <a:t>) para um comportamento adaptável.</a:t>
            </a:r>
            <a:endParaRPr sz="1200">
              <a:solidFill>
                <a:schemeClr val="dk1"/>
              </a:solidFill>
              <a:latin typeface="Open Sans"/>
              <a:ea typeface="Open Sans"/>
              <a:cs typeface="Open Sans"/>
              <a:sym typeface="Open Sans"/>
            </a:endParaRPr>
          </a:p>
        </p:txBody>
      </p:sp>
      <p:pic>
        <p:nvPicPr>
          <p:cNvPr id="237" name="Google Shape;237;p34"/>
          <p:cNvPicPr preferRelativeResize="0"/>
          <p:nvPr/>
        </p:nvPicPr>
        <p:blipFill>
          <a:blip r:embed="rId5">
            <a:alphaModFix/>
          </a:blip>
          <a:stretch>
            <a:fillRect/>
          </a:stretch>
        </p:blipFill>
        <p:spPr>
          <a:xfrm>
            <a:off x="4228095" y="2068761"/>
            <a:ext cx="3605525" cy="1818075"/>
          </a:xfrm>
          <a:prstGeom prst="rect">
            <a:avLst/>
          </a:prstGeom>
          <a:noFill/>
          <a:ln>
            <a:noFill/>
          </a:ln>
        </p:spPr>
      </p:pic>
      <p:sp>
        <p:nvSpPr>
          <p:cNvPr id="238" name="Google Shape;238;p34"/>
          <p:cNvSpPr txBox="1"/>
          <p:nvPr/>
        </p:nvSpPr>
        <p:spPr>
          <a:xfrm>
            <a:off x="4718570" y="2157533"/>
            <a:ext cx="278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Arquitetura Multi-agentes</a:t>
            </a:r>
            <a:endParaRPr b="1" sz="1200">
              <a:solidFill>
                <a:schemeClr val="dk1"/>
              </a:solidFill>
              <a:latin typeface="Open Sans"/>
              <a:ea typeface="Open Sans"/>
              <a:cs typeface="Open Sans"/>
              <a:sym typeface="Open Sans"/>
            </a:endParaRPr>
          </a:p>
        </p:txBody>
      </p:sp>
      <p:pic>
        <p:nvPicPr>
          <p:cNvPr id="239" name="Google Shape;239;p34"/>
          <p:cNvPicPr preferRelativeResize="0"/>
          <p:nvPr/>
        </p:nvPicPr>
        <p:blipFill>
          <a:blip r:embed="rId7">
            <a:alphaModFix/>
          </a:blip>
          <a:stretch>
            <a:fillRect/>
          </a:stretch>
        </p:blipFill>
        <p:spPr>
          <a:xfrm>
            <a:off x="4327545" y="2162355"/>
            <a:ext cx="342900" cy="390525"/>
          </a:xfrm>
          <a:prstGeom prst="rect">
            <a:avLst/>
          </a:prstGeom>
          <a:noFill/>
          <a:ln>
            <a:noFill/>
          </a:ln>
        </p:spPr>
      </p:pic>
      <p:sp>
        <p:nvSpPr>
          <p:cNvPr id="240" name="Google Shape;240;p34"/>
          <p:cNvSpPr txBox="1"/>
          <p:nvPr/>
        </p:nvSpPr>
        <p:spPr>
          <a:xfrm>
            <a:off x="4362345" y="2641783"/>
            <a:ext cx="3303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Construa aplicações modulares e escaláveis compondo múltiplos agentes especializados em uma hierarquia. Possibilite a coordenação e a delegação complexas.</a:t>
            </a:r>
            <a:endParaRPr sz="1200">
              <a:solidFill>
                <a:schemeClr val="dk1"/>
              </a:solidFill>
              <a:latin typeface="Open Sans"/>
              <a:ea typeface="Open Sans"/>
              <a:cs typeface="Open Sans"/>
              <a:sym typeface="Open Sans"/>
            </a:endParaRPr>
          </a:p>
        </p:txBody>
      </p:sp>
      <p:pic>
        <p:nvPicPr>
          <p:cNvPr id="241" name="Google Shape;241;p34"/>
          <p:cNvPicPr preferRelativeResize="0"/>
          <p:nvPr/>
        </p:nvPicPr>
        <p:blipFill>
          <a:blip r:embed="rId8">
            <a:alphaModFix/>
          </a:blip>
          <a:stretch>
            <a:fillRect/>
          </a:stretch>
        </p:blipFill>
        <p:spPr>
          <a:xfrm>
            <a:off x="5872099" y="90475"/>
            <a:ext cx="626001" cy="626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nvSpPr>
        <p:spPr>
          <a:xfrm>
            <a:off x="279450" y="798275"/>
            <a:ext cx="7147200" cy="572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Introdução ao ADK - Funcionalidades:</a:t>
            </a:r>
            <a:br>
              <a:rPr b="1" lang="en" sz="1800">
                <a:solidFill>
                  <a:schemeClr val="dk2"/>
                </a:solidFill>
                <a:latin typeface="Open Sans"/>
                <a:ea typeface="Open Sans"/>
                <a:cs typeface="Open Sans"/>
                <a:sym typeface="Open Sans"/>
              </a:rPr>
            </a:br>
            <a:endParaRPr sz="1200">
              <a:solidFill>
                <a:schemeClr val="dk1"/>
              </a:solidFill>
              <a:latin typeface="Open Sans"/>
              <a:ea typeface="Open Sans"/>
              <a:cs typeface="Open Sans"/>
              <a:sym typeface="Open Sans"/>
            </a:endParaRPr>
          </a:p>
        </p:txBody>
      </p:sp>
      <p:sp>
        <p:nvSpPr>
          <p:cNvPr id="247" name="Google Shape;247;p3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8" name="Google Shape;248;p3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49" name="Google Shape;249;p3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0" name="Google Shape;250;p3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51" name="Google Shape;251;p3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52" name="Google Shape;252;p3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53" name="Google Shape;253;p35"/>
          <p:cNvPicPr preferRelativeResize="0"/>
          <p:nvPr/>
        </p:nvPicPr>
        <p:blipFill>
          <a:blip r:embed="rId5">
            <a:alphaModFix/>
          </a:blip>
          <a:stretch>
            <a:fillRect/>
          </a:stretch>
        </p:blipFill>
        <p:spPr>
          <a:xfrm>
            <a:off x="206445" y="2068758"/>
            <a:ext cx="3605525" cy="1818075"/>
          </a:xfrm>
          <a:prstGeom prst="rect">
            <a:avLst/>
          </a:prstGeom>
          <a:noFill/>
          <a:ln>
            <a:noFill/>
          </a:ln>
        </p:spPr>
      </p:pic>
      <p:sp>
        <p:nvSpPr>
          <p:cNvPr id="254" name="Google Shape;254;p35"/>
          <p:cNvSpPr txBox="1"/>
          <p:nvPr/>
        </p:nvSpPr>
        <p:spPr>
          <a:xfrm>
            <a:off x="696920" y="2157530"/>
            <a:ext cx="278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Ecossistema Rico em Ferramentas</a:t>
            </a:r>
            <a:endParaRPr b="1" sz="1200">
              <a:solidFill>
                <a:schemeClr val="dk1"/>
              </a:solidFill>
              <a:latin typeface="Open Sans"/>
              <a:ea typeface="Open Sans"/>
              <a:cs typeface="Open Sans"/>
              <a:sym typeface="Open Sans"/>
            </a:endParaRPr>
          </a:p>
        </p:txBody>
      </p:sp>
      <p:sp>
        <p:nvSpPr>
          <p:cNvPr id="255" name="Google Shape;255;p35"/>
          <p:cNvSpPr txBox="1"/>
          <p:nvPr/>
        </p:nvSpPr>
        <p:spPr>
          <a:xfrm>
            <a:off x="340695" y="2641780"/>
            <a:ext cx="3349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Equipe os agentes com diversas capacidades: use ferramentas prontas (Pesquisa, Execução de Código), crie funções personalizadas, integre bibliotecas de terceiros ou até mesmo utilize outros agentes como ferramentas.</a:t>
            </a:r>
            <a:endParaRPr sz="1200">
              <a:solidFill>
                <a:schemeClr val="dk1"/>
              </a:solidFill>
              <a:latin typeface="Open Sans"/>
              <a:ea typeface="Open Sans"/>
              <a:cs typeface="Open Sans"/>
              <a:sym typeface="Open Sans"/>
            </a:endParaRPr>
          </a:p>
        </p:txBody>
      </p:sp>
      <p:pic>
        <p:nvPicPr>
          <p:cNvPr id="256" name="Google Shape;256;p35"/>
          <p:cNvPicPr preferRelativeResize="0"/>
          <p:nvPr/>
        </p:nvPicPr>
        <p:blipFill>
          <a:blip r:embed="rId5">
            <a:alphaModFix/>
          </a:blip>
          <a:stretch>
            <a:fillRect/>
          </a:stretch>
        </p:blipFill>
        <p:spPr>
          <a:xfrm>
            <a:off x="4228095" y="2068761"/>
            <a:ext cx="3605525" cy="1818075"/>
          </a:xfrm>
          <a:prstGeom prst="rect">
            <a:avLst/>
          </a:prstGeom>
          <a:noFill/>
          <a:ln>
            <a:noFill/>
          </a:ln>
        </p:spPr>
      </p:pic>
      <p:sp>
        <p:nvSpPr>
          <p:cNvPr id="257" name="Google Shape;257;p35"/>
          <p:cNvSpPr txBox="1"/>
          <p:nvPr/>
        </p:nvSpPr>
        <p:spPr>
          <a:xfrm>
            <a:off x="4718570" y="2157533"/>
            <a:ext cx="278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Pronto para Implatação</a:t>
            </a:r>
            <a:endParaRPr b="1" sz="1200">
              <a:solidFill>
                <a:schemeClr val="dk1"/>
              </a:solidFill>
              <a:latin typeface="Open Sans"/>
              <a:ea typeface="Open Sans"/>
              <a:cs typeface="Open Sans"/>
              <a:sym typeface="Open Sans"/>
            </a:endParaRPr>
          </a:p>
        </p:txBody>
      </p:sp>
      <p:sp>
        <p:nvSpPr>
          <p:cNvPr id="258" name="Google Shape;258;p35"/>
          <p:cNvSpPr txBox="1"/>
          <p:nvPr/>
        </p:nvSpPr>
        <p:spPr>
          <a:xfrm>
            <a:off x="4362345" y="2641783"/>
            <a:ext cx="3303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Conteinerize e implante seus agentes em qualquer lugar – execute localmente, escale com o Vertex AI Agent Engine ou integre em uma infraestrutura personalizada usando o Cloud Run ou o Docker.</a:t>
            </a:r>
            <a:endParaRPr sz="1200">
              <a:solidFill>
                <a:schemeClr val="dk1"/>
              </a:solidFill>
              <a:latin typeface="Open Sans"/>
              <a:ea typeface="Open Sans"/>
              <a:cs typeface="Open Sans"/>
              <a:sym typeface="Open Sans"/>
            </a:endParaRPr>
          </a:p>
        </p:txBody>
      </p:sp>
      <p:pic>
        <p:nvPicPr>
          <p:cNvPr id="259" name="Google Shape;259;p35"/>
          <p:cNvPicPr preferRelativeResize="0"/>
          <p:nvPr/>
        </p:nvPicPr>
        <p:blipFill>
          <a:blip r:embed="rId6">
            <a:alphaModFix/>
          </a:blip>
          <a:stretch>
            <a:fillRect/>
          </a:stretch>
        </p:blipFill>
        <p:spPr>
          <a:xfrm>
            <a:off x="411175" y="2219505"/>
            <a:ext cx="285750" cy="276225"/>
          </a:xfrm>
          <a:prstGeom prst="rect">
            <a:avLst/>
          </a:prstGeom>
          <a:noFill/>
          <a:ln>
            <a:noFill/>
          </a:ln>
        </p:spPr>
      </p:pic>
      <p:pic>
        <p:nvPicPr>
          <p:cNvPr id="260" name="Google Shape;260;p35"/>
          <p:cNvPicPr preferRelativeResize="0"/>
          <p:nvPr/>
        </p:nvPicPr>
        <p:blipFill>
          <a:blip r:embed="rId7">
            <a:alphaModFix/>
          </a:blip>
          <a:stretch>
            <a:fillRect/>
          </a:stretch>
        </p:blipFill>
        <p:spPr>
          <a:xfrm>
            <a:off x="4362350" y="2195692"/>
            <a:ext cx="295275" cy="323850"/>
          </a:xfrm>
          <a:prstGeom prst="rect">
            <a:avLst/>
          </a:prstGeom>
          <a:noFill/>
          <a:ln>
            <a:noFill/>
          </a:ln>
        </p:spPr>
      </p:pic>
      <p:pic>
        <p:nvPicPr>
          <p:cNvPr id="261" name="Google Shape;261;p35"/>
          <p:cNvPicPr preferRelativeResize="0"/>
          <p:nvPr/>
        </p:nvPicPr>
        <p:blipFill>
          <a:blip r:embed="rId8">
            <a:alphaModFix/>
          </a:blip>
          <a:stretch>
            <a:fillRect/>
          </a:stretch>
        </p:blipFill>
        <p:spPr>
          <a:xfrm>
            <a:off x="5872099" y="90475"/>
            <a:ext cx="626001" cy="6260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nvSpPr>
        <p:spPr>
          <a:xfrm>
            <a:off x="279450" y="798275"/>
            <a:ext cx="7147200" cy="572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Introdução ao ADK - Funcionalidades:</a:t>
            </a:r>
            <a:br>
              <a:rPr b="1" lang="en" sz="1800">
                <a:solidFill>
                  <a:schemeClr val="dk2"/>
                </a:solidFill>
                <a:latin typeface="Open Sans"/>
                <a:ea typeface="Open Sans"/>
                <a:cs typeface="Open Sans"/>
                <a:sym typeface="Open Sans"/>
              </a:rPr>
            </a:br>
            <a:endParaRPr sz="1200">
              <a:solidFill>
                <a:schemeClr val="dk1"/>
              </a:solidFill>
              <a:latin typeface="Open Sans"/>
              <a:ea typeface="Open Sans"/>
              <a:cs typeface="Open Sans"/>
              <a:sym typeface="Open Sans"/>
            </a:endParaRPr>
          </a:p>
        </p:txBody>
      </p:sp>
      <p:sp>
        <p:nvSpPr>
          <p:cNvPr id="267" name="Google Shape;267;p3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8" name="Google Shape;268;p3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69" name="Google Shape;269;p3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70" name="Google Shape;270;p3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71" name="Google Shape;271;p3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72" name="Google Shape;272;p3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73" name="Google Shape;273;p36"/>
          <p:cNvPicPr preferRelativeResize="0"/>
          <p:nvPr/>
        </p:nvPicPr>
        <p:blipFill>
          <a:blip r:embed="rId5">
            <a:alphaModFix/>
          </a:blip>
          <a:stretch>
            <a:fillRect/>
          </a:stretch>
        </p:blipFill>
        <p:spPr>
          <a:xfrm>
            <a:off x="206445" y="2068758"/>
            <a:ext cx="3605525" cy="1818075"/>
          </a:xfrm>
          <a:prstGeom prst="rect">
            <a:avLst/>
          </a:prstGeom>
          <a:noFill/>
          <a:ln>
            <a:noFill/>
          </a:ln>
        </p:spPr>
      </p:pic>
      <p:sp>
        <p:nvSpPr>
          <p:cNvPr id="274" name="Google Shape;274;p36"/>
          <p:cNvSpPr txBox="1"/>
          <p:nvPr/>
        </p:nvSpPr>
        <p:spPr>
          <a:xfrm>
            <a:off x="696920" y="2157530"/>
            <a:ext cx="278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Validações Built-in</a:t>
            </a:r>
            <a:endParaRPr b="1" sz="1200">
              <a:solidFill>
                <a:schemeClr val="dk1"/>
              </a:solidFill>
              <a:latin typeface="Open Sans"/>
              <a:ea typeface="Open Sans"/>
              <a:cs typeface="Open Sans"/>
              <a:sym typeface="Open Sans"/>
            </a:endParaRPr>
          </a:p>
        </p:txBody>
      </p:sp>
      <p:sp>
        <p:nvSpPr>
          <p:cNvPr id="275" name="Google Shape;275;p36"/>
          <p:cNvSpPr txBox="1"/>
          <p:nvPr/>
        </p:nvSpPr>
        <p:spPr>
          <a:xfrm>
            <a:off x="340695" y="2641780"/>
            <a:ext cx="3349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Avalie sistematicamente o desempenho do agente, analisando tanto a qualidade da resposta final quanto a trajetória de execução passo a passo, em comparação com casos de teste predefinidos.</a:t>
            </a:r>
            <a:endParaRPr sz="1200">
              <a:solidFill>
                <a:schemeClr val="dk1"/>
              </a:solidFill>
              <a:latin typeface="Open Sans"/>
              <a:ea typeface="Open Sans"/>
              <a:cs typeface="Open Sans"/>
              <a:sym typeface="Open Sans"/>
            </a:endParaRPr>
          </a:p>
        </p:txBody>
      </p:sp>
      <p:pic>
        <p:nvPicPr>
          <p:cNvPr id="276" name="Google Shape;276;p36"/>
          <p:cNvPicPr preferRelativeResize="0"/>
          <p:nvPr/>
        </p:nvPicPr>
        <p:blipFill>
          <a:blip r:embed="rId5">
            <a:alphaModFix/>
          </a:blip>
          <a:stretch>
            <a:fillRect/>
          </a:stretch>
        </p:blipFill>
        <p:spPr>
          <a:xfrm>
            <a:off x="4228095" y="2068761"/>
            <a:ext cx="3605525" cy="1818075"/>
          </a:xfrm>
          <a:prstGeom prst="rect">
            <a:avLst/>
          </a:prstGeom>
          <a:noFill/>
          <a:ln>
            <a:noFill/>
          </a:ln>
        </p:spPr>
      </p:pic>
      <p:sp>
        <p:nvSpPr>
          <p:cNvPr id="277" name="Google Shape;277;p36"/>
          <p:cNvSpPr txBox="1"/>
          <p:nvPr/>
        </p:nvSpPr>
        <p:spPr>
          <a:xfrm>
            <a:off x="4718575" y="2157525"/>
            <a:ext cx="3053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Open Sans"/>
                <a:ea typeface="Open Sans"/>
                <a:cs typeface="Open Sans"/>
                <a:sym typeface="Open Sans"/>
              </a:rPr>
              <a:t>Construção segura e Agentes seguros</a:t>
            </a:r>
            <a:endParaRPr b="1" sz="1200">
              <a:solidFill>
                <a:schemeClr val="dk1"/>
              </a:solidFill>
              <a:latin typeface="Open Sans"/>
              <a:ea typeface="Open Sans"/>
              <a:cs typeface="Open Sans"/>
              <a:sym typeface="Open Sans"/>
            </a:endParaRPr>
          </a:p>
        </p:txBody>
      </p:sp>
      <p:sp>
        <p:nvSpPr>
          <p:cNvPr id="278" name="Google Shape;278;p36"/>
          <p:cNvSpPr txBox="1"/>
          <p:nvPr/>
        </p:nvSpPr>
        <p:spPr>
          <a:xfrm>
            <a:off x="4362345" y="2641783"/>
            <a:ext cx="3303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Desenvolvimento de agentes poderosos e confiáveis, implementando padrões e melhores práticas de segurança e proteção no design do seu agente.</a:t>
            </a:r>
            <a:endParaRPr sz="1200">
              <a:solidFill>
                <a:schemeClr val="dk1"/>
              </a:solidFill>
              <a:latin typeface="Open Sans"/>
              <a:ea typeface="Open Sans"/>
              <a:cs typeface="Open Sans"/>
              <a:sym typeface="Open Sans"/>
            </a:endParaRPr>
          </a:p>
        </p:txBody>
      </p:sp>
      <p:pic>
        <p:nvPicPr>
          <p:cNvPr id="279" name="Google Shape;279;p36"/>
          <p:cNvPicPr preferRelativeResize="0"/>
          <p:nvPr/>
        </p:nvPicPr>
        <p:blipFill>
          <a:blip r:embed="rId6">
            <a:alphaModFix/>
          </a:blip>
          <a:stretch>
            <a:fillRect/>
          </a:stretch>
        </p:blipFill>
        <p:spPr>
          <a:xfrm>
            <a:off x="371400" y="2199305"/>
            <a:ext cx="295275" cy="285750"/>
          </a:xfrm>
          <a:prstGeom prst="rect">
            <a:avLst/>
          </a:prstGeom>
          <a:noFill/>
          <a:ln>
            <a:noFill/>
          </a:ln>
        </p:spPr>
      </p:pic>
      <p:pic>
        <p:nvPicPr>
          <p:cNvPr id="280" name="Google Shape;280;p36"/>
          <p:cNvPicPr preferRelativeResize="0"/>
          <p:nvPr/>
        </p:nvPicPr>
        <p:blipFill>
          <a:blip r:embed="rId7">
            <a:alphaModFix/>
          </a:blip>
          <a:stretch>
            <a:fillRect/>
          </a:stretch>
        </p:blipFill>
        <p:spPr>
          <a:xfrm>
            <a:off x="4380713" y="2199305"/>
            <a:ext cx="304800" cy="285750"/>
          </a:xfrm>
          <a:prstGeom prst="rect">
            <a:avLst/>
          </a:prstGeom>
          <a:noFill/>
          <a:ln>
            <a:noFill/>
          </a:ln>
        </p:spPr>
      </p:pic>
      <p:pic>
        <p:nvPicPr>
          <p:cNvPr id="281" name="Google Shape;281;p36"/>
          <p:cNvPicPr preferRelativeResize="0"/>
          <p:nvPr/>
        </p:nvPicPr>
        <p:blipFill>
          <a:blip r:embed="rId8">
            <a:alphaModFix/>
          </a:blip>
          <a:stretch>
            <a:fillRect/>
          </a:stretch>
        </p:blipFill>
        <p:spPr>
          <a:xfrm>
            <a:off x="5872099" y="90475"/>
            <a:ext cx="626001" cy="6260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nvSpPr>
        <p:spPr>
          <a:xfrm>
            <a:off x="279450" y="798275"/>
            <a:ext cx="7147200" cy="37614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Introdução ao ADK - Conceitos Fundamentais:</a:t>
            </a:r>
            <a:br>
              <a:rPr b="1" lang="en" sz="1800">
                <a:solidFill>
                  <a:schemeClr val="dk2"/>
                </a:solidFill>
                <a:latin typeface="Open Sans"/>
                <a:ea typeface="Open Sans"/>
                <a:cs typeface="Open Sans"/>
                <a:sym typeface="Open Sans"/>
              </a:rPr>
            </a:br>
            <a:r>
              <a:rPr lang="en" sz="1300">
                <a:solidFill>
                  <a:schemeClr val="dk1"/>
                </a:solidFill>
                <a:latin typeface="Open Sans"/>
                <a:ea typeface="Open Sans"/>
                <a:cs typeface="Open Sans"/>
                <a:sym typeface="Open Sans"/>
              </a:rPr>
              <a:t>A estrutura do ADK assenta em alguns conceitos e primitivas fundamentais que lhe conferem poder e flexibilidade. Eis os pontos essenciais: </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rPr b="1" lang="en" sz="1200">
                <a:solidFill>
                  <a:schemeClr val="dk1"/>
                </a:solidFill>
                <a:latin typeface="Open Sans"/>
                <a:ea typeface="Open Sans"/>
                <a:cs typeface="Open Sans"/>
                <a:sym typeface="Open Sans"/>
              </a:rPr>
              <a:t>Agent (Agente): </a:t>
            </a:r>
            <a:r>
              <a:rPr lang="en" sz="1200">
                <a:solidFill>
                  <a:schemeClr val="dk1"/>
                </a:solidFill>
                <a:latin typeface="Open Sans"/>
                <a:ea typeface="Open Sans"/>
                <a:cs typeface="Open Sans"/>
                <a:sym typeface="Open Sans"/>
              </a:rPr>
              <a:t>A unidade de trabalho fundamental, projetada para tarefas específicas. Os agentes podem usar modelos de linguagem (Agente de LLM) para raciocínio complexo ou atuar como controladores determinísticos da execução, que são chamados de "agentes de fluxo de trabalho".</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Tool (Ferramenta): </a:t>
            </a:r>
            <a:r>
              <a:rPr lang="en" sz="1200">
                <a:solidFill>
                  <a:schemeClr val="dk1"/>
                </a:solidFill>
                <a:latin typeface="Open Sans"/>
                <a:ea typeface="Open Sans"/>
                <a:cs typeface="Open Sans"/>
                <a:sym typeface="Open Sans"/>
              </a:rPr>
              <a:t>Concede aos agentes habilidades que vão além da conversação, permitindo que interajam com APIs externas, pesquisem informações, executem código ou chamem outros serviços.</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Callbacks: </a:t>
            </a:r>
            <a:r>
              <a:rPr lang="en" sz="1200">
                <a:solidFill>
                  <a:schemeClr val="dk1"/>
                </a:solidFill>
                <a:latin typeface="Open Sans"/>
                <a:ea typeface="Open Sans"/>
                <a:cs typeface="Open Sans"/>
                <a:sym typeface="Open Sans"/>
              </a:rPr>
              <a:t>Trechos de código personalizados que você fornece para serem executados em pontos específicos do processo do agente, permitindo verificações, registros (logging) ou modificações de comportamento.</a:t>
            </a:r>
            <a:endParaRPr sz="1200">
              <a:solidFill>
                <a:schemeClr val="dk1"/>
              </a:solidFill>
              <a:latin typeface="Open Sans"/>
              <a:ea typeface="Open Sans"/>
              <a:cs typeface="Open Sans"/>
              <a:sym typeface="Open Sans"/>
            </a:endParaRPr>
          </a:p>
        </p:txBody>
      </p:sp>
      <p:sp>
        <p:nvSpPr>
          <p:cNvPr id="287" name="Google Shape;287;p3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88" name="Google Shape;288;p3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89" name="Google Shape;289;p3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90" name="Google Shape;290;p3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91" name="Google Shape;291;p3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92" name="Google Shape;292;p3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93" name="Google Shape;293;p37"/>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nvSpPr>
        <p:spPr>
          <a:xfrm>
            <a:off x="279450" y="798275"/>
            <a:ext cx="7147200" cy="3675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Introdução ao ADK - Conceitos Fundamentais:</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br>
              <a:rPr b="1"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Gerenciamento de Sessão (Session e State): </a:t>
            </a:r>
            <a:r>
              <a:rPr lang="en" sz="1200">
                <a:solidFill>
                  <a:schemeClr val="dk1"/>
                </a:solidFill>
                <a:latin typeface="Open Sans"/>
                <a:ea typeface="Open Sans"/>
                <a:cs typeface="Open Sans"/>
                <a:sym typeface="Open Sans"/>
              </a:rPr>
              <a:t>Lida com o contexto de uma única conversa (Session), incluindo seu histórico (Eventos) and a agent's working memory for that conversation (Estado).</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Memória: </a:t>
            </a:r>
            <a:r>
              <a:rPr lang="en" sz="1200">
                <a:solidFill>
                  <a:schemeClr val="dk1"/>
                </a:solidFill>
                <a:latin typeface="Open Sans"/>
                <a:ea typeface="Open Sans"/>
                <a:cs typeface="Open Sans"/>
                <a:sym typeface="Open Sans"/>
              </a:rPr>
              <a:t>Permite que os agentes recordem informações sobre um usuário ao longo de múltiplas sessões, fornecendo contexto de longo prazo (diferente do Estado da sessão de curto prazo).</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Gerenciamento de Artefatos (Artifact): </a:t>
            </a:r>
            <a:r>
              <a:rPr lang="en" sz="1200">
                <a:solidFill>
                  <a:schemeClr val="dk1"/>
                </a:solidFill>
                <a:latin typeface="Open Sans"/>
                <a:ea typeface="Open Sans"/>
                <a:cs typeface="Open Sans"/>
                <a:sym typeface="Open Sans"/>
              </a:rPr>
              <a:t>Permite que os agentes salvem, carreguem e gerenciem arquivos ou dados binários (como imagens, PDFs) associados a uma sessão ou usuário.</a:t>
            </a:r>
            <a:endParaRPr sz="12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rPr b="1" lang="en" sz="1200">
                <a:solidFill>
                  <a:schemeClr val="dk1"/>
                </a:solidFill>
                <a:latin typeface="Open Sans"/>
                <a:ea typeface="Open Sans"/>
                <a:cs typeface="Open Sans"/>
                <a:sym typeface="Open Sans"/>
              </a:rPr>
              <a:t>Execução de Código</a:t>
            </a:r>
            <a:r>
              <a:rPr lang="en" sz="1200">
                <a:solidFill>
                  <a:schemeClr val="dk1"/>
                </a:solidFill>
                <a:latin typeface="Open Sans"/>
                <a:ea typeface="Open Sans"/>
                <a:cs typeface="Open Sans"/>
                <a:sym typeface="Open Sans"/>
              </a:rPr>
              <a:t>: A capacidade dos agentes (geralmente por meio de Ferramentas) de gerar e executar código para realizar cálculos ou ações complexas.</a:t>
            </a:r>
            <a:endParaRPr sz="1200">
              <a:solidFill>
                <a:schemeClr val="dk1"/>
              </a:solidFill>
              <a:latin typeface="Open Sans"/>
              <a:ea typeface="Open Sans"/>
              <a:cs typeface="Open Sans"/>
              <a:sym typeface="Open Sans"/>
            </a:endParaRPr>
          </a:p>
        </p:txBody>
      </p:sp>
      <p:sp>
        <p:nvSpPr>
          <p:cNvPr id="299" name="Google Shape;299;p3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0" name="Google Shape;300;p3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01" name="Google Shape;301;p3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2" name="Google Shape;302;p3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03" name="Google Shape;303;p3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04" name="Google Shape;304;p3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05" name="Google Shape;305;p38"/>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nvSpPr>
        <p:spPr>
          <a:xfrm>
            <a:off x="279450" y="798275"/>
            <a:ext cx="71472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Introdução ao ADK - Conceitos Fundamentais:</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br>
              <a:rPr b="1"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Planejamento: </a:t>
            </a:r>
            <a:r>
              <a:rPr lang="en" sz="1200">
                <a:solidFill>
                  <a:schemeClr val="dk1"/>
                </a:solidFill>
                <a:latin typeface="Open Sans"/>
                <a:ea typeface="Open Sans"/>
                <a:cs typeface="Open Sans"/>
                <a:sym typeface="Open Sans"/>
              </a:rPr>
              <a:t>Uma capacidade avançada onde os agentes podem decompor objetivos complexos em etapas menores e planejar como alcançá-los, como um planejador ReAct</a:t>
            </a:r>
            <a:r>
              <a:rPr lang="en" sz="1200">
                <a:solidFill>
                  <a:schemeClr val="dk1"/>
                </a:solidFill>
                <a:latin typeface="Open Sans"/>
                <a:ea typeface="Open Sans"/>
                <a:cs typeface="Open Sans"/>
                <a:sym typeface="Open Sans"/>
              </a:rPr>
              <a:t>.</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Modelos: </a:t>
            </a:r>
            <a:r>
              <a:rPr lang="en" sz="1200">
                <a:solidFill>
                  <a:schemeClr val="dk1"/>
                </a:solidFill>
                <a:latin typeface="Open Sans"/>
                <a:ea typeface="Open Sans"/>
                <a:cs typeface="Open Sans"/>
                <a:sym typeface="Open Sans"/>
              </a:rPr>
              <a:t>O LLM (Grande Modelo de Linguagem) subjacente que potencializa os Agentes de LLM, permitindo suas capacidades de raciocínio e compreensão da linguagem.</a:t>
            </a:r>
            <a:br>
              <a:rPr lang="en" sz="1200">
                <a:solidFill>
                  <a:schemeClr val="dk1"/>
                </a:solidFill>
                <a:latin typeface="Open Sans"/>
                <a:ea typeface="Open Sans"/>
                <a:cs typeface="Open Sans"/>
                <a:sym typeface="Open Sans"/>
              </a:rPr>
            </a:br>
            <a:br>
              <a:rPr lang="en" sz="1200">
                <a:solidFill>
                  <a:schemeClr val="dk1"/>
                </a:solidFill>
                <a:latin typeface="Open Sans"/>
                <a:ea typeface="Open Sans"/>
                <a:cs typeface="Open Sans"/>
                <a:sym typeface="Open Sans"/>
              </a:rPr>
            </a:br>
            <a:r>
              <a:rPr b="1" lang="en" sz="1200">
                <a:solidFill>
                  <a:schemeClr val="dk1"/>
                </a:solidFill>
                <a:latin typeface="Open Sans"/>
                <a:ea typeface="Open Sans"/>
                <a:cs typeface="Open Sans"/>
                <a:sym typeface="Open Sans"/>
              </a:rPr>
              <a:t>Evento: </a:t>
            </a:r>
            <a:r>
              <a:rPr lang="en" sz="1200">
                <a:solidFill>
                  <a:schemeClr val="dk1"/>
                </a:solidFill>
                <a:latin typeface="Open Sans"/>
                <a:ea typeface="Open Sans"/>
                <a:cs typeface="Open Sans"/>
                <a:sym typeface="Open Sans"/>
              </a:rPr>
              <a:t>A unidade básica de comunicação que representa coisas que acontecem durante uma sessão (mensagem do usuário, resposta do agente, uso de ferramenta), formando o histórico da conversa.</a:t>
            </a:r>
            <a:endParaRPr sz="12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2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rPr b="1" lang="en" sz="1200">
                <a:solidFill>
                  <a:schemeClr val="dk1"/>
                </a:solidFill>
                <a:latin typeface="Open Sans"/>
                <a:ea typeface="Open Sans"/>
                <a:cs typeface="Open Sans"/>
                <a:sym typeface="Open Sans"/>
              </a:rPr>
              <a:t>Executor (Runner): </a:t>
            </a:r>
            <a:r>
              <a:rPr lang="en" sz="1200">
                <a:solidFill>
                  <a:schemeClr val="dk1"/>
                </a:solidFill>
                <a:latin typeface="Open Sans"/>
                <a:ea typeface="Open Sans"/>
                <a:cs typeface="Open Sans"/>
                <a:sym typeface="Open Sans"/>
              </a:rPr>
              <a:t>O motor que gerencia o fluxo de execução, orquestra as interações do agente com base em Eventos e coordena com os serviços de backend.</a:t>
            </a:r>
            <a:endParaRPr sz="1200">
              <a:solidFill>
                <a:schemeClr val="dk1"/>
              </a:solidFill>
              <a:latin typeface="Open Sans"/>
              <a:ea typeface="Open Sans"/>
              <a:cs typeface="Open Sans"/>
              <a:sym typeface="Open Sans"/>
            </a:endParaRPr>
          </a:p>
        </p:txBody>
      </p:sp>
      <p:sp>
        <p:nvSpPr>
          <p:cNvPr id="311" name="Google Shape;311;p3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12" name="Google Shape;312;p3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13" name="Google Shape;313;p3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14" name="Google Shape;314;p3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15" name="Google Shape;315;p3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16" name="Google Shape;316;p3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17" name="Google Shape;317;p39"/>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0"/>
          <p:cNvSpPr txBox="1"/>
          <p:nvPr/>
        </p:nvSpPr>
        <p:spPr>
          <a:xfrm>
            <a:off x="279450" y="798275"/>
            <a:ext cx="7147200" cy="58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Caso de uso real - Despachante Virtual</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300">
              <a:solidFill>
                <a:schemeClr val="dk1"/>
              </a:solidFill>
              <a:latin typeface="Open Sans"/>
              <a:ea typeface="Open Sans"/>
              <a:cs typeface="Open Sans"/>
              <a:sym typeface="Open Sans"/>
            </a:endParaRPr>
          </a:p>
        </p:txBody>
      </p:sp>
      <p:sp>
        <p:nvSpPr>
          <p:cNvPr id="323" name="Google Shape;323;p4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24" name="Google Shape;324;p4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25" name="Google Shape;325;p4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26" name="Google Shape;326;p4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27" name="Google Shape;327;p4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28" name="Google Shape;328;p4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29" name="Google Shape;329;p40"/>
          <p:cNvPicPr preferRelativeResize="0"/>
          <p:nvPr/>
        </p:nvPicPr>
        <p:blipFill>
          <a:blip r:embed="rId5">
            <a:alphaModFix/>
          </a:blip>
          <a:stretch>
            <a:fillRect/>
          </a:stretch>
        </p:blipFill>
        <p:spPr>
          <a:xfrm>
            <a:off x="5872099" y="90475"/>
            <a:ext cx="626001" cy="626001"/>
          </a:xfrm>
          <a:prstGeom prst="rect">
            <a:avLst/>
          </a:prstGeom>
          <a:noFill/>
          <a:ln>
            <a:noFill/>
          </a:ln>
        </p:spPr>
      </p:pic>
      <p:pic>
        <p:nvPicPr>
          <p:cNvPr id="330" name="Google Shape;330;p40"/>
          <p:cNvPicPr preferRelativeResize="0"/>
          <p:nvPr/>
        </p:nvPicPr>
        <p:blipFill>
          <a:blip r:embed="rId6">
            <a:alphaModFix/>
          </a:blip>
          <a:stretch>
            <a:fillRect/>
          </a:stretch>
        </p:blipFill>
        <p:spPr>
          <a:xfrm>
            <a:off x="404600" y="1538675"/>
            <a:ext cx="5467499" cy="2807365"/>
          </a:xfrm>
          <a:prstGeom prst="rect">
            <a:avLst/>
          </a:prstGeom>
          <a:noFill/>
          <a:ln>
            <a:noFill/>
          </a:ln>
        </p:spPr>
      </p:pic>
      <p:pic>
        <p:nvPicPr>
          <p:cNvPr id="331" name="Google Shape;331;p40"/>
          <p:cNvPicPr preferRelativeResize="0"/>
          <p:nvPr/>
        </p:nvPicPr>
        <p:blipFill>
          <a:blip r:embed="rId7">
            <a:alphaModFix/>
          </a:blip>
          <a:stretch>
            <a:fillRect/>
          </a:stretch>
        </p:blipFill>
        <p:spPr>
          <a:xfrm>
            <a:off x="6024499" y="1826635"/>
            <a:ext cx="1730214" cy="27495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1"/>
          <p:cNvSpPr txBox="1"/>
          <p:nvPr/>
        </p:nvSpPr>
        <p:spPr>
          <a:xfrm>
            <a:off x="279450" y="798275"/>
            <a:ext cx="7147200" cy="58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Caso de uso real - Despachante Virtual</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300">
              <a:solidFill>
                <a:schemeClr val="dk1"/>
              </a:solidFill>
              <a:latin typeface="Open Sans"/>
              <a:ea typeface="Open Sans"/>
              <a:cs typeface="Open Sans"/>
              <a:sym typeface="Open Sans"/>
            </a:endParaRPr>
          </a:p>
        </p:txBody>
      </p:sp>
      <p:sp>
        <p:nvSpPr>
          <p:cNvPr id="337" name="Google Shape;337;p4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38" name="Google Shape;338;p4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39" name="Google Shape;339;p4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40" name="Google Shape;340;p4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41" name="Google Shape;341;p4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42" name="Google Shape;342;p4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43" name="Google Shape;343;p41"/>
          <p:cNvPicPr preferRelativeResize="0"/>
          <p:nvPr/>
        </p:nvPicPr>
        <p:blipFill>
          <a:blip r:embed="rId5">
            <a:alphaModFix/>
          </a:blip>
          <a:stretch>
            <a:fillRect/>
          </a:stretch>
        </p:blipFill>
        <p:spPr>
          <a:xfrm>
            <a:off x="5872099" y="90475"/>
            <a:ext cx="626001" cy="626001"/>
          </a:xfrm>
          <a:prstGeom prst="rect">
            <a:avLst/>
          </a:prstGeom>
          <a:noFill/>
          <a:ln>
            <a:noFill/>
          </a:ln>
        </p:spPr>
      </p:pic>
      <p:pic>
        <p:nvPicPr>
          <p:cNvPr id="344" name="Google Shape;344;p41"/>
          <p:cNvPicPr preferRelativeResize="0"/>
          <p:nvPr/>
        </p:nvPicPr>
        <p:blipFill>
          <a:blip r:embed="rId6">
            <a:alphaModFix/>
          </a:blip>
          <a:stretch>
            <a:fillRect/>
          </a:stretch>
        </p:blipFill>
        <p:spPr>
          <a:xfrm>
            <a:off x="279447" y="1156322"/>
            <a:ext cx="7976551" cy="3474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nvSpPr>
        <p:spPr>
          <a:xfrm>
            <a:off x="279450" y="798275"/>
            <a:ext cx="7147200" cy="58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Caso de uso real - Despachante Virtual</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300">
              <a:solidFill>
                <a:schemeClr val="dk1"/>
              </a:solidFill>
              <a:latin typeface="Open Sans"/>
              <a:ea typeface="Open Sans"/>
              <a:cs typeface="Open Sans"/>
              <a:sym typeface="Open Sans"/>
            </a:endParaRPr>
          </a:p>
        </p:txBody>
      </p:sp>
      <p:sp>
        <p:nvSpPr>
          <p:cNvPr id="350" name="Google Shape;350;p4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51" name="Google Shape;351;p4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52" name="Google Shape;352;p4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53" name="Google Shape;353;p4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54" name="Google Shape;354;p4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55" name="Google Shape;355;p4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56" name="Google Shape;356;p42"/>
          <p:cNvPicPr preferRelativeResize="0"/>
          <p:nvPr/>
        </p:nvPicPr>
        <p:blipFill>
          <a:blip r:embed="rId5">
            <a:alphaModFix/>
          </a:blip>
          <a:stretch>
            <a:fillRect/>
          </a:stretch>
        </p:blipFill>
        <p:spPr>
          <a:xfrm>
            <a:off x="5872099" y="90475"/>
            <a:ext cx="626001" cy="626001"/>
          </a:xfrm>
          <a:prstGeom prst="rect">
            <a:avLst/>
          </a:prstGeom>
          <a:noFill/>
          <a:ln>
            <a:noFill/>
          </a:ln>
        </p:spPr>
      </p:pic>
      <p:pic>
        <p:nvPicPr>
          <p:cNvPr id="357" name="Google Shape;357;p42"/>
          <p:cNvPicPr preferRelativeResize="0"/>
          <p:nvPr/>
        </p:nvPicPr>
        <p:blipFill>
          <a:blip r:embed="rId6">
            <a:alphaModFix/>
          </a:blip>
          <a:stretch>
            <a:fillRect/>
          </a:stretch>
        </p:blipFill>
        <p:spPr>
          <a:xfrm>
            <a:off x="279450" y="1232659"/>
            <a:ext cx="8839200" cy="10197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3"/>
          <p:cNvSpPr txBox="1"/>
          <p:nvPr/>
        </p:nvSpPr>
        <p:spPr>
          <a:xfrm>
            <a:off x="279450" y="798275"/>
            <a:ext cx="7147200" cy="58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Caso de uso real - Despachante Virtual</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300">
              <a:solidFill>
                <a:schemeClr val="dk1"/>
              </a:solidFill>
              <a:latin typeface="Open Sans"/>
              <a:ea typeface="Open Sans"/>
              <a:cs typeface="Open Sans"/>
              <a:sym typeface="Open Sans"/>
            </a:endParaRPr>
          </a:p>
        </p:txBody>
      </p:sp>
      <p:sp>
        <p:nvSpPr>
          <p:cNvPr id="363" name="Google Shape;363;p4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64" name="Google Shape;364;p4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65" name="Google Shape;365;p4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66" name="Google Shape;366;p4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67" name="Google Shape;367;p4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68" name="Google Shape;368;p4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69" name="Google Shape;369;p43"/>
          <p:cNvPicPr preferRelativeResize="0"/>
          <p:nvPr/>
        </p:nvPicPr>
        <p:blipFill>
          <a:blip r:embed="rId5">
            <a:alphaModFix/>
          </a:blip>
          <a:stretch>
            <a:fillRect/>
          </a:stretch>
        </p:blipFill>
        <p:spPr>
          <a:xfrm>
            <a:off x="5872099" y="90475"/>
            <a:ext cx="626001" cy="626001"/>
          </a:xfrm>
          <a:prstGeom prst="rect">
            <a:avLst/>
          </a:prstGeom>
          <a:noFill/>
          <a:ln>
            <a:noFill/>
          </a:ln>
        </p:spPr>
      </p:pic>
      <p:pic>
        <p:nvPicPr>
          <p:cNvPr id="370" name="Google Shape;370;p43"/>
          <p:cNvPicPr preferRelativeResize="0"/>
          <p:nvPr/>
        </p:nvPicPr>
        <p:blipFill>
          <a:blip r:embed="rId6">
            <a:alphaModFix/>
          </a:blip>
          <a:stretch>
            <a:fillRect/>
          </a:stretch>
        </p:blipFill>
        <p:spPr>
          <a:xfrm>
            <a:off x="1521587" y="1240650"/>
            <a:ext cx="4350505" cy="3113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4"/>
          <p:cNvSpPr txBox="1"/>
          <p:nvPr/>
        </p:nvSpPr>
        <p:spPr>
          <a:xfrm>
            <a:off x="279450" y="798275"/>
            <a:ext cx="7147200" cy="58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Caso de uso real - Despachante Virtual</a:t>
            </a:r>
            <a:endParaRPr sz="13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300">
              <a:solidFill>
                <a:schemeClr val="dk1"/>
              </a:solidFill>
              <a:latin typeface="Open Sans"/>
              <a:ea typeface="Open Sans"/>
              <a:cs typeface="Open Sans"/>
              <a:sym typeface="Open Sans"/>
            </a:endParaRPr>
          </a:p>
        </p:txBody>
      </p:sp>
      <p:sp>
        <p:nvSpPr>
          <p:cNvPr id="376" name="Google Shape;376;p4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77" name="Google Shape;377;p4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78" name="Google Shape;378;p4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79" name="Google Shape;379;p4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80" name="Google Shape;380;p4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81" name="Google Shape;381;p4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82" name="Google Shape;382;p44"/>
          <p:cNvPicPr preferRelativeResize="0"/>
          <p:nvPr/>
        </p:nvPicPr>
        <p:blipFill>
          <a:blip r:embed="rId5">
            <a:alphaModFix/>
          </a:blip>
          <a:stretch>
            <a:fillRect/>
          </a:stretch>
        </p:blipFill>
        <p:spPr>
          <a:xfrm>
            <a:off x="5872099" y="90475"/>
            <a:ext cx="626001" cy="626001"/>
          </a:xfrm>
          <a:prstGeom prst="rect">
            <a:avLst/>
          </a:prstGeom>
          <a:noFill/>
          <a:ln>
            <a:noFill/>
          </a:ln>
        </p:spPr>
      </p:pic>
      <p:pic>
        <p:nvPicPr>
          <p:cNvPr id="383" name="Google Shape;383;p44"/>
          <p:cNvPicPr preferRelativeResize="0"/>
          <p:nvPr/>
        </p:nvPicPr>
        <p:blipFill>
          <a:blip r:embed="rId6">
            <a:alphaModFix/>
          </a:blip>
          <a:stretch>
            <a:fillRect/>
          </a:stretch>
        </p:blipFill>
        <p:spPr>
          <a:xfrm>
            <a:off x="1517912" y="1259850"/>
            <a:ext cx="4444840" cy="338070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5"/>
          <p:cNvSpPr txBox="1"/>
          <p:nvPr/>
        </p:nvSpPr>
        <p:spPr>
          <a:xfrm>
            <a:off x="279450" y="798275"/>
            <a:ext cx="7147200" cy="1708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Demonstração do ADK</a:t>
            </a:r>
            <a:br>
              <a:rPr b="1" lang="en" sz="1800">
                <a:solidFill>
                  <a:schemeClr val="dk2"/>
                </a:solidFill>
                <a:latin typeface="Open Sans"/>
                <a:ea typeface="Open Sans"/>
                <a:cs typeface="Open Sans"/>
                <a:sym typeface="Open Sans"/>
              </a:rPr>
            </a:br>
            <a:br>
              <a:rPr b="1" lang="en" sz="1800">
                <a:solidFill>
                  <a:schemeClr val="dk2"/>
                </a:solidFill>
                <a:latin typeface="Open Sans"/>
                <a:ea typeface="Open Sans"/>
                <a:cs typeface="Open Sans"/>
                <a:sym typeface="Open Sans"/>
              </a:rPr>
            </a:br>
            <a:br>
              <a:rPr b="1" lang="en" sz="1800">
                <a:solidFill>
                  <a:schemeClr val="dk2"/>
                </a:solidFill>
                <a:latin typeface="Open Sans"/>
                <a:ea typeface="Open Sans"/>
                <a:cs typeface="Open Sans"/>
                <a:sym typeface="Open Sans"/>
              </a:rPr>
            </a:br>
            <a:r>
              <a:rPr b="1" lang="en" sz="1600">
                <a:solidFill>
                  <a:schemeClr val="dk1"/>
                </a:solidFill>
                <a:latin typeface="Open Sans"/>
                <a:ea typeface="Open Sans"/>
                <a:cs typeface="Open Sans"/>
                <a:sym typeface="Open Sans"/>
              </a:rPr>
              <a:t>ADK no ambiente do Google Collab</a:t>
            </a:r>
            <a:endParaRPr sz="1100">
              <a:solidFill>
                <a:schemeClr val="dk1"/>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sz="1300">
              <a:solidFill>
                <a:schemeClr val="dk1"/>
              </a:solidFill>
              <a:latin typeface="Open Sans"/>
              <a:ea typeface="Open Sans"/>
              <a:cs typeface="Open Sans"/>
              <a:sym typeface="Open Sans"/>
            </a:endParaRPr>
          </a:p>
        </p:txBody>
      </p:sp>
      <p:sp>
        <p:nvSpPr>
          <p:cNvPr id="389" name="Google Shape;389;p4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90" name="Google Shape;390;p4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91" name="Google Shape;391;p4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92" name="Google Shape;392;p4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93" name="Google Shape;393;p4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94" name="Google Shape;394;p4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395" name="Google Shape;395;p45"/>
          <p:cNvPicPr preferRelativeResize="0"/>
          <p:nvPr/>
        </p:nvPicPr>
        <p:blipFill>
          <a:blip r:embed="rId5">
            <a:alphaModFix/>
          </a:blip>
          <a:stretch>
            <a:fillRect/>
          </a:stretch>
        </p:blipFill>
        <p:spPr>
          <a:xfrm>
            <a:off x="5872099" y="90475"/>
            <a:ext cx="626001" cy="6260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6"/>
          <p:cNvSpPr/>
          <p:nvPr/>
        </p:nvSpPr>
        <p:spPr>
          <a:xfrm>
            <a:off x="7164451" y="1158587"/>
            <a:ext cx="3664872" cy="317379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401" name="Google Shape;401;p46"/>
          <p:cNvSpPr/>
          <p:nvPr/>
        </p:nvSpPr>
        <p:spPr>
          <a:xfrm>
            <a:off x="6061472" y="3517563"/>
            <a:ext cx="2488494" cy="215504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02" name="Google Shape;402;p46"/>
          <p:cNvSpPr/>
          <p:nvPr/>
        </p:nvSpPr>
        <p:spPr>
          <a:xfrm>
            <a:off x="6168171" y="2977421"/>
            <a:ext cx="1140183" cy="987403"/>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03" name="Google Shape;403;p46"/>
          <p:cNvSpPr/>
          <p:nvPr/>
        </p:nvSpPr>
        <p:spPr>
          <a:xfrm>
            <a:off x="6868885" y="186802"/>
            <a:ext cx="1900304" cy="164567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04" name="Google Shape;404;p46"/>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05" name="Google Shape;405;p46"/>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406" name="Google Shape;406;p46"/>
          <p:cNvGrpSpPr/>
          <p:nvPr/>
        </p:nvGrpSpPr>
        <p:grpSpPr>
          <a:xfrm>
            <a:off x="514350" y="869375"/>
            <a:ext cx="9446063" cy="3570704"/>
            <a:chOff x="0" y="-3216137"/>
            <a:chExt cx="25189500" cy="9521877"/>
          </a:xfrm>
        </p:grpSpPr>
        <p:sp>
          <p:nvSpPr>
            <p:cNvPr id="407" name="Google Shape;407;p46"/>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Agradecemos!</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408" name="Google Shape;408;p46"/>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3 de Novembro de 2025</a:t>
              </a:r>
              <a:endParaRPr sz="700"/>
            </a:p>
          </p:txBody>
        </p:sp>
      </p:grpSp>
      <p:sp>
        <p:nvSpPr>
          <p:cNvPr id="409" name="Google Shape;409;p46"/>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410" name="Google Shape;410;p46"/>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