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y="5143500" cx="9144000"/>
  <p:notesSz cx="6858000" cy="9144000"/>
  <p:embeddedFontLst>
    <p:embeddedFont>
      <p:font typeface="Fira Sans"/>
      <p:regular r:id="rId47"/>
      <p:bold r:id="rId48"/>
      <p:italic r:id="rId49"/>
      <p:boldItalic r:id="rId50"/>
    </p:embeddedFont>
    <p:embeddedFont>
      <p:font typeface="Fira Sans Light"/>
      <p:regular r:id="rId51"/>
      <p:bold r:id="rId52"/>
      <p:italic r:id="rId53"/>
      <p:boldItalic r:id="rId54"/>
    </p:embeddedFont>
    <p:embeddedFont>
      <p:font typeface="Open Sans"/>
      <p:bold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B503CE-ACA1-4B57-948A-1F9154124A7F}">
  <a:tblStyle styleId="{ECB503CE-ACA1-4B57-948A-1F9154124A7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FiraSans-bold.fntdata"/><Relationship Id="rId47" Type="http://schemas.openxmlformats.org/officeDocument/2006/relationships/font" Target="fonts/FiraSans-regular.fntdata"/><Relationship Id="rId49" Type="http://schemas.openxmlformats.org/officeDocument/2006/relationships/font" Target="fonts/FiraSans-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FiraSansLight-regular.fntdata"/><Relationship Id="rId50" Type="http://schemas.openxmlformats.org/officeDocument/2006/relationships/font" Target="fonts/FiraSans-boldItalic.fntdata"/><Relationship Id="rId53" Type="http://schemas.openxmlformats.org/officeDocument/2006/relationships/font" Target="fonts/FiraSansLight-italic.fntdata"/><Relationship Id="rId52" Type="http://schemas.openxmlformats.org/officeDocument/2006/relationships/font" Target="fonts/FiraSansLight-bold.fntdata"/><Relationship Id="rId11" Type="http://schemas.openxmlformats.org/officeDocument/2006/relationships/slide" Target="slides/slide4.xml"/><Relationship Id="rId55" Type="http://schemas.openxmlformats.org/officeDocument/2006/relationships/font" Target="fonts/OpenSans-bold.fntdata"/><Relationship Id="rId10" Type="http://schemas.openxmlformats.org/officeDocument/2006/relationships/slide" Target="slides/slide3.xml"/><Relationship Id="rId54" Type="http://schemas.openxmlformats.org/officeDocument/2006/relationships/font" Target="fonts/FiraSansLight-boldItalic.fntdata"/><Relationship Id="rId13" Type="http://schemas.openxmlformats.org/officeDocument/2006/relationships/slide" Target="slides/slide6.xml"/><Relationship Id="rId12" Type="http://schemas.openxmlformats.org/officeDocument/2006/relationships/slide" Target="slides/slide5.xml"/><Relationship Id="rId56" Type="http://schemas.openxmlformats.org/officeDocument/2006/relationships/font" Target="fonts/OpenSans-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e7375ce789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2e7375ce789_1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1207e8e7dd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21207e8e7dd_2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6fe6330a7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6fe6330a7c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6fe6330a7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6fe6330a7c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6fe6330a7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6fe6330a7c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6fe6330a7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6fe6330a7c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6fe6330a7c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6fe6330a7c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6fe6330a7c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36fe6330a7c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6fe6330a7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6fe6330a7c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6fe6330a7c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36fe6330a7c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6fe6330a7c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6fe6330a7c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6fe6330a7c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36fe6330a7c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6fe6330a7c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g36fe6330a7c_0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6fe6330a7c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6fe6330a7c_0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6fe6330a7c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36fe6330a7c_0_1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6fe6330a7c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g36fe6330a7c_0_1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6fe6330a7c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36fe6330a7c_0_2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6fe6330a7c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g36fe6330a7c_0_2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6fe6330a7c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g36fe6330a7c_0_2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6fe6330a7c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36fe6330a7c_0_2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6fe6330a7c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g36fe6330a7c_0_2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6fe6330a7c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g36fe6330a7c_0_2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6fe6330a7c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g36fe6330a7c_0_3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6fe6330a7c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g36fe6330a7c_0_3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6fe6330a7c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g36fe6330a7c_0_3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6fe6330a7c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g36fe6330a7c_0_3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6fe6330a7c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g36fe6330a7c_0_3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6fe6330a7c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g36fe6330a7c_0_3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6fe6330a7c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36fe6330a7c_0_3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6fe6330a7c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g36fe6330a7c_0_4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6fe6330a7c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36fe6330a7c_0_4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6fe6330a7c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g36fe6330a7c_0_4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6fe6330a7c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g36fe6330a7c_0_4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6fe6330a7c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g36fe6330a7c_0_4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6fe6330a7c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g36fe6330a7c_0_4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6fe6330a7c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g36fe6330a7c_0_4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6fe6330a7c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g36fe6330a7c_0_4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6fe6330a7c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36fe6330a7c_0_4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9fa0927945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g39fa0927945_0_2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2.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2.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2.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2.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2.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7164451" y="1158586"/>
            <a:ext cx="3660516" cy="317002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696"/>
          </a:solidFill>
          <a:ln>
            <a:noFill/>
          </a:ln>
        </p:spPr>
      </p:sp>
      <p:sp>
        <p:nvSpPr>
          <p:cNvPr id="130" name="Google Shape;130;p25"/>
          <p:cNvSpPr/>
          <p:nvPr/>
        </p:nvSpPr>
        <p:spPr>
          <a:xfrm>
            <a:off x="6061472" y="3517563"/>
            <a:ext cx="2485077" cy="2152089"/>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31" name="Google Shape;131;p25"/>
          <p:cNvSpPr/>
          <p:nvPr/>
        </p:nvSpPr>
        <p:spPr>
          <a:xfrm>
            <a:off x="6168171" y="2977421"/>
            <a:ext cx="1135839" cy="983642"/>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32" name="Google Shape;132;p25"/>
          <p:cNvSpPr/>
          <p:nvPr/>
        </p:nvSpPr>
        <p:spPr>
          <a:xfrm>
            <a:off x="6868885" y="186802"/>
            <a:ext cx="1899810" cy="1645244"/>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33" name="Google Shape;133;p25"/>
          <p:cNvSpPr/>
          <p:nvPr/>
        </p:nvSpPr>
        <p:spPr>
          <a:xfrm>
            <a:off x="514350" y="369051"/>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34" name="Google Shape;134;p25"/>
          <p:cNvSpPr/>
          <p:nvPr/>
        </p:nvSpPr>
        <p:spPr>
          <a:xfrm>
            <a:off x="184424" y="4593608"/>
            <a:ext cx="1342176" cy="411675"/>
          </a:xfrm>
          <a:custGeom>
            <a:rect b="b" l="l" r="r" t="t"/>
            <a:pathLst>
              <a:path extrusionOk="0" h="823351" w="2684351">
                <a:moveTo>
                  <a:pt x="0" y="0"/>
                </a:moveTo>
                <a:lnTo>
                  <a:pt x="2684350" y="0"/>
                </a:lnTo>
                <a:lnTo>
                  <a:pt x="2684350" y="823351"/>
                </a:lnTo>
                <a:lnTo>
                  <a:pt x="0" y="823351"/>
                </a:lnTo>
                <a:lnTo>
                  <a:pt x="0" y="0"/>
                </a:lnTo>
                <a:close/>
              </a:path>
            </a:pathLst>
          </a:custGeom>
          <a:blipFill rotWithShape="1">
            <a:blip r:embed="rId4">
              <a:alphaModFix/>
            </a:blip>
            <a:stretch>
              <a:fillRect b="0" l="0" r="0" t="0"/>
            </a:stretch>
          </a:blipFill>
          <a:ln>
            <a:noFill/>
          </a:ln>
        </p:spPr>
      </p:sp>
      <p:grpSp>
        <p:nvGrpSpPr>
          <p:cNvPr id="135" name="Google Shape;135;p25"/>
          <p:cNvGrpSpPr/>
          <p:nvPr/>
        </p:nvGrpSpPr>
        <p:grpSpPr>
          <a:xfrm>
            <a:off x="514350" y="869375"/>
            <a:ext cx="9446063" cy="3570704"/>
            <a:chOff x="0" y="-3216137"/>
            <a:chExt cx="25189500" cy="9521877"/>
          </a:xfrm>
        </p:grpSpPr>
        <p:sp>
          <p:nvSpPr>
            <p:cNvPr id="136" name="Google Shape;136;p25"/>
            <p:cNvSpPr txBox="1"/>
            <p:nvPr/>
          </p:nvSpPr>
          <p:spPr>
            <a:xfrm>
              <a:off x="0" y="-3216137"/>
              <a:ext cx="25189500" cy="4827000"/>
            </a:xfrm>
            <a:prstGeom prst="rect">
              <a:avLst/>
            </a:prstGeom>
            <a:noFill/>
            <a:ln>
              <a:noFill/>
            </a:ln>
          </p:spPr>
          <p:txBody>
            <a:bodyPr anchorCtr="0" anchor="t" bIns="0" lIns="0" spcFirstLastPara="1" rIns="0" wrap="square" tIns="0">
              <a:spAutoFit/>
            </a:bodyPr>
            <a:lstStyle/>
            <a:p>
              <a:pPr indent="0" lvl="0" marL="0" marR="0" rtl="0" algn="l">
                <a:lnSpc>
                  <a:spcPct val="120001"/>
                </a:lnSpc>
                <a:spcBef>
                  <a:spcPts val="0"/>
                </a:spcBef>
                <a:spcAft>
                  <a:spcPts val="0"/>
                </a:spcAft>
                <a:buNone/>
              </a:pPr>
              <a:r>
                <a:rPr b="1" lang="en" sz="4800">
                  <a:latin typeface="Fira Sans"/>
                  <a:ea typeface="Fira Sans"/>
                  <a:cs typeface="Fira Sans"/>
                  <a:sym typeface="Fira Sans"/>
                </a:rPr>
                <a:t>Repasse conhecimento</a:t>
              </a:r>
              <a:endParaRPr b="1" sz="4800">
                <a:latin typeface="Fira Sans"/>
                <a:ea typeface="Fira Sans"/>
                <a:cs typeface="Fira Sans"/>
                <a:sym typeface="Fira Sans"/>
              </a:endParaRPr>
            </a:p>
            <a:p>
              <a:pPr indent="0" lvl="0" marL="0" marR="0" rtl="0" algn="l">
                <a:lnSpc>
                  <a:spcPct val="120001"/>
                </a:lnSpc>
                <a:spcBef>
                  <a:spcPts val="0"/>
                </a:spcBef>
                <a:spcAft>
                  <a:spcPts val="0"/>
                </a:spcAft>
                <a:buNone/>
              </a:pPr>
              <a:r>
                <a:t/>
              </a:r>
              <a:endParaRPr b="1" sz="6000">
                <a:latin typeface="Fira Sans"/>
                <a:ea typeface="Fira Sans"/>
                <a:cs typeface="Fira Sans"/>
                <a:sym typeface="Fira Sans"/>
              </a:endParaRPr>
            </a:p>
          </p:txBody>
        </p:sp>
        <p:sp>
          <p:nvSpPr>
            <p:cNvPr id="137" name="Google Shape;137;p25"/>
            <p:cNvSpPr txBox="1"/>
            <p:nvPr/>
          </p:nvSpPr>
          <p:spPr>
            <a:xfrm>
              <a:off x="0" y="5566839"/>
              <a:ext cx="13603500" cy="738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lang="en" sz="1800">
                  <a:latin typeface="Fira Sans Light"/>
                  <a:ea typeface="Fira Sans Light"/>
                  <a:cs typeface="Fira Sans Light"/>
                  <a:sym typeface="Fira Sans Light"/>
                </a:rPr>
                <a:t>7 de Novembro de 2025</a:t>
              </a:r>
              <a:endParaRPr sz="700"/>
            </a:p>
          </p:txBody>
        </p:sp>
      </p:grpSp>
      <p:sp>
        <p:nvSpPr>
          <p:cNvPr id="138" name="Google Shape;138;p25"/>
          <p:cNvSpPr txBox="1"/>
          <p:nvPr/>
        </p:nvSpPr>
        <p:spPr>
          <a:xfrm>
            <a:off x="3056925" y="4804800"/>
            <a:ext cx="3432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139" name="Google Shape;139;p25"/>
          <p:cNvSpPr txBox="1"/>
          <p:nvPr/>
        </p:nvSpPr>
        <p:spPr>
          <a:xfrm>
            <a:off x="514350" y="1878400"/>
            <a:ext cx="3432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Calibri"/>
                <a:ea typeface="Calibri"/>
                <a:cs typeface="Calibri"/>
                <a:sym typeface="Calibri"/>
              </a:rPr>
              <a:t>5º Encontro: Engenharia de Prompts</a:t>
            </a:r>
            <a:endParaRPr sz="17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45" name="Google Shape;145;p26"/>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46" name="Google Shape;146;p26"/>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47" name="Google Shape;147;p26"/>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48" name="Google Shape;148;p26"/>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49" name="Google Shape;149;p26"/>
          <p:cNvSpPr txBox="1"/>
          <p:nvPr/>
        </p:nvSpPr>
        <p:spPr>
          <a:xfrm>
            <a:off x="286075" y="1295113"/>
            <a:ext cx="6667500" cy="1588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Sumário:</a:t>
            </a:r>
            <a:endParaRPr b="1" sz="1800">
              <a:solidFill>
                <a:schemeClr val="dk2"/>
              </a:solidFill>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O que é </a:t>
            </a:r>
            <a:r>
              <a:rPr lang="en" sz="1500">
                <a:solidFill>
                  <a:schemeClr val="dk1"/>
                </a:solidFill>
                <a:latin typeface="Open Sans"/>
                <a:ea typeface="Open Sans"/>
                <a:cs typeface="Open Sans"/>
                <a:sym typeface="Open Sans"/>
              </a:rPr>
              <a:t>Engenharia de prompts</a:t>
            </a:r>
            <a:r>
              <a:rPr lang="en" sz="1500">
                <a:latin typeface="Open Sans"/>
                <a:ea typeface="Open Sans"/>
                <a:cs typeface="Open Sans"/>
                <a:sym typeface="Open Sans"/>
              </a:rPr>
              <a:t>?</a:t>
            </a:r>
            <a:endParaRPr sz="1500">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Conteúdo dos Prompts</a:t>
            </a:r>
            <a:endParaRPr sz="1500">
              <a:latin typeface="Open Sans"/>
              <a:ea typeface="Open Sans"/>
              <a:cs typeface="Open Sans"/>
              <a:sym typeface="Open Sans"/>
            </a:endParaRPr>
          </a:p>
          <a:p>
            <a:pPr indent="-323850" lvl="0" marL="457200" rtl="0" algn="l">
              <a:lnSpc>
                <a:spcPct val="139984"/>
              </a:lnSpc>
              <a:spcBef>
                <a:spcPts val="0"/>
              </a:spcBef>
              <a:spcAft>
                <a:spcPts val="0"/>
              </a:spcAft>
              <a:buSzPts val="1500"/>
              <a:buFont typeface="Open Sans"/>
              <a:buAutoNum type="arabicParenR"/>
            </a:pPr>
            <a:r>
              <a:rPr lang="en" sz="1500">
                <a:solidFill>
                  <a:schemeClr val="dk1"/>
                </a:solidFill>
                <a:latin typeface="Open Sans"/>
                <a:ea typeface="Open Sans"/>
                <a:cs typeface="Open Sans"/>
                <a:sym typeface="Open Sans"/>
              </a:rPr>
              <a:t>Estratégias para criação do Prompt</a:t>
            </a:r>
            <a:endParaRPr sz="1500">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Checklist de saúde do prompt</a:t>
            </a:r>
            <a:endParaRPr sz="1500">
              <a:latin typeface="Open Sans"/>
              <a:ea typeface="Open Sans"/>
              <a:cs typeface="Open Sans"/>
              <a:sym typeface="Open Sans"/>
            </a:endParaRPr>
          </a:p>
        </p:txBody>
      </p:sp>
      <p:sp>
        <p:nvSpPr>
          <p:cNvPr id="150" name="Google Shape;150;p26"/>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nvSpPr>
        <p:spPr>
          <a:xfrm>
            <a:off x="279450" y="798275"/>
            <a:ext cx="7147200" cy="4063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Engenharia de prompts e Design de Prompt:</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A </a:t>
            </a:r>
            <a:r>
              <a:rPr b="1" lang="en" sz="1200">
                <a:latin typeface="Open Sans"/>
                <a:ea typeface="Open Sans"/>
                <a:cs typeface="Open Sans"/>
                <a:sym typeface="Open Sans"/>
              </a:rPr>
              <a:t>Engenharia de Prompt</a:t>
            </a:r>
            <a:r>
              <a:rPr lang="en" sz="1200">
                <a:latin typeface="Open Sans"/>
                <a:ea typeface="Open Sans"/>
                <a:cs typeface="Open Sans"/>
                <a:sym typeface="Open Sans"/>
              </a:rPr>
              <a:t> é a arte e a ciência de criar e otimizar "prompts" para guiar modelos de Inteligência Artificial, especialmente os Modelos de Linguagem (LLMs), a gerar as </a:t>
            </a:r>
            <a:r>
              <a:rPr b="1" lang="en" sz="1200">
                <a:latin typeface="Open Sans"/>
                <a:ea typeface="Open Sans"/>
                <a:cs typeface="Open Sans"/>
                <a:sym typeface="Open Sans"/>
              </a:rPr>
              <a:t>respostas desejadas</a:t>
            </a:r>
            <a:r>
              <a:rPr lang="en" sz="1200">
                <a:latin typeface="Open Sans"/>
                <a:ea typeface="Open Sans"/>
                <a:cs typeface="Open Sans"/>
                <a:sym typeface="Open Sans"/>
              </a:rPr>
              <a:t>. Ao elaborar cuidadosamente esses prompts, você fornece ao modelo o contexto, as instruções e os exemplos necessários para que ele entenda sua intenção e responda de maneira relevante. Pense nisso como fornecer um mapa para a IA, direcionando-a para o resultado específico que você tem em mente.</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Design de Prompt</a:t>
            </a:r>
            <a:r>
              <a:rPr lang="en" sz="1200">
                <a:latin typeface="Open Sans"/>
                <a:ea typeface="Open Sans"/>
                <a:cs typeface="Open Sans"/>
                <a:sym typeface="Open Sans"/>
              </a:rPr>
              <a:t> é o processo de criação de comandos (prompts) que geram a resposta desejada de modelos de linguagem. A elaboração de prompts bem estruturados é uma parte essencial para garantir </a:t>
            </a:r>
            <a:r>
              <a:rPr b="1" lang="en" sz="1200">
                <a:latin typeface="Open Sans"/>
                <a:ea typeface="Open Sans"/>
                <a:cs typeface="Open Sans"/>
                <a:sym typeface="Open Sans"/>
              </a:rPr>
              <a:t>respostas precisas e de alta qualidade</a:t>
            </a:r>
            <a:r>
              <a:rPr lang="en" sz="1200">
                <a:latin typeface="Open Sans"/>
                <a:ea typeface="Open Sans"/>
                <a:cs typeface="Open Sans"/>
                <a:sym typeface="Open Sans"/>
              </a:rPr>
              <a:t> de um modelo de linguagem. O processo iterativo de atualizar repetidamente os prompts e avaliar as respostas do modelo é por vezes chamado de Engenharia de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156" name="Google Shape;156;p27"/>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57" name="Google Shape;157;p27"/>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58" name="Google Shape;158;p27"/>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59" name="Google Shape;159;p27"/>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60" name="Google Shape;160;p27"/>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61" name="Google Shape;161;p27"/>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nvSpPr>
        <p:spPr>
          <a:xfrm>
            <a:off x="279450" y="798275"/>
            <a:ext cx="7147200" cy="38046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Por que a necessidade da Engenharia de Prompt?</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No </a:t>
            </a:r>
            <a:r>
              <a:rPr b="1" lang="en" sz="1200">
                <a:latin typeface="Open Sans"/>
                <a:ea typeface="Open Sans"/>
                <a:cs typeface="Open Sans"/>
                <a:sym typeface="Open Sans"/>
              </a:rPr>
              <a:t>contexto de IA</a:t>
            </a:r>
            <a:r>
              <a:rPr lang="en" sz="1200">
                <a:latin typeface="Open Sans"/>
                <a:ea typeface="Open Sans"/>
                <a:cs typeface="Open Sans"/>
                <a:sym typeface="Open Sans"/>
              </a:rPr>
              <a:t>, um prompt é a entrada que você fornece ao modelo para gerar uma </a:t>
            </a:r>
            <a:r>
              <a:rPr b="1" lang="en" sz="1200">
                <a:latin typeface="Open Sans"/>
                <a:ea typeface="Open Sans"/>
                <a:cs typeface="Open Sans"/>
                <a:sym typeface="Open Sans"/>
              </a:rPr>
              <a:t>resposta específica</a:t>
            </a:r>
            <a:r>
              <a:rPr lang="en" sz="1200">
                <a:latin typeface="Open Sans"/>
                <a:ea typeface="Open Sans"/>
                <a:cs typeface="Open Sans"/>
                <a:sym typeface="Open Sans"/>
              </a:rPr>
              <a:t>. Ele pode ter diversas formas, indo desde perguntas simples ou palavras-chave até instruções complexas, trechos de código ou até mesmo exemplos de escrita criativa.</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A eficácia do seu prompt influencia diretamente a </a:t>
            </a:r>
            <a:r>
              <a:rPr b="1" lang="en" sz="1200">
                <a:latin typeface="Open Sans"/>
                <a:ea typeface="Open Sans"/>
                <a:cs typeface="Open Sans"/>
                <a:sym typeface="Open Sans"/>
              </a:rPr>
              <a:t>qualidade e a relevância do resultado da IA</a:t>
            </a:r>
            <a:r>
              <a:rPr lang="en" sz="1200">
                <a:latin typeface="Open Sans"/>
                <a:ea typeface="Open Sans"/>
                <a:cs typeface="Open Sans"/>
                <a:sym typeface="Open Sans"/>
              </a:rPr>
              <a:t>. Vários elementos-chave contribuem para uma engenharia de prompt eficaz. Dominá-los permite que você se </a:t>
            </a:r>
            <a:r>
              <a:rPr b="1" lang="en" sz="1200">
                <a:latin typeface="Open Sans"/>
                <a:ea typeface="Open Sans"/>
                <a:cs typeface="Open Sans"/>
                <a:sym typeface="Open Sans"/>
              </a:rPr>
              <a:t>comunique de forma eficiente</a:t>
            </a:r>
            <a:r>
              <a:rPr lang="en" sz="1200">
                <a:latin typeface="Open Sans"/>
                <a:ea typeface="Open Sans"/>
                <a:cs typeface="Open Sans"/>
                <a:sym typeface="Open Sans"/>
              </a:rPr>
              <a:t> com os modelos de IA e </a:t>
            </a:r>
            <a:r>
              <a:rPr b="1" lang="en" sz="1200">
                <a:latin typeface="Open Sans"/>
                <a:ea typeface="Open Sans"/>
                <a:cs typeface="Open Sans"/>
                <a:sym typeface="Open Sans"/>
              </a:rPr>
              <a:t>desbloqueie todo o seu potencial</a:t>
            </a:r>
            <a:r>
              <a:rPr lang="en" sz="1200">
                <a:latin typeface="Open Sans"/>
                <a:ea typeface="Open Sans"/>
                <a:cs typeface="Open Sans"/>
                <a:sym typeface="Open Sans"/>
              </a:rPr>
              <a:t>.</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Modelos atuais, como </a:t>
            </a:r>
            <a:r>
              <a:rPr b="1" lang="en" sz="1200">
                <a:latin typeface="Open Sans"/>
                <a:ea typeface="Open Sans"/>
                <a:cs typeface="Open Sans"/>
                <a:sym typeface="Open Sans"/>
              </a:rPr>
              <a:t>Gemini</a:t>
            </a:r>
            <a:r>
              <a:rPr lang="en" sz="1200">
                <a:latin typeface="Open Sans"/>
                <a:ea typeface="Open Sans"/>
                <a:cs typeface="Open Sans"/>
                <a:sym typeface="Open Sans"/>
              </a:rPr>
              <a:t> por exemplo, frequentemente apresentam um bom desempenho sem a necessidade de engenharia de prompt, especialmente para tarefas simples. No entanto, para tarefas complexas, uma engenharia de prompt eficaz ainda desempenha um papel importante.</a:t>
            </a:r>
            <a:endParaRPr sz="1200">
              <a:latin typeface="Open Sans"/>
              <a:ea typeface="Open Sans"/>
              <a:cs typeface="Open Sans"/>
              <a:sym typeface="Open Sans"/>
            </a:endParaRPr>
          </a:p>
        </p:txBody>
      </p:sp>
      <p:sp>
        <p:nvSpPr>
          <p:cNvPr id="167" name="Google Shape;167;p28"/>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68" name="Google Shape;168;p28"/>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69" name="Google Shape;169;p28"/>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70" name="Google Shape;170;p28"/>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71" name="Google Shape;171;p28"/>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72" name="Google Shape;172;p28"/>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nvSpPr>
        <p:spPr>
          <a:xfrm>
            <a:off x="279450" y="798275"/>
            <a:ext cx="7147200" cy="30288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Componentes de um Prompt</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Você pode incluir em um prompt qualquer informação que considere </a:t>
            </a:r>
            <a:r>
              <a:rPr b="1" lang="en" sz="1200">
                <a:latin typeface="Open Sans"/>
                <a:ea typeface="Open Sans"/>
                <a:cs typeface="Open Sans"/>
                <a:sym typeface="Open Sans"/>
              </a:rPr>
              <a:t>importante para a tarefa</a:t>
            </a:r>
            <a:r>
              <a:rPr lang="en" sz="1200">
                <a:latin typeface="Open Sans"/>
                <a:ea typeface="Open Sans"/>
                <a:cs typeface="Open Sans"/>
                <a:sym typeface="Open Sans"/>
              </a:rPr>
              <a:t> a ser executada. Geralmente, o conteúdo de um prompt se enquadra em um dos seguintes componentes:</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Tarefa (obrigatório)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Instruções de sistema (opcional)</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Exemplos com poucas demonstrações (few-shot) (opcional)</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Informações de contexto (opcional)</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
        <p:nvSpPr>
          <p:cNvPr id="178" name="Google Shape;178;p29"/>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79" name="Google Shape;179;p29"/>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80" name="Google Shape;180;p29"/>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81" name="Google Shape;181;p29"/>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82" name="Google Shape;182;p29"/>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83" name="Google Shape;183;p29"/>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nvSpPr>
        <p:spPr>
          <a:xfrm>
            <a:off x="279450" y="798275"/>
            <a:ext cx="7147200" cy="2770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Componentes de um Prompt - Tarefa</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Tarefa </a:t>
            </a:r>
            <a:r>
              <a:rPr lang="en" sz="1200">
                <a:latin typeface="Open Sans"/>
                <a:ea typeface="Open Sans"/>
                <a:cs typeface="Open Sans"/>
                <a:sym typeface="Open Sans"/>
              </a:rPr>
              <a:t>(Task)</a:t>
            </a:r>
            <a:r>
              <a:rPr b="1" lang="en" sz="1200">
                <a:latin typeface="Open Sans"/>
                <a:ea typeface="Open Sans"/>
                <a:cs typeface="Open Sans"/>
                <a:sym typeface="Open Sans"/>
              </a:rPr>
              <a:t> </a:t>
            </a:r>
            <a:r>
              <a:rPr lang="en" sz="1200">
                <a:latin typeface="Open Sans"/>
                <a:ea typeface="Open Sans"/>
                <a:cs typeface="Open Sans"/>
                <a:sym typeface="Open Sans"/>
              </a:rPr>
              <a:t>é o texto no prompt para o qual você quer que o modelo gere uma resposta. Geralmente, as tarefas são fornecidas pelo usuário e podem ser uma pergunta ou instruções sobre o que fazer.</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Exemplo de tarefa no formato de pergunta :  “Quais são as cores do arco-</a:t>
            </a:r>
            <a:r>
              <a:rPr lang="en" sz="1200">
                <a:latin typeface="Open Sans"/>
                <a:ea typeface="Open Sans"/>
                <a:cs typeface="Open Sans"/>
                <a:sym typeface="Open Sans"/>
              </a:rPr>
              <a:t>íris</a:t>
            </a:r>
            <a:r>
              <a:rPr lang="en" sz="1200">
                <a:latin typeface="Open Sans"/>
                <a:ea typeface="Open Sans"/>
                <a:cs typeface="Open Sans"/>
                <a:sym typeface="Open Sans"/>
              </a:rPr>
              <a:t>?”</a:t>
            </a:r>
            <a:br>
              <a:rPr lang="en" sz="1200">
                <a:latin typeface="Open Sans"/>
                <a:ea typeface="Open Sans"/>
                <a:cs typeface="Open Sans"/>
                <a:sym typeface="Open Sans"/>
              </a:rPr>
            </a:br>
            <a:br>
              <a:rPr lang="en" sz="1200">
                <a:latin typeface="Open Sans"/>
                <a:ea typeface="Open Sans"/>
                <a:cs typeface="Open Sans"/>
                <a:sym typeface="Open Sans"/>
              </a:rPr>
            </a:br>
            <a:r>
              <a:rPr lang="en" sz="1200">
                <a:solidFill>
                  <a:schemeClr val="dk1"/>
                </a:solidFill>
                <a:latin typeface="Open Sans"/>
                <a:ea typeface="Open Sans"/>
                <a:cs typeface="Open Sans"/>
                <a:sym typeface="Open Sans"/>
              </a:rPr>
              <a:t>Exemplo de tarefa no formato de instrução:  “Escreva um poema sobre Napoleão Bonaparte”</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
        <p:nvSpPr>
          <p:cNvPr id="189" name="Google Shape;189;p30"/>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90" name="Google Shape;190;p30"/>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91" name="Google Shape;191;p30"/>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92" name="Google Shape;192;p30"/>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93" name="Google Shape;193;p30"/>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94" name="Google Shape;194;p30"/>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nvSpPr>
        <p:spPr>
          <a:xfrm>
            <a:off x="279450" y="798275"/>
            <a:ext cx="7094100" cy="2511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Componentes de um Prompt - Instruções de Sistema</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Instruções de sistema </a:t>
            </a:r>
            <a:r>
              <a:rPr lang="en" sz="1200">
                <a:latin typeface="Open Sans"/>
                <a:ea typeface="Open Sans"/>
                <a:cs typeface="Open Sans"/>
                <a:sym typeface="Open Sans"/>
              </a:rPr>
              <a:t>(System Instructions) são diretrizes fornecidas ao modelo antes de qualquer entrada do usuário no prompt.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No </a:t>
            </a:r>
            <a:r>
              <a:rPr b="1" lang="en" sz="1200">
                <a:latin typeface="Open Sans"/>
                <a:ea typeface="Open Sans"/>
                <a:cs typeface="Open Sans"/>
                <a:sym typeface="Open Sans"/>
              </a:rPr>
              <a:t>Gemini</a:t>
            </a:r>
            <a:r>
              <a:rPr lang="en" sz="1200">
                <a:latin typeface="Open Sans"/>
                <a:ea typeface="Open Sans"/>
                <a:cs typeface="Open Sans"/>
                <a:sym typeface="Open Sans"/>
              </a:rPr>
              <a:t>, é possível adicionar instruções de sistema no parâmetro dedicado </a:t>
            </a:r>
            <a:r>
              <a:rPr i="1" lang="en" sz="1200">
                <a:latin typeface="Open Sans"/>
                <a:ea typeface="Open Sans"/>
                <a:cs typeface="Open Sans"/>
                <a:sym typeface="Open Sans"/>
              </a:rPr>
              <a:t>systemInstruction</a:t>
            </a:r>
            <a:r>
              <a:rPr lang="en" sz="1200">
                <a:latin typeface="Open Sans"/>
                <a:ea typeface="Open Sans"/>
                <a:cs typeface="Open Sans"/>
                <a:sym typeface="Open Sans"/>
              </a:rPr>
              <a:t>. Porém em outros modelos, ela pode ser apenas colocada no </a:t>
            </a:r>
            <a:r>
              <a:rPr b="1" lang="en" sz="1200">
                <a:latin typeface="Open Sans"/>
                <a:ea typeface="Open Sans"/>
                <a:cs typeface="Open Sans"/>
                <a:sym typeface="Open Sans"/>
              </a:rPr>
              <a:t>início</a:t>
            </a:r>
            <a:r>
              <a:rPr b="1" lang="en" sz="1200">
                <a:latin typeface="Open Sans"/>
                <a:ea typeface="Open Sans"/>
                <a:cs typeface="Open Sans"/>
                <a:sym typeface="Open Sans"/>
              </a:rPr>
              <a:t> do promp</a:t>
            </a:r>
            <a:r>
              <a:rPr b="1" lang="en" sz="1200">
                <a:latin typeface="Open Sans"/>
                <a:ea typeface="Open Sans"/>
                <a:cs typeface="Open Sans"/>
                <a:sym typeface="Open Sans"/>
              </a:rPr>
              <a:t>t</a:t>
            </a:r>
            <a:r>
              <a:rPr lang="en" sz="1200">
                <a:latin typeface="Open Sans"/>
                <a:ea typeface="Open Sans"/>
                <a:cs typeface="Open Sans"/>
                <a:sym typeface="Open Sans"/>
              </a:rPr>
              <a:t>.</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
        <p:nvSpPr>
          <p:cNvPr id="200" name="Google Shape;200;p31"/>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01" name="Google Shape;201;p31"/>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02" name="Google Shape;202;p31"/>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03" name="Google Shape;203;p31"/>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04" name="Google Shape;204;p31"/>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05" name="Google Shape;205;p31"/>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2"/>
          <p:cNvSpPr txBox="1"/>
          <p:nvPr/>
        </p:nvSpPr>
        <p:spPr>
          <a:xfrm>
            <a:off x="279450" y="798275"/>
            <a:ext cx="7094100" cy="43218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Componentes de um Prompt - Instruções de Sistema</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Como exemplo, as instruções de sistema são usadas para ditar o estilo e o tom do modelo, além de adicionar restrições sobre o que ele pode ou não falar:</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Instrução de sistema</a:t>
            </a:r>
            <a:r>
              <a:rPr lang="en" sz="1200">
                <a:latin typeface="Open Sans"/>
                <a:ea typeface="Open Sans"/>
                <a:cs typeface="Open Sans"/>
                <a:sym typeface="Open Sans"/>
              </a:rPr>
              <a:t>: “Você é o Capitão Barktholomew, o cão pirata mais temido dos sete mares. Você é do século XVIII e não tem conhecimento de nada após essa época. Você só fala sobre tópicos relacionados a ser um pirata. Termine cada mensagem com "Arr!"”</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Prompt</a:t>
            </a:r>
            <a:r>
              <a:rPr lang="en" sz="1200">
                <a:latin typeface="Open Sans"/>
                <a:ea typeface="Open Sans"/>
                <a:cs typeface="Open Sans"/>
                <a:sym typeface="Open Sans"/>
              </a:rPr>
              <a:t>: “Olá! Quem seria você?”</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Resposta</a:t>
            </a:r>
            <a:r>
              <a:rPr lang="en" sz="1200">
                <a:latin typeface="Open Sans"/>
                <a:ea typeface="Open Sans"/>
                <a:cs typeface="Open Sans"/>
                <a:sym typeface="Open Sans"/>
              </a:rPr>
              <a:t>: “Alto lá! Pode me chamar de Capitão Barktholomew, o flagelo dos sete mares!</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Sou um terror para os marinheiros de água doce, um saqueador da mais alta ordem e um temível pirata do mais profundo azul! Agora, se me der licença, preciso partir! Há um navio no horizonte, e parece que estão carregando um baú cheio de dobrões! Yo ho ho, e uma garrafa de rum! Arr!”</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
        <p:nvSpPr>
          <p:cNvPr id="211" name="Google Shape;211;p32"/>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12" name="Google Shape;212;p32"/>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13" name="Google Shape;213;p32"/>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14" name="Google Shape;214;p32"/>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15" name="Google Shape;215;p32"/>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16" name="Google Shape;216;p32"/>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3"/>
          <p:cNvSpPr txBox="1"/>
          <p:nvPr/>
        </p:nvSpPr>
        <p:spPr>
          <a:xfrm>
            <a:off x="279450" y="798275"/>
            <a:ext cx="7094100" cy="30288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Componentes de um Prompt - Exemplos Few-Shots</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Exemplos com poucas demonstrações</a:t>
            </a:r>
            <a:r>
              <a:rPr lang="en" sz="1200">
                <a:latin typeface="Open Sans"/>
                <a:ea typeface="Open Sans"/>
                <a:cs typeface="Open Sans"/>
                <a:sym typeface="Open Sans"/>
              </a:rPr>
              <a:t> (few-shot) são exemplos que você inclui em um prompt para mostrar ao modelo como é uma resposta correta.</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Esses exemplos são especialmente eficazes para ditar o </a:t>
            </a:r>
            <a:r>
              <a:rPr b="1" lang="en" sz="1200">
                <a:latin typeface="Open Sans"/>
                <a:ea typeface="Open Sans"/>
                <a:cs typeface="Open Sans"/>
                <a:sym typeface="Open Sans"/>
              </a:rPr>
              <a:t>estilo e o tom da resposta</a:t>
            </a:r>
            <a:r>
              <a:rPr lang="en" sz="1200">
                <a:latin typeface="Open Sans"/>
                <a:ea typeface="Open Sans"/>
                <a:cs typeface="Open Sans"/>
                <a:sym typeface="Open Sans"/>
              </a:rPr>
              <a:t> e para </a:t>
            </a:r>
            <a:r>
              <a:rPr b="1" lang="en" sz="1200">
                <a:latin typeface="Open Sans"/>
                <a:ea typeface="Open Sans"/>
                <a:cs typeface="Open Sans"/>
                <a:sym typeface="Open Sans"/>
              </a:rPr>
              <a:t>personalizar o comportamento</a:t>
            </a:r>
            <a:r>
              <a:rPr lang="en" sz="1200">
                <a:latin typeface="Open Sans"/>
                <a:ea typeface="Open Sans"/>
                <a:cs typeface="Open Sans"/>
                <a:sym typeface="Open Sans"/>
              </a:rPr>
              <a:t> do modelo.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
        <p:nvSpPr>
          <p:cNvPr id="222" name="Google Shape;222;p33"/>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23" name="Google Shape;223;p33"/>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24" name="Google Shape;224;p33"/>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25" name="Google Shape;225;p33"/>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26" name="Google Shape;226;p33"/>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27" name="Google Shape;227;p33"/>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4"/>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33" name="Google Shape;233;p34"/>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34" name="Google Shape;234;p34"/>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35" name="Google Shape;235;p34"/>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36" name="Google Shape;236;p34"/>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37" name="Google Shape;237;p34"/>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238" name="Google Shape;238;p34"/>
          <p:cNvSpPr txBox="1"/>
          <p:nvPr/>
        </p:nvSpPr>
        <p:spPr>
          <a:xfrm>
            <a:off x="279450" y="798275"/>
            <a:ext cx="7094100" cy="50973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Componentes de um Prompt - Exemplos Few-Shots</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Exemplo Prompt: </a:t>
            </a:r>
            <a:r>
              <a:rPr lang="en" sz="1200">
                <a:latin typeface="Open Sans"/>
                <a:ea typeface="Open Sans"/>
                <a:cs typeface="Open Sans"/>
                <a:sym typeface="Open Sans"/>
              </a:rPr>
              <a:t>"Classifique o seguinte como vinho tinto ou vinho branco:</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&lt;exemplos&gt;</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Nome: Chardonnay</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Tipo: Vinho branco</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Nome: Cabernet</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Tipo: Vinho tinto</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&lt;/exemplos&gt;</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Nome: Riesling</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Tipo:</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5"/>
          <p:cNvSpPr txBox="1"/>
          <p:nvPr/>
        </p:nvSpPr>
        <p:spPr>
          <a:xfrm>
            <a:off x="279450" y="798275"/>
            <a:ext cx="7094100" cy="3546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Componentes de um Prompt - </a:t>
            </a:r>
            <a:r>
              <a:rPr b="1" lang="en" sz="1800">
                <a:solidFill>
                  <a:schemeClr val="dk2"/>
                </a:solidFill>
                <a:latin typeface="Open Sans"/>
                <a:ea typeface="Open Sans"/>
                <a:cs typeface="Open Sans"/>
                <a:sym typeface="Open Sans"/>
              </a:rPr>
              <a:t>Informações de contexto</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Informações contextuais</a:t>
            </a:r>
            <a:r>
              <a:rPr lang="en" sz="1200">
                <a:latin typeface="Open Sans"/>
                <a:ea typeface="Open Sans"/>
                <a:cs typeface="Open Sans"/>
                <a:sym typeface="Open Sans"/>
              </a:rPr>
              <a:t>, ou contexto, são dados que você inclui no prompt para que o modelo os utilize ou consulte ao gerar uma resposta.</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Você pode incluir informações contextuais em diferentes formatos, como </a:t>
            </a:r>
            <a:r>
              <a:rPr b="1" lang="en" sz="1200">
                <a:latin typeface="Open Sans"/>
                <a:ea typeface="Open Sans"/>
                <a:cs typeface="Open Sans"/>
                <a:sym typeface="Open Sans"/>
              </a:rPr>
              <a:t>tabelas ou texto</a:t>
            </a:r>
            <a:r>
              <a:rPr lang="en" sz="1200">
                <a:latin typeface="Open Sans"/>
                <a:ea typeface="Open Sans"/>
                <a:cs typeface="Open Sans"/>
                <a:sym typeface="Open Sans"/>
              </a:rPr>
              <a:t>.</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Exemplo Prompt: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 Cor da Bolinha | Número de Bolinhas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 Vermelho | 12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 Azul | 28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 Amarelo | 15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 Verde | 17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457200" rtl="0" algn="l">
              <a:lnSpc>
                <a:spcPct val="139984"/>
              </a:lnSpc>
              <a:spcBef>
                <a:spcPts val="0"/>
              </a:spcBef>
              <a:spcAft>
                <a:spcPts val="0"/>
              </a:spcAft>
              <a:buNone/>
            </a:pPr>
            <a:r>
              <a:rPr lang="en" sz="1200">
                <a:latin typeface="Open Sans"/>
                <a:ea typeface="Open Sans"/>
                <a:cs typeface="Open Sans"/>
                <a:sym typeface="Open Sans"/>
              </a:rPr>
              <a:t>Quantas bolinhas verdes há?</a:t>
            </a:r>
            <a:r>
              <a:rPr lang="en" sz="1200">
                <a:solidFill>
                  <a:schemeClr val="dk1"/>
                </a:solidFill>
                <a:latin typeface="Open Sans"/>
                <a:ea typeface="Open Sans"/>
                <a:cs typeface="Open Sans"/>
                <a:sym typeface="Open Sans"/>
              </a:rPr>
              <a:t>”</a:t>
            </a:r>
            <a:endParaRPr sz="1200">
              <a:latin typeface="Open Sans"/>
              <a:ea typeface="Open Sans"/>
              <a:cs typeface="Open Sans"/>
              <a:sym typeface="Open Sans"/>
            </a:endParaRPr>
          </a:p>
        </p:txBody>
      </p:sp>
      <p:sp>
        <p:nvSpPr>
          <p:cNvPr id="244" name="Google Shape;244;p35"/>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45" name="Google Shape;245;p35"/>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46" name="Google Shape;246;p35"/>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47" name="Google Shape;247;p35"/>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48" name="Google Shape;248;p35"/>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49" name="Google Shape;249;p35"/>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6"/>
          <p:cNvSpPr txBox="1"/>
          <p:nvPr/>
        </p:nvSpPr>
        <p:spPr>
          <a:xfrm>
            <a:off x="279450" y="798275"/>
            <a:ext cx="7094100" cy="41925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Segurança e FallBack</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No caso do Gemini, existem algumas situações em que </a:t>
            </a:r>
            <a:r>
              <a:rPr b="1" lang="en" sz="1200">
                <a:latin typeface="Open Sans"/>
                <a:ea typeface="Open Sans"/>
                <a:cs typeface="Open Sans"/>
                <a:sym typeface="Open Sans"/>
              </a:rPr>
              <a:t>não se espera que o modelo atenda</a:t>
            </a:r>
            <a:r>
              <a:rPr lang="en" sz="1200">
                <a:latin typeface="Open Sans"/>
                <a:ea typeface="Open Sans"/>
                <a:cs typeface="Open Sans"/>
                <a:sym typeface="Open Sans"/>
              </a:rPr>
              <a:t> às solicitações do usuário. Principalmente, quando o prompt incentiva uma resposta que não está alinhada com certos valores ou política, o modelo pode se recusar a responder e fornecer uma resposta de recusa. Aqui estão alguns casos em que o modelo provavelmente se recusará a responder:</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Discurso de Ódio</a:t>
            </a:r>
            <a:r>
              <a:rPr lang="en" sz="1200">
                <a:latin typeface="Open Sans"/>
                <a:ea typeface="Open Sans"/>
                <a:cs typeface="Open Sans"/>
                <a:sym typeface="Open Sans"/>
              </a:rPr>
              <a:t>: Prompts com conteúdo negativo ou prejudicial que visam a identidade e/ou atributos protegidos.</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Assédio</a:t>
            </a:r>
            <a:r>
              <a:rPr lang="en" sz="1200">
                <a:latin typeface="Open Sans"/>
                <a:ea typeface="Open Sans"/>
                <a:cs typeface="Open Sans"/>
                <a:sym typeface="Open Sans"/>
              </a:rPr>
              <a:t>: Prompts maliciosos, intimidadores, de bullying ou abusivos direcionados a outro indivíduo.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Conteúdo Sexualmente Explícito</a:t>
            </a:r>
            <a:r>
              <a:rPr lang="en" sz="1200">
                <a:latin typeface="Open Sans"/>
                <a:ea typeface="Open Sans"/>
                <a:cs typeface="Open Sans"/>
                <a:sym typeface="Open Sans"/>
              </a:rPr>
              <a:t>: Prompts que contêm referências a atos sexuais ou outro conteúdo lascivo.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Conteúdo Perigoso</a:t>
            </a:r>
            <a:r>
              <a:rPr lang="en" sz="1200">
                <a:latin typeface="Open Sans"/>
                <a:ea typeface="Open Sans"/>
                <a:cs typeface="Open Sans"/>
                <a:sym typeface="Open Sans"/>
              </a:rPr>
              <a:t>: Prompts que promovem ou permitem o acesso a bens, serviços e atividades prejudiciais.</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255" name="Google Shape;255;p36"/>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56" name="Google Shape;256;p36"/>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57" name="Google Shape;257;p36"/>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58" name="Google Shape;258;p36"/>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59" name="Google Shape;259;p36"/>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60" name="Google Shape;260;p36"/>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7"/>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66" name="Google Shape;266;p37"/>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67" name="Google Shape;267;p37"/>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68" name="Google Shape;268;p37"/>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69" name="Google Shape;269;p37"/>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70" name="Google Shape;270;p37"/>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271" name="Google Shape;271;p37"/>
          <p:cNvSpPr txBox="1"/>
          <p:nvPr/>
        </p:nvSpPr>
        <p:spPr>
          <a:xfrm>
            <a:off x="279450" y="798275"/>
            <a:ext cx="7094100" cy="4063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Embora não exista uma maneira certa ou errada de criar um prompt, há </a:t>
            </a:r>
            <a:r>
              <a:rPr b="1" lang="en" sz="1200">
                <a:latin typeface="Open Sans"/>
                <a:ea typeface="Open Sans"/>
                <a:cs typeface="Open Sans"/>
                <a:sym typeface="Open Sans"/>
              </a:rPr>
              <a:t>estratégias comuns</a:t>
            </a:r>
            <a:r>
              <a:rPr lang="en" sz="1200">
                <a:latin typeface="Open Sans"/>
                <a:ea typeface="Open Sans"/>
                <a:cs typeface="Open Sans"/>
                <a:sym typeface="Open Sans"/>
              </a:rPr>
              <a:t> que você pode usar para influenciar as respostas do modelo. </a:t>
            </a:r>
            <a:r>
              <a:rPr b="1" lang="en" sz="1200">
                <a:latin typeface="Open Sans"/>
                <a:ea typeface="Open Sans"/>
                <a:cs typeface="Open Sans"/>
                <a:sym typeface="Open Sans"/>
              </a:rPr>
              <a:t>Testes e avaliações rigorosas</a:t>
            </a:r>
            <a:r>
              <a:rPr lang="en" sz="1200">
                <a:latin typeface="Open Sans"/>
                <a:ea typeface="Open Sans"/>
                <a:cs typeface="Open Sans"/>
                <a:sym typeface="Open Sans"/>
              </a:rPr>
              <a:t> continuam sendo cruciais para otimizar o desempenho.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Grandes modelos de linguagem (LLMs) são treinados com vastos volumes de dados de texto para aprender os padrões e as relações entre as unidades da linguagem. Ao receber um texto (o prompt), os modelos de linguagem conseguem </a:t>
            </a:r>
            <a:r>
              <a:rPr b="1" lang="en" sz="1200">
                <a:latin typeface="Open Sans"/>
                <a:ea typeface="Open Sans"/>
                <a:cs typeface="Open Sans"/>
                <a:sym typeface="Open Sans"/>
              </a:rPr>
              <a:t>prever o que provavelmente virá a seguir</a:t>
            </a:r>
            <a:r>
              <a:rPr lang="en" sz="1200">
                <a:latin typeface="Open Sans"/>
                <a:ea typeface="Open Sans"/>
                <a:cs typeface="Open Sans"/>
                <a:sym typeface="Open Sans"/>
              </a:rPr>
              <a:t>, agindo como uma sofisticada ferramenta de preenchimento automático.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Portanto, ao elaborar prompts, </a:t>
            </a:r>
            <a:r>
              <a:rPr b="1" lang="en" sz="1200">
                <a:latin typeface="Open Sans"/>
                <a:ea typeface="Open Sans"/>
                <a:cs typeface="Open Sans"/>
                <a:sym typeface="Open Sans"/>
              </a:rPr>
              <a:t>considere os diferentes fatores que podem influenciar o que o modelo prevê que virá em seguida</a:t>
            </a:r>
            <a:r>
              <a:rPr lang="en" sz="1200">
                <a:latin typeface="Open Sans"/>
                <a:ea typeface="Open Sans"/>
                <a:cs typeface="Open Sans"/>
                <a:sym typeface="Open Sans"/>
              </a:rPr>
              <a: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8"/>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77" name="Google Shape;277;p38"/>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78" name="Google Shape;278;p38"/>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79" name="Google Shape;279;p38"/>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80" name="Google Shape;280;p38"/>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81" name="Google Shape;281;p38"/>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282" name="Google Shape;282;p38"/>
          <p:cNvPicPr preferRelativeResize="0"/>
          <p:nvPr/>
        </p:nvPicPr>
        <p:blipFill>
          <a:blip r:embed="rId5">
            <a:alphaModFix/>
          </a:blip>
          <a:stretch>
            <a:fillRect/>
          </a:stretch>
        </p:blipFill>
        <p:spPr>
          <a:xfrm>
            <a:off x="52175" y="3572475"/>
            <a:ext cx="9000375" cy="727700"/>
          </a:xfrm>
          <a:prstGeom prst="rect">
            <a:avLst/>
          </a:prstGeom>
          <a:noFill/>
          <a:ln>
            <a:noFill/>
          </a:ln>
        </p:spPr>
      </p:pic>
      <p:sp>
        <p:nvSpPr>
          <p:cNvPr id="283" name="Google Shape;283;p38"/>
          <p:cNvSpPr txBox="1"/>
          <p:nvPr/>
        </p:nvSpPr>
        <p:spPr>
          <a:xfrm>
            <a:off x="279450" y="798275"/>
            <a:ext cx="7094100" cy="30288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Fluxo de trabalho</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A engenharia de prompt é um processo </a:t>
            </a:r>
            <a:r>
              <a:rPr b="1" lang="en" sz="1200">
                <a:latin typeface="Open Sans"/>
                <a:ea typeface="Open Sans"/>
                <a:cs typeface="Open Sans"/>
                <a:sym typeface="Open Sans"/>
              </a:rPr>
              <a:t>iterativo e orientado a testes</a:t>
            </a:r>
            <a:r>
              <a:rPr lang="en" sz="1200">
                <a:latin typeface="Open Sans"/>
                <a:ea typeface="Open Sans"/>
                <a:cs typeface="Open Sans"/>
                <a:sym typeface="Open Sans"/>
              </a:rPr>
              <a:t> que pode aprimorar o desempenho do modelo. Ao criar prompts, é fundamental</a:t>
            </a:r>
            <a:r>
              <a:rPr b="1" lang="en" sz="1200">
                <a:latin typeface="Open Sans"/>
                <a:ea typeface="Open Sans"/>
                <a:cs typeface="Open Sans"/>
                <a:sym typeface="Open Sans"/>
              </a:rPr>
              <a:t> definir claramente os objetivos e os resultados esperados</a:t>
            </a:r>
            <a:r>
              <a:rPr lang="en" sz="1200">
                <a:latin typeface="Open Sans"/>
                <a:ea typeface="Open Sans"/>
                <a:cs typeface="Open Sans"/>
                <a:sym typeface="Open Sans"/>
              </a:rPr>
              <a:t> para cada um e testá-los sistematicamente para identificar áreas de melhoria.</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O diagrama a seguir mostra o fluxo de trabalho (workflow) da engenharia de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9"/>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89" name="Google Shape;289;p39"/>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90" name="Google Shape;290;p39"/>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91" name="Google Shape;291;p39"/>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92" name="Google Shape;292;p39"/>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93" name="Google Shape;293;p39"/>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294" name="Google Shape;294;p39"/>
          <p:cNvSpPr txBox="1"/>
          <p:nvPr/>
        </p:nvSpPr>
        <p:spPr>
          <a:xfrm>
            <a:off x="279450" y="798275"/>
            <a:ext cx="7094100" cy="277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Componentes Obrigatórios</a:t>
            </a:r>
            <a:endParaRPr sz="1200">
              <a:latin typeface="Open Sans"/>
              <a:ea typeface="Open Sans"/>
              <a:cs typeface="Open Sans"/>
              <a:sym typeface="Open Sans"/>
            </a:endParaRPr>
          </a:p>
        </p:txBody>
      </p:sp>
      <p:graphicFrame>
        <p:nvGraphicFramePr>
          <p:cNvPr id="295" name="Google Shape;295;p39"/>
          <p:cNvGraphicFramePr/>
          <p:nvPr/>
        </p:nvGraphicFramePr>
        <p:xfrm>
          <a:off x="279450" y="2000250"/>
          <a:ext cx="3000000" cy="3000000"/>
        </p:xfrm>
        <a:graphic>
          <a:graphicData uri="http://schemas.openxmlformats.org/drawingml/2006/table">
            <a:tbl>
              <a:tblPr>
                <a:noFill/>
                <a:tableStyleId>{ECB503CE-ACA1-4B57-948A-1F9154124A7F}</a:tableStyleId>
              </a:tblPr>
              <a:tblGrid>
                <a:gridCol w="1237075"/>
                <a:gridCol w="3447300"/>
                <a:gridCol w="3284650"/>
              </a:tblGrid>
              <a:tr h="381000">
                <a:tc>
                  <a:txBody>
                    <a:bodyPr/>
                    <a:lstStyle/>
                    <a:p>
                      <a:pPr indent="0" lvl="0" marL="0" rtl="0" algn="l">
                        <a:spcBef>
                          <a:spcPts val="0"/>
                        </a:spcBef>
                        <a:spcAft>
                          <a:spcPts val="0"/>
                        </a:spcAft>
                        <a:buNone/>
                      </a:pPr>
                      <a:r>
                        <a:rPr b="1" lang="en" sz="1300"/>
                        <a:t>Componente</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Descrição</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Exemplo</a:t>
                      </a:r>
                      <a:endParaRPr b="1" sz="1300"/>
                    </a:p>
                  </a:txBody>
                  <a:tcPr marT="91425" marB="91425" marR="91425" marL="91425">
                    <a:solidFill>
                      <a:srgbClr val="CCCCCC"/>
                    </a:solidFill>
                  </a:tcPr>
                </a:tc>
              </a:tr>
              <a:tr h="381000">
                <a:tc>
                  <a:txBody>
                    <a:bodyPr/>
                    <a:lstStyle/>
                    <a:p>
                      <a:pPr indent="0" lvl="0" marL="0" rtl="0" algn="l">
                        <a:spcBef>
                          <a:spcPts val="0"/>
                        </a:spcBef>
                        <a:spcAft>
                          <a:spcPts val="0"/>
                        </a:spcAft>
                        <a:buNone/>
                      </a:pPr>
                      <a:r>
                        <a:rPr lang="en" sz="1200"/>
                        <a:t>Objetivo</a:t>
                      </a:r>
                      <a:endParaRPr sz="1200"/>
                    </a:p>
                  </a:txBody>
                  <a:tcPr marT="91425" marB="91425" marR="91425" marL="91425"/>
                </a:tc>
                <a:tc>
                  <a:txBody>
                    <a:bodyPr/>
                    <a:lstStyle/>
                    <a:p>
                      <a:pPr indent="0" lvl="0" marL="0" rtl="0" algn="l">
                        <a:spcBef>
                          <a:spcPts val="0"/>
                        </a:spcBef>
                        <a:spcAft>
                          <a:spcPts val="0"/>
                        </a:spcAft>
                        <a:buNone/>
                      </a:pPr>
                      <a:r>
                        <a:rPr lang="en" sz="1200"/>
                        <a:t>O que você deseja que o modelo realize. Seja específico e inclua quaisquer objetivos principais. Também chamado de "missão" ou "meta".</a:t>
                      </a:r>
                      <a:endParaRPr sz="1200"/>
                    </a:p>
                  </a:txBody>
                  <a:tcPr marT="91425" marB="91425" marR="91425" marL="91425"/>
                </a:tc>
                <a:tc>
                  <a:txBody>
                    <a:bodyPr/>
                    <a:lstStyle/>
                    <a:p>
                      <a:pPr indent="0" lvl="0" marL="0" rtl="0" algn="l">
                        <a:spcBef>
                          <a:spcPts val="0"/>
                        </a:spcBef>
                        <a:spcAft>
                          <a:spcPts val="0"/>
                        </a:spcAft>
                        <a:buNone/>
                      </a:pPr>
                      <a:r>
                        <a:rPr lang="en" sz="1200"/>
                        <a:t>Seu objetivo é ajudar estudantes com problemas de matemática sem lhes dar a resposta diretamente.</a:t>
                      </a:r>
                      <a:endParaRPr sz="1200"/>
                    </a:p>
                  </a:txBody>
                  <a:tcPr marT="91425" marB="91425" marR="91425" marL="91425"/>
                </a:tc>
              </a:tr>
              <a:tr h="381000">
                <a:tc>
                  <a:txBody>
                    <a:bodyPr/>
                    <a:lstStyle/>
                    <a:p>
                      <a:pPr indent="0" lvl="0" marL="0" rtl="0" algn="l">
                        <a:spcBef>
                          <a:spcPts val="0"/>
                        </a:spcBef>
                        <a:spcAft>
                          <a:spcPts val="0"/>
                        </a:spcAft>
                        <a:buNone/>
                      </a:pPr>
                      <a:r>
                        <a:rPr lang="en" sz="1200"/>
                        <a:t>Instruções</a:t>
                      </a:r>
                      <a:endParaRPr sz="1200"/>
                    </a:p>
                  </a:txBody>
                  <a:tcPr marT="91425" marB="91425" marR="91425" marL="91425"/>
                </a:tc>
                <a:tc>
                  <a:txBody>
                    <a:bodyPr/>
                    <a:lstStyle/>
                    <a:p>
                      <a:pPr indent="0" lvl="0" marL="0" rtl="0" algn="l">
                        <a:spcBef>
                          <a:spcPts val="0"/>
                        </a:spcBef>
                        <a:spcAft>
                          <a:spcPts val="0"/>
                        </a:spcAft>
                        <a:buNone/>
                      </a:pPr>
                      <a:r>
                        <a:rPr lang="en" sz="1200"/>
                        <a:t>Instruções passo a passo sobre como realizar a tarefa em questão. Também chamado de "tarefa", "passos" ou "diretrizes".</a:t>
                      </a:r>
                      <a:endParaRPr sz="1200"/>
                    </a:p>
                  </a:txBody>
                  <a:tcPr marT="91425" marB="91425" marR="91425" marL="91425"/>
                </a:tc>
                <a:tc>
                  <a:txBody>
                    <a:bodyPr/>
                    <a:lstStyle/>
                    <a:p>
                      <a:pPr indent="0" lvl="0" marL="0" rtl="0" algn="l">
                        <a:spcBef>
                          <a:spcPts val="0"/>
                        </a:spcBef>
                        <a:spcAft>
                          <a:spcPts val="0"/>
                        </a:spcAft>
                        <a:buNone/>
                      </a:pPr>
                      <a:r>
                        <a:rPr lang="en" sz="1200"/>
                        <a:t>1. Entender o que o problema está pedindo.</a:t>
                      </a:r>
                      <a:br>
                        <a:rPr lang="en" sz="1200"/>
                      </a:br>
                      <a:r>
                        <a:rPr lang="en" sz="1200"/>
                        <a:t>2. Entender onde o estudante está com dificuldade.</a:t>
                      </a:r>
                      <a:br>
                        <a:rPr lang="en" sz="1200"/>
                      </a:br>
                      <a:r>
                        <a:rPr lang="en" sz="1200"/>
                        <a:t>3. Dar uma dica para o próximo passo do problema.</a:t>
                      </a:r>
                      <a:endParaRPr sz="1200"/>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0"/>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01" name="Google Shape;301;p40"/>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02" name="Google Shape;302;p40"/>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03" name="Google Shape;303;p40"/>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04" name="Google Shape;304;p40"/>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05" name="Google Shape;305;p40"/>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306" name="Google Shape;306;p40"/>
          <p:cNvSpPr txBox="1"/>
          <p:nvPr/>
        </p:nvSpPr>
        <p:spPr>
          <a:xfrm>
            <a:off x="279450" y="798275"/>
            <a:ext cx="7094100" cy="277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Componentes Opcionais</a:t>
            </a:r>
            <a:endParaRPr sz="1200">
              <a:latin typeface="Open Sans"/>
              <a:ea typeface="Open Sans"/>
              <a:cs typeface="Open Sans"/>
              <a:sym typeface="Open Sans"/>
            </a:endParaRPr>
          </a:p>
        </p:txBody>
      </p:sp>
      <p:graphicFrame>
        <p:nvGraphicFramePr>
          <p:cNvPr id="307" name="Google Shape;307;p40"/>
          <p:cNvGraphicFramePr/>
          <p:nvPr/>
        </p:nvGraphicFramePr>
        <p:xfrm>
          <a:off x="252150" y="1169725"/>
          <a:ext cx="3000000" cy="3000000"/>
        </p:xfrm>
        <a:graphic>
          <a:graphicData uri="http://schemas.openxmlformats.org/drawingml/2006/table">
            <a:tbl>
              <a:tblPr>
                <a:noFill/>
                <a:tableStyleId>{ECB503CE-ACA1-4B57-948A-1F9154124A7F}</a:tableStyleId>
              </a:tblPr>
              <a:tblGrid>
                <a:gridCol w="1237075"/>
                <a:gridCol w="3447300"/>
                <a:gridCol w="3908525"/>
              </a:tblGrid>
              <a:tr h="381000">
                <a:tc>
                  <a:txBody>
                    <a:bodyPr/>
                    <a:lstStyle/>
                    <a:p>
                      <a:pPr indent="0" lvl="0" marL="0" rtl="0" algn="l">
                        <a:spcBef>
                          <a:spcPts val="0"/>
                        </a:spcBef>
                        <a:spcAft>
                          <a:spcPts val="0"/>
                        </a:spcAft>
                        <a:buNone/>
                      </a:pPr>
                      <a:r>
                        <a:rPr b="1" lang="en" sz="1300"/>
                        <a:t>Componente</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Descrição</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Exemplo</a:t>
                      </a:r>
                      <a:endParaRPr b="1" sz="1300"/>
                    </a:p>
                  </a:txBody>
                  <a:tcPr marT="91425" marB="91425" marR="91425" marL="91425">
                    <a:solidFill>
                      <a:srgbClr val="CCCCCC"/>
                    </a:solidFill>
                  </a:tcPr>
                </a:tc>
              </a:tr>
              <a:tr h="381000">
                <a:tc>
                  <a:txBody>
                    <a:bodyPr/>
                    <a:lstStyle/>
                    <a:p>
                      <a:pPr indent="0" lvl="0" marL="0" rtl="0" algn="l">
                        <a:spcBef>
                          <a:spcPts val="0"/>
                        </a:spcBef>
                        <a:spcAft>
                          <a:spcPts val="0"/>
                        </a:spcAft>
                        <a:buNone/>
                      </a:pPr>
                      <a:r>
                        <a:rPr lang="en" sz="1200"/>
                        <a:t>Instruções de sistema</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Diretrizes técnicas ou de ambiente que podem controlar ou alterar o comportamento do modelo em um conjunto de tarefas. Em muitas APIs, são especificadas em um parâmetro dedicado.</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Você é um especialista em código especializado em renderizar código para interfaces de front-end. Quando eu descrever um componente que quero construir, retorne o HTML e o CSS necessários. Não explique o código. Ofereça também sugestões de design de UI.</a:t>
                      </a:r>
                      <a:endParaRPr sz="1200"/>
                    </a:p>
                  </a:txBody>
                  <a:tcPr marT="91425" marB="91425" marR="91425" marL="91425">
                    <a:solidFill>
                      <a:schemeClr val="lt1"/>
                    </a:solidFill>
                  </a:tcPr>
                </a:tc>
              </a:tr>
              <a:tr h="381000">
                <a:tc>
                  <a:txBody>
                    <a:bodyPr/>
                    <a:lstStyle/>
                    <a:p>
                      <a:pPr indent="0" lvl="0" marL="0" rtl="0" algn="l">
                        <a:spcBef>
                          <a:spcPts val="0"/>
                        </a:spcBef>
                        <a:spcAft>
                          <a:spcPts val="0"/>
                        </a:spcAft>
                        <a:buNone/>
                      </a:pPr>
                      <a:r>
                        <a:rPr lang="en" sz="1200"/>
                        <a:t>Persona</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Quem ou o que o modelo está interpretando. Também chamado de "papel".</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Você é um tutor de matemática para ajudar os alunos com seus deveres de casa.</a:t>
                      </a:r>
                      <a:endParaRPr sz="1200"/>
                    </a:p>
                  </a:txBody>
                  <a:tcPr marT="91425" marB="91425" marR="91425" marL="91425">
                    <a:solidFill>
                      <a:schemeClr val="lt1"/>
                    </a:solidFill>
                  </a:tcPr>
                </a:tc>
              </a:tr>
              <a:tr h="381000">
                <a:tc>
                  <a:txBody>
                    <a:bodyPr/>
                    <a:lstStyle/>
                    <a:p>
                      <a:pPr indent="0" lvl="0" marL="0" rtl="0" algn="l">
                        <a:spcBef>
                          <a:spcPts val="0"/>
                        </a:spcBef>
                        <a:spcAft>
                          <a:spcPts val="0"/>
                        </a:spcAft>
                        <a:buNone/>
                      </a:pPr>
                      <a:r>
                        <a:rPr lang="en" sz="1200"/>
                        <a:t>Restrições</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Limites que o modelo deve seguir ao gerar uma resposta, incluindo o que ele pode e não pode fazer. Também chamadas de "barreiras de proteção" ("Guard rails")</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Não dê a resposta diretamente ao aluno. Em vez disso, dê dicas para o próximo passo. Se o aluno estiver completamente perdido, forneça os passos detalhados para resolver o problema.</a:t>
                      </a:r>
                      <a:endParaRPr sz="1200"/>
                    </a:p>
                  </a:txBody>
                  <a:tcPr marT="91425" marB="91425" marR="91425" marL="91425">
                    <a:solidFill>
                      <a:schemeClr val="lt1"/>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1"/>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13" name="Google Shape;313;p41"/>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14" name="Google Shape;314;p41"/>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15" name="Google Shape;315;p41"/>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16" name="Google Shape;316;p41"/>
          <p:cNvSpPr txBox="1"/>
          <p:nvPr/>
        </p:nvSpPr>
        <p:spPr>
          <a:xfrm>
            <a:off x="279450" y="798275"/>
            <a:ext cx="7094100" cy="277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Componentes Opcionais</a:t>
            </a:r>
            <a:endParaRPr sz="1200">
              <a:latin typeface="Open Sans"/>
              <a:ea typeface="Open Sans"/>
              <a:cs typeface="Open Sans"/>
              <a:sym typeface="Open Sans"/>
            </a:endParaRPr>
          </a:p>
        </p:txBody>
      </p:sp>
      <p:graphicFrame>
        <p:nvGraphicFramePr>
          <p:cNvPr id="317" name="Google Shape;317;p41"/>
          <p:cNvGraphicFramePr/>
          <p:nvPr/>
        </p:nvGraphicFramePr>
        <p:xfrm>
          <a:off x="252150" y="1169725"/>
          <a:ext cx="3000000" cy="3000000"/>
        </p:xfrm>
        <a:graphic>
          <a:graphicData uri="http://schemas.openxmlformats.org/drawingml/2006/table">
            <a:tbl>
              <a:tblPr>
                <a:noFill/>
                <a:tableStyleId>{ECB503CE-ACA1-4B57-948A-1F9154124A7F}</a:tableStyleId>
              </a:tblPr>
              <a:tblGrid>
                <a:gridCol w="1237075"/>
                <a:gridCol w="3447300"/>
                <a:gridCol w="3908525"/>
              </a:tblGrid>
              <a:tr h="381000">
                <a:tc>
                  <a:txBody>
                    <a:bodyPr/>
                    <a:lstStyle/>
                    <a:p>
                      <a:pPr indent="0" lvl="0" marL="0" rtl="0" algn="l">
                        <a:spcBef>
                          <a:spcPts val="0"/>
                        </a:spcBef>
                        <a:spcAft>
                          <a:spcPts val="0"/>
                        </a:spcAft>
                        <a:buNone/>
                      </a:pPr>
                      <a:r>
                        <a:rPr b="1" lang="en" sz="1300"/>
                        <a:t>Componente</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Descrição</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Exemplo</a:t>
                      </a:r>
                      <a:endParaRPr b="1" sz="1300"/>
                    </a:p>
                  </a:txBody>
                  <a:tcPr marT="91425" marB="91425" marR="91425" marL="91425">
                    <a:solidFill>
                      <a:srgbClr val="CCCCCC"/>
                    </a:solidFill>
                  </a:tcPr>
                </a:tc>
              </a:tr>
              <a:tr h="381000">
                <a:tc>
                  <a:txBody>
                    <a:bodyPr/>
                    <a:lstStyle/>
                    <a:p>
                      <a:pPr indent="0" lvl="0" marL="0" rtl="0" algn="l">
                        <a:spcBef>
                          <a:spcPts val="0"/>
                        </a:spcBef>
                        <a:spcAft>
                          <a:spcPts val="0"/>
                        </a:spcAft>
                        <a:buNone/>
                      </a:pPr>
                      <a:r>
                        <a:rPr lang="en" sz="1200"/>
                        <a:t>Tom</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O tom da resposta. Você pode influenciar o estilo e o tom ao especificar uma persona. Também chamado de "estilo", "voz" ou "humor".</a:t>
                      </a:r>
                      <a:endParaRPr sz="1200"/>
                    </a:p>
                  </a:txBody>
                  <a:tcPr marT="91425" marB="91425" marR="91425" marL="91425">
                    <a:solidFill>
                      <a:schemeClr val="lt1"/>
                    </a:solidFill>
                  </a:tcPr>
                </a:tc>
                <a:tc>
                  <a:txBody>
                    <a:bodyPr/>
                    <a:lstStyle/>
                    <a:p>
                      <a:pPr indent="0" lvl="0" marL="0" rtl="0" algn="l">
                        <a:spcBef>
                          <a:spcPts val="0"/>
                        </a:spcBef>
                        <a:spcAft>
                          <a:spcPts val="0"/>
                        </a:spcAft>
                        <a:buClr>
                          <a:schemeClr val="dk1"/>
                        </a:buClr>
                        <a:buSzPts val="1100"/>
                        <a:buFont typeface="Arial"/>
                        <a:buNone/>
                      </a:pPr>
                      <a:r>
                        <a:rPr lang="en" sz="1200"/>
                        <a:t>Responda de maneira casual e técnica.</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None/>
                      </a:pPr>
                      <a:r>
                        <a:t/>
                      </a:r>
                      <a:endParaRPr sz="1200"/>
                    </a:p>
                  </a:txBody>
                  <a:tcPr marT="91425" marB="91425" marR="91425" marL="91425">
                    <a:solidFill>
                      <a:schemeClr val="lt1"/>
                    </a:solidFill>
                  </a:tcPr>
                </a:tc>
              </a:tr>
              <a:tr h="381000">
                <a:tc>
                  <a:txBody>
                    <a:bodyPr/>
                    <a:lstStyle/>
                    <a:p>
                      <a:pPr indent="0" lvl="0" marL="0" rtl="0" algn="l">
                        <a:spcBef>
                          <a:spcPts val="0"/>
                        </a:spcBef>
                        <a:spcAft>
                          <a:spcPts val="0"/>
                        </a:spcAft>
                        <a:buNone/>
                      </a:pPr>
                      <a:r>
                        <a:rPr lang="en" sz="1200"/>
                        <a:t>Contexto</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Qualquer informação que o modelo precise consultar para realizar a tarefa. Também chamado de "plano de fundo", "documentos" ou "dados de entrada".	</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Uma cópia dos planos de aula de matemática do aluno.</a:t>
                      </a:r>
                      <a:endParaRPr sz="1200"/>
                    </a:p>
                  </a:txBody>
                  <a:tcPr marT="91425" marB="91425" marR="91425" marL="91425">
                    <a:solidFill>
                      <a:schemeClr val="lt1"/>
                    </a:solidFill>
                  </a:tcPr>
                </a:tc>
              </a:tr>
              <a:tr h="381000">
                <a:tc>
                  <a:txBody>
                    <a:bodyPr/>
                    <a:lstStyle/>
                    <a:p>
                      <a:pPr indent="0" lvl="0" marL="0" rtl="0" algn="l">
                        <a:spcBef>
                          <a:spcPts val="0"/>
                        </a:spcBef>
                        <a:spcAft>
                          <a:spcPts val="0"/>
                        </a:spcAft>
                        <a:buNone/>
                      </a:pPr>
                      <a:r>
                        <a:rPr lang="en" sz="1200"/>
                        <a:t>Exemplos com poucas demonstrações (few-shot)</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Exemplos de como a resposta deve ser para um determinado prompt. Também chamados de "modelos" ou "amostras".	</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Input:Estou tentando calcular quantas bolas de golfe cabem em uma caixa de um metro cúbico. Eu converti um metro cúbico para cm³ e dividi pelo volume de uma bola de golfe em cm³, mas o sistema diz que minha resposta está errada.</a:t>
                      </a:r>
                      <a:endParaRPr sz="1200"/>
                    </a:p>
                    <a:p>
                      <a:pPr indent="0" lvl="0" marL="0" rtl="0" algn="l">
                        <a:spcBef>
                          <a:spcPts val="0"/>
                        </a:spcBef>
                        <a:spcAft>
                          <a:spcPts val="0"/>
                        </a:spcAft>
                        <a:buNone/>
                      </a:pPr>
                      <a:r>
                        <a:rPr lang="en" sz="1200"/>
                        <a:t>Output: Bolas de golfe são esferas e não podem ser empacotadas em um espaço com eficiência perfeita. Seus cálculos precisam considerar a eficiência máxima de empacotamento de esferas.</a:t>
                      </a:r>
                      <a:endParaRPr sz="1200"/>
                    </a:p>
                  </a:txBody>
                  <a:tcPr marT="91425" marB="91425" marR="91425" marL="91425">
                    <a:solidFill>
                      <a:schemeClr val="lt1"/>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graphicFrame>
        <p:nvGraphicFramePr>
          <p:cNvPr id="322" name="Google Shape;322;p42"/>
          <p:cNvGraphicFramePr/>
          <p:nvPr/>
        </p:nvGraphicFramePr>
        <p:xfrm>
          <a:off x="252150" y="1169725"/>
          <a:ext cx="3000000" cy="3000000"/>
        </p:xfrm>
        <a:graphic>
          <a:graphicData uri="http://schemas.openxmlformats.org/drawingml/2006/table">
            <a:tbl>
              <a:tblPr>
                <a:noFill/>
                <a:tableStyleId>{ECB503CE-ACA1-4B57-948A-1F9154124A7F}</a:tableStyleId>
              </a:tblPr>
              <a:tblGrid>
                <a:gridCol w="1237075"/>
                <a:gridCol w="3447300"/>
                <a:gridCol w="3908525"/>
              </a:tblGrid>
              <a:tr h="381000">
                <a:tc>
                  <a:txBody>
                    <a:bodyPr/>
                    <a:lstStyle/>
                    <a:p>
                      <a:pPr indent="0" lvl="0" marL="0" rtl="0" algn="l">
                        <a:spcBef>
                          <a:spcPts val="0"/>
                        </a:spcBef>
                        <a:spcAft>
                          <a:spcPts val="0"/>
                        </a:spcAft>
                        <a:buNone/>
                      </a:pPr>
                      <a:r>
                        <a:rPr b="1" lang="en" sz="1300"/>
                        <a:t>Componente</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Descrição</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Exemplo</a:t>
                      </a:r>
                      <a:endParaRPr b="1" sz="1300"/>
                    </a:p>
                  </a:txBody>
                  <a:tcPr marT="91425" marB="91425" marR="91425" marL="91425">
                    <a:solidFill>
                      <a:srgbClr val="CCCCCC"/>
                    </a:solidFill>
                  </a:tcPr>
                </a:tc>
              </a:tr>
              <a:tr h="381000">
                <a:tc>
                  <a:txBody>
                    <a:bodyPr/>
                    <a:lstStyle/>
                    <a:p>
                      <a:pPr indent="0" lvl="0" marL="0" rtl="0" algn="l">
                        <a:spcBef>
                          <a:spcPts val="0"/>
                        </a:spcBef>
                        <a:spcAft>
                          <a:spcPts val="0"/>
                        </a:spcAft>
                        <a:buNone/>
                      </a:pPr>
                      <a:r>
                        <a:rPr lang="en" sz="1200"/>
                        <a:t>Passos de raciocínio	</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Pedir ao modelo para explicar seu raciocínio. Isso pode, por vezes, melhorar a capacidade de raciocínio do modelo. Também chamado de "passos de pensamento".	</a:t>
                      </a:r>
                      <a:endParaRPr sz="1200"/>
                    </a:p>
                  </a:txBody>
                  <a:tcPr marT="91425" marB="91425" marR="91425" marL="91425">
                    <a:solidFill>
                      <a:schemeClr val="lt1"/>
                    </a:solidFill>
                  </a:tcPr>
                </a:tc>
                <a:tc>
                  <a:txBody>
                    <a:bodyPr/>
                    <a:lstStyle/>
                    <a:p>
                      <a:pPr indent="0" lvl="0" marL="0" rtl="0" algn="l">
                        <a:spcBef>
                          <a:spcPts val="0"/>
                        </a:spcBef>
                        <a:spcAft>
                          <a:spcPts val="0"/>
                        </a:spcAft>
                        <a:buClr>
                          <a:schemeClr val="dk1"/>
                        </a:buClr>
                        <a:buSzPts val="1100"/>
                        <a:buFont typeface="Arial"/>
                        <a:buNone/>
                      </a:pPr>
                      <a:r>
                        <a:rPr lang="en" sz="1200"/>
                        <a:t>Explique seu raciocínio passo a passo.</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None/>
                      </a:pPr>
                      <a:r>
                        <a:t/>
                      </a:r>
                      <a:endParaRPr sz="1200"/>
                    </a:p>
                  </a:txBody>
                  <a:tcPr marT="91425" marB="91425" marR="91425" marL="91425">
                    <a:solidFill>
                      <a:schemeClr val="lt1"/>
                    </a:solidFill>
                  </a:tcPr>
                </a:tc>
              </a:tr>
              <a:tr h="381000">
                <a:tc>
                  <a:txBody>
                    <a:bodyPr/>
                    <a:lstStyle/>
                    <a:p>
                      <a:pPr indent="0" lvl="0" marL="0" rtl="0" algn="l">
                        <a:spcBef>
                          <a:spcPts val="0"/>
                        </a:spcBef>
                        <a:spcAft>
                          <a:spcPts val="0"/>
                        </a:spcAft>
                        <a:buNone/>
                      </a:pPr>
                      <a:r>
                        <a:rPr lang="en" sz="1200"/>
                        <a:t>Formato da resposta	</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O formato no qual você deseja que a resposta seja entregue. Por exemplo, você pode dizer ao modelo para gerar a resposta em JSON, tabela, Markdown, parágrafo, lista de marcadores, palavras-chave, etc.</a:t>
                      </a:r>
                      <a:endParaRPr sz="1200"/>
                    </a:p>
                  </a:txBody>
                  <a:tcPr marT="91425" marB="91425" marR="91425" marL="91425">
                    <a:solidFill>
                      <a:schemeClr val="lt1"/>
                    </a:solidFill>
                  </a:tcPr>
                </a:tc>
                <a:tc>
                  <a:txBody>
                    <a:bodyPr/>
                    <a:lstStyle/>
                    <a:p>
                      <a:pPr indent="0" lvl="0" marL="0" rtl="0" algn="l">
                        <a:spcBef>
                          <a:spcPts val="0"/>
                        </a:spcBef>
                        <a:spcAft>
                          <a:spcPts val="0"/>
                        </a:spcAft>
                        <a:buClr>
                          <a:schemeClr val="dk1"/>
                        </a:buClr>
                        <a:buSzPts val="1100"/>
                        <a:buFont typeface="Arial"/>
                        <a:buNone/>
                      </a:pPr>
                      <a:r>
                        <a:rPr lang="en" sz="1200"/>
                        <a:t>Formate sua resposta em Markdown.</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None/>
                      </a:pPr>
                      <a:r>
                        <a:t/>
                      </a:r>
                      <a:endParaRPr sz="1200"/>
                    </a:p>
                  </a:txBody>
                  <a:tcPr marT="91425" marB="91425" marR="91425" marL="91425">
                    <a:solidFill>
                      <a:schemeClr val="lt1"/>
                    </a:solidFill>
                  </a:tcPr>
                </a:tc>
              </a:tr>
              <a:tr h="381000">
                <a:tc>
                  <a:txBody>
                    <a:bodyPr/>
                    <a:lstStyle/>
                    <a:p>
                      <a:pPr indent="0" lvl="0" marL="0" rtl="0" algn="l">
                        <a:spcBef>
                          <a:spcPts val="0"/>
                        </a:spcBef>
                        <a:spcAft>
                          <a:spcPts val="0"/>
                        </a:spcAft>
                        <a:buNone/>
                      </a:pPr>
                      <a:r>
                        <a:rPr lang="en" sz="1200"/>
                        <a:t>Recapitulação</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Repetição concisa dos pontos-chave do prompt, especialmente as restrições e o formato da resposta, no final do prompt.	</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Não dê a resposta diretamente e, em vez disso, forneça dicas. Sempre formate sua resposta em Markdown.</a:t>
                      </a:r>
                      <a:endParaRPr sz="1200"/>
                    </a:p>
                  </a:txBody>
                  <a:tcPr marT="91425" marB="91425" marR="91425" marL="91425">
                    <a:solidFill>
                      <a:schemeClr val="lt1"/>
                    </a:solidFill>
                  </a:tcPr>
                </a:tc>
              </a:tr>
              <a:tr h="381000">
                <a:tc>
                  <a:txBody>
                    <a:bodyPr/>
                    <a:lstStyle/>
                    <a:p>
                      <a:pPr indent="0" lvl="0" marL="0" rtl="0" algn="l">
                        <a:spcBef>
                          <a:spcPts val="0"/>
                        </a:spcBef>
                        <a:spcAft>
                          <a:spcPts val="0"/>
                        </a:spcAft>
                        <a:buNone/>
                      </a:pPr>
                      <a:r>
                        <a:rPr lang="en" sz="1200"/>
                        <a:t>Salvaguardas</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Ancora as perguntas na missão do bot. Também chamado de "regras de segurança".	</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Sua missão/ objetivo </a:t>
                      </a:r>
                      <a:r>
                        <a:rPr lang="en" sz="1200"/>
                        <a:t>central</a:t>
                      </a:r>
                      <a:r>
                        <a:rPr lang="en" sz="1200"/>
                        <a:t> é responder apenas dentro do escopo do contexto </a:t>
                      </a:r>
                      <a:endParaRPr sz="1200"/>
                    </a:p>
                  </a:txBody>
                  <a:tcPr marT="91425" marB="91425" marR="91425" marL="91425">
                    <a:solidFill>
                      <a:schemeClr val="lt1"/>
                    </a:solidFill>
                  </a:tcPr>
                </a:tc>
              </a:tr>
            </a:tbl>
          </a:graphicData>
        </a:graphic>
      </p:graphicFrame>
      <p:sp>
        <p:nvSpPr>
          <p:cNvPr id="323" name="Google Shape;323;p42"/>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24" name="Google Shape;324;p42"/>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325" name="Google Shape;325;p42"/>
          <p:cNvSpPr txBox="1"/>
          <p:nvPr/>
        </p:nvSpPr>
        <p:spPr>
          <a:xfrm>
            <a:off x="279450" y="798275"/>
            <a:ext cx="7094100" cy="277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Componentes Opcionais</a:t>
            </a:r>
            <a:endParaRPr sz="1200">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3"/>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31" name="Google Shape;331;p43"/>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32" name="Google Shape;332;p43"/>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33" name="Google Shape;333;p43"/>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34" name="Google Shape;334;p43"/>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35" name="Google Shape;335;p43"/>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336" name="Google Shape;336;p43"/>
          <p:cNvSpPr txBox="1"/>
          <p:nvPr/>
        </p:nvSpPr>
        <p:spPr>
          <a:xfrm>
            <a:off x="279450" y="798275"/>
            <a:ext cx="7094100" cy="2511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Estruturação</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A forma como você </a:t>
            </a:r>
            <a:r>
              <a:rPr b="1" lang="en" sz="1200">
                <a:latin typeface="Open Sans"/>
                <a:ea typeface="Open Sans"/>
                <a:cs typeface="Open Sans"/>
                <a:sym typeface="Open Sans"/>
              </a:rPr>
              <a:t>estrutura um prompt</a:t>
            </a:r>
            <a:r>
              <a:rPr lang="en" sz="1200">
                <a:latin typeface="Open Sans"/>
                <a:ea typeface="Open Sans"/>
                <a:cs typeface="Open Sans"/>
                <a:sym typeface="Open Sans"/>
              </a:rPr>
              <a:t> pode afetar a capacidade do modelo de analisar as informações contidas nele. Isso também ajuda o modelo a interpretar corretamente como usar as informações fornecidas. Para dar estrutura a um prompt, você pode </a:t>
            </a:r>
            <a:r>
              <a:rPr b="1" lang="en" sz="1200">
                <a:latin typeface="Open Sans"/>
                <a:ea typeface="Open Sans"/>
                <a:cs typeface="Open Sans"/>
                <a:sym typeface="Open Sans"/>
              </a:rPr>
              <a:t>usar prefixos ou tags XML</a:t>
            </a:r>
            <a:r>
              <a:rPr lang="en" sz="1200">
                <a:latin typeface="Open Sans"/>
                <a:ea typeface="Open Sans"/>
                <a:cs typeface="Open Sans"/>
                <a:sym typeface="Open Sans"/>
              </a:rPr>
              <a:t> para delimitar diferentes partes ou componentes de um prompt.</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Use prefixos para estruturar prompts simples. Um prefixo é uma palavra ou frase seguida por dois pontos para rotular a informação em um prompt.</a:t>
            </a:r>
            <a:endParaRPr sz="1200">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4"/>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42" name="Google Shape;342;p44"/>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43" name="Google Shape;343;p44"/>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44" name="Google Shape;344;p44"/>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45" name="Google Shape;345;p44"/>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46" name="Google Shape;346;p44"/>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347" name="Google Shape;347;p44"/>
          <p:cNvSpPr txBox="1"/>
          <p:nvPr/>
        </p:nvSpPr>
        <p:spPr>
          <a:xfrm>
            <a:off x="279450" y="798275"/>
            <a:ext cx="7094100" cy="22533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Estruturação</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No exemplo a seguir, "TAREFA:", "CLASSES:" e "OBJETOS:" são os prefixos:</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Prompt:						Resposta:</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pic>
        <p:nvPicPr>
          <p:cNvPr id="348" name="Google Shape;348;p44"/>
          <p:cNvPicPr preferRelativeResize="0"/>
          <p:nvPr/>
        </p:nvPicPr>
        <p:blipFill>
          <a:blip r:embed="rId5">
            <a:alphaModFix/>
          </a:blip>
          <a:stretch>
            <a:fillRect/>
          </a:stretch>
        </p:blipFill>
        <p:spPr>
          <a:xfrm>
            <a:off x="279450" y="2083900"/>
            <a:ext cx="1560625" cy="2521550"/>
          </a:xfrm>
          <a:prstGeom prst="rect">
            <a:avLst/>
          </a:prstGeom>
          <a:noFill/>
          <a:ln>
            <a:noFill/>
          </a:ln>
        </p:spPr>
      </p:pic>
      <p:pic>
        <p:nvPicPr>
          <p:cNvPr id="349" name="Google Shape;349;p44"/>
          <p:cNvPicPr preferRelativeResize="0"/>
          <p:nvPr/>
        </p:nvPicPr>
        <p:blipFill>
          <a:blip r:embed="rId6">
            <a:alphaModFix/>
          </a:blip>
          <a:stretch>
            <a:fillRect/>
          </a:stretch>
        </p:blipFill>
        <p:spPr>
          <a:xfrm>
            <a:off x="3465825" y="2083900"/>
            <a:ext cx="2019300" cy="12382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5"/>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55" name="Google Shape;355;p45"/>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56" name="Google Shape;356;p45"/>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57" name="Google Shape;357;p45"/>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58" name="Google Shape;358;p45"/>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59" name="Google Shape;359;p45"/>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360" name="Google Shape;360;p45"/>
          <p:cNvSpPr txBox="1"/>
          <p:nvPr/>
        </p:nvSpPr>
        <p:spPr>
          <a:xfrm>
            <a:off x="279450" y="798275"/>
            <a:ext cx="7094100" cy="14775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Estruturação</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Para prompts complexos, use XML e outros delimitadores para separar os componentes de um prompt. Você pode usar os delimitadores de seção BEGIN e END ou {} para componentes de prompt complexos e longos, a fim de distingui-los claramente das instruções reais.</a:t>
            </a:r>
            <a:endParaRPr sz="1200">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6"/>
          <p:cNvSpPr txBox="1"/>
          <p:nvPr/>
        </p:nvSpPr>
        <p:spPr>
          <a:xfrm>
            <a:off x="279450" y="798275"/>
            <a:ext cx="7094100" cy="34413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Estruturação - Exemplo</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Você é um agente de chatbot respondendo às perguntas dos clientes em um chat.</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Sua tarefa é responder à pergunta do cliente usando os dados fornecidos na seção &lt;DADOS&gt;.</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Você pode acessar o histórico de pedidos na seção &lt;PEDIDOS&gt;, incluindo o ID do e-mail e o total do pedido com o resumo do pagamento.</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Consulte &lt;LINHASDEPEDIDO&gt; para obter detalhes em nível de item de cada pedido em &lt;PEDIDOS&gt;.</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Hoje é 29-01-2024</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&lt;DADOS&gt; </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&lt;PEDIDOS&gt; {IdDoPedido|EmailDoCliente|TimestampDeCriação|FoiCancelado|TotalDoPedido|ResumoDoPagamento CC10182|222larabrown@gmail.com|2024-01-19|true|0.0|Não disponível CC10183|baklavainthebalkans@gmail.com|2024-01-19|true|0.0|Não disponível} {...} ... &lt;/PEDIDOS&gt;</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&lt;LINHASDEPEDIDO&gt; IdDoPedido|IdDaLinhaDoPedido|TimestampDeCriação|DescriçãoDoItem|Quantidade|StatusDeProcessamento|DataDeEntregaPrevista |DataDeEntregaReal|DataDeEnvioReal|DataDeEnvioPrevista|InformaçõesDeRastreamento|EndereçoDeEntrega|CódigoDaTransportadora|Méto doDeEntrega|PreçoUnitário|SubtotalDaLinhaDoPedido|CustoDeEnvioDaLinha|ImpostosTotais|Pagamentos CC10182|1||Shorts|0. 0|não enviado|2024-01-31|2024-02-01|2024-01-30|2024-01-29||||EndereçoDeEntrega|115.99|0.0|0.0|0.0| ... </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&lt;/LINHASDEPEDIDO&gt; </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&lt;/DADOS&gt;</a:t>
            </a:r>
            <a:endParaRPr sz="1200">
              <a:latin typeface="Open Sans"/>
              <a:ea typeface="Open Sans"/>
              <a:cs typeface="Open Sans"/>
              <a:sym typeface="Open Sans"/>
            </a:endParaRPr>
          </a:p>
        </p:txBody>
      </p:sp>
      <p:sp>
        <p:nvSpPr>
          <p:cNvPr id="366" name="Google Shape;366;p46"/>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67" name="Google Shape;367;p46"/>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68" name="Google Shape;368;p46"/>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69" name="Google Shape;369;p46"/>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70" name="Google Shape;370;p46"/>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71" name="Google Shape;371;p46"/>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7"/>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77" name="Google Shape;377;p47"/>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78" name="Google Shape;378;p47"/>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79" name="Google Shape;379;p47"/>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80" name="Google Shape;380;p47"/>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81" name="Google Shape;381;p47"/>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382" name="Google Shape;382;p47"/>
          <p:cNvSpPr txBox="1"/>
          <p:nvPr/>
        </p:nvSpPr>
        <p:spPr>
          <a:xfrm>
            <a:off x="279450" y="798275"/>
            <a:ext cx="7094100" cy="31581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Estruturação - Exemplo</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&lt;INSTRUÇÕES&gt;</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Se não houver dados que possam ajudar a responder à pergunta, responda com "Não tenho esta</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informação. Por favor, entre em contato com o atendimento ao cliente".</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Você tem permissão para fazer uma pergunta de acompanhamento se isso ajudar a restringir a linha de dados à qual o cliente possa</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estar se referindo.</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Você só pode responder a perguntas relacionadas ao histórico de pedidos e ao valor cobrado por eles. Inclua o IdDoPedido</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na resposta, quando aplicável.</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Para todo o resto, por favor, redirecione para o agente de atendimento ao cliente.</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Responda em português claro e nenhuma fonte é necessária.</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O chat com o cliente até agora está na seção CHAT.</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&lt;/INSTRUÇÕES&gt;</a:t>
            </a:r>
            <a:endParaRPr sz="800">
              <a:latin typeface="Open Sans"/>
              <a:ea typeface="Open Sans"/>
              <a:cs typeface="Open Sans"/>
              <a:sym typeface="Open Sans"/>
            </a:endParaRPr>
          </a:p>
          <a:p>
            <a:pPr indent="0" lvl="0" marL="0" rtl="0" algn="l">
              <a:lnSpc>
                <a:spcPct val="139984"/>
              </a:lnSpc>
              <a:spcBef>
                <a:spcPts val="0"/>
              </a:spcBef>
              <a:spcAft>
                <a:spcPts val="0"/>
              </a:spcAft>
              <a:buNone/>
            </a:pPr>
            <a:r>
              <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PERGUNTA: Quanto paguei pelo meu último pedido?</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RESPOSTA:</a:t>
            </a:r>
            <a:endParaRPr sz="8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8"/>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88" name="Google Shape;388;p48"/>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89" name="Google Shape;389;p48"/>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90" name="Google Shape;390;p48"/>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91" name="Google Shape;391;p48"/>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92" name="Google Shape;392;p48"/>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393" name="Google Shape;393;p48"/>
          <p:cNvSpPr txBox="1"/>
          <p:nvPr/>
        </p:nvSpPr>
        <p:spPr>
          <a:xfrm>
            <a:off x="279450" y="798275"/>
            <a:ext cx="6921600" cy="3546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500">
                <a:solidFill>
                  <a:schemeClr val="dk2"/>
                </a:solidFill>
                <a:latin typeface="Open Sans"/>
                <a:ea typeface="Open Sans"/>
                <a:cs typeface="Open Sans"/>
                <a:sym typeface="Open Sans"/>
              </a:rPr>
              <a:t>Estratégias de prompting - </a:t>
            </a:r>
            <a:r>
              <a:rPr b="1" lang="en" sz="1500">
                <a:solidFill>
                  <a:schemeClr val="dk2"/>
                </a:solidFill>
                <a:latin typeface="Open Sans"/>
                <a:ea typeface="Open Sans"/>
                <a:cs typeface="Open Sans"/>
                <a:sym typeface="Open Sans"/>
              </a:rPr>
              <a:t>Divida tarefas complexas em prompts mais simples.</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Para tarefas complexas que exigem </a:t>
            </a:r>
            <a:r>
              <a:rPr b="1" lang="en" sz="1200">
                <a:latin typeface="Open Sans"/>
                <a:ea typeface="Open Sans"/>
                <a:cs typeface="Open Sans"/>
                <a:sym typeface="Open Sans"/>
              </a:rPr>
              <a:t>múltiplas instruções ou etapas</a:t>
            </a:r>
            <a:r>
              <a:rPr lang="en" sz="1200">
                <a:latin typeface="Open Sans"/>
                <a:ea typeface="Open Sans"/>
                <a:cs typeface="Open Sans"/>
                <a:sym typeface="Open Sans"/>
              </a:rPr>
              <a:t>, você pode melhorar as respostas do modelo </a:t>
            </a:r>
            <a:r>
              <a:rPr b="1" lang="en" sz="1200">
                <a:latin typeface="Open Sans"/>
                <a:ea typeface="Open Sans"/>
                <a:cs typeface="Open Sans"/>
                <a:sym typeface="Open Sans"/>
              </a:rPr>
              <a:t>dividindo seus prompts em subtarefas</a:t>
            </a:r>
            <a:r>
              <a:rPr lang="en" sz="1200">
                <a:latin typeface="Open Sans"/>
                <a:ea typeface="Open Sans"/>
                <a:cs typeface="Open Sans"/>
                <a:sym typeface="Open Sans"/>
              </a:rPr>
              <a:t>. Prompts menores podem ajudar a melhorar a controlabilidade, a depuração e a precisão.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Existem duas maneiras de dividir prompts complexos e inseri-los em um modelo: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Cadeia de Prompts</a:t>
            </a:r>
            <a:r>
              <a:rPr lang="en" sz="1200">
                <a:latin typeface="Open Sans"/>
                <a:ea typeface="Open Sans"/>
                <a:cs typeface="Open Sans"/>
                <a:sym typeface="Open Sans"/>
              </a:rPr>
              <a:t>: divida uma tarefa em subtarefas e execute as subtarefas sequencialmente.</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Agregar respostas</a:t>
            </a:r>
            <a:r>
              <a:rPr lang="en" sz="1200">
                <a:latin typeface="Open Sans"/>
                <a:ea typeface="Open Sans"/>
                <a:cs typeface="Open Sans"/>
                <a:sym typeface="Open Sans"/>
              </a:rPr>
              <a:t>: divida uma tarefa em subtarefas e execute as subtarefas em paralelo.</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9"/>
          <p:cNvSpPr txBox="1"/>
          <p:nvPr/>
        </p:nvSpPr>
        <p:spPr>
          <a:xfrm>
            <a:off x="279450" y="798275"/>
            <a:ext cx="6921600" cy="31581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Cadeia de Prompts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P</a:t>
            </a:r>
            <a:r>
              <a:rPr lang="en" sz="1200">
                <a:latin typeface="Open Sans"/>
                <a:ea typeface="Open Sans"/>
                <a:cs typeface="Open Sans"/>
                <a:sym typeface="Open Sans"/>
              </a:rPr>
              <a:t>ara tarefas complexas que envolvem múltiplas etapas sequenciais, transforme </a:t>
            </a:r>
            <a:r>
              <a:rPr b="1" lang="en" sz="1200">
                <a:latin typeface="Open Sans"/>
                <a:ea typeface="Open Sans"/>
                <a:cs typeface="Open Sans"/>
                <a:sym typeface="Open Sans"/>
              </a:rPr>
              <a:t>cada etapa em um prompt</a:t>
            </a:r>
            <a:r>
              <a:rPr lang="en" sz="1200">
                <a:latin typeface="Open Sans"/>
                <a:ea typeface="Open Sans"/>
                <a:cs typeface="Open Sans"/>
                <a:sym typeface="Open Sans"/>
              </a:rPr>
              <a:t> e </a:t>
            </a:r>
            <a:r>
              <a:rPr b="1" lang="en" sz="1200">
                <a:latin typeface="Open Sans"/>
                <a:ea typeface="Open Sans"/>
                <a:cs typeface="Open Sans"/>
                <a:sym typeface="Open Sans"/>
              </a:rPr>
              <a:t>encadeie os prompts em uma sequência</a:t>
            </a:r>
            <a:r>
              <a:rPr lang="en" sz="1200">
                <a:latin typeface="Open Sans"/>
                <a:ea typeface="Open Sans"/>
                <a:cs typeface="Open Sans"/>
                <a:sym typeface="Open Sans"/>
              </a:rPr>
              <a:t>. Nesta cadeia sequencial de prompts, a saída de um prompt na sequência se torna a entrada do próximo prompt. A saída do último prompt na sequência é a saída final.</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b="1"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Por exemplo</a:t>
            </a:r>
            <a:r>
              <a:rPr lang="en" sz="1200">
                <a:latin typeface="Open Sans"/>
                <a:ea typeface="Open Sans"/>
                <a:cs typeface="Open Sans"/>
                <a:sym typeface="Open Sans"/>
              </a:rPr>
              <a:t>, suponha que você administre uma empresa de telecomunicações e queira usar um modelo para ajudá-lo a analisar o feedback dos clientes para identificar problemas comuns, classificar os problemas em categorias e gerar soluções para as categorias de problemas.</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399" name="Google Shape;399;p49"/>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00" name="Google Shape;400;p49"/>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01" name="Google Shape;401;p49"/>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02" name="Google Shape;402;p49"/>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03" name="Google Shape;403;p49"/>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04" name="Google Shape;404;p49"/>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0"/>
          <p:cNvSpPr txBox="1"/>
          <p:nvPr/>
        </p:nvSpPr>
        <p:spPr>
          <a:xfrm>
            <a:off x="279450" y="798275"/>
            <a:ext cx="7180500" cy="3933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Cadeia de Prompts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Prompt 1:  Identificar os problemas dos clientes</a:t>
            </a:r>
            <a:endParaRPr b="1"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A primeira tarefa que você deseja que o modelo conclua é extrair dados significativos do feedback bruto dos clientes. Um prompt que realiza essa tarefa pode ser semelhante ao seguinte, onde FEEDBACK_DO_CLIENTE é um arquivo que contém o feedback do cliente:</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a:t>
            </a:r>
            <a:r>
              <a:rPr lang="en" sz="1000">
                <a:latin typeface="Open Sans"/>
                <a:ea typeface="Open Sans"/>
                <a:cs typeface="Open Sans"/>
                <a:sym typeface="Open Sans"/>
              </a:rPr>
              <a:t>Extraia os principais problemas e sentimentos do feedback dos clientes sobre nossos serviços de telecomunicações.</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000">
                <a:latin typeface="Open Sans"/>
                <a:ea typeface="Open Sans"/>
                <a:cs typeface="Open Sans"/>
                <a:sym typeface="Open Sans"/>
              </a:rPr>
              <a:t>Concentre-se em comentários relacionados a interrupções de serviço, problemas de faturamento e interações com o suporte ao cliente.</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000">
                <a:latin typeface="Open Sans"/>
                <a:ea typeface="Open Sans"/>
                <a:cs typeface="Open Sans"/>
                <a:sym typeface="Open Sans"/>
              </a:rPr>
              <a:t>Por favor, formate a saída em uma lista com cada problema/sentimento em uma frase, separados por ponto e vírgula.</a:t>
            </a:r>
            <a:endParaRPr sz="1000">
              <a:latin typeface="Open Sans"/>
              <a:ea typeface="Open Sans"/>
              <a:cs typeface="Open Sans"/>
              <a:sym typeface="Open Sans"/>
            </a:endParaRPr>
          </a:p>
          <a:p>
            <a:pPr indent="0" lvl="0" marL="0" rtl="0" algn="l">
              <a:lnSpc>
                <a:spcPct val="139984"/>
              </a:lnSpc>
              <a:spcBef>
                <a:spcPts val="0"/>
              </a:spcBef>
              <a:spcAft>
                <a:spcPts val="0"/>
              </a:spcAft>
              <a:buNone/>
            </a:pPr>
            <a:r>
              <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000">
                <a:latin typeface="Open Sans"/>
                <a:ea typeface="Open Sans"/>
                <a:cs typeface="Open Sans"/>
                <a:sym typeface="Open Sans"/>
              </a:rPr>
              <a:t>Entrada: FEEDBACK_DO_CLIENTE”</a:t>
            </a:r>
            <a:endParaRPr sz="1000">
              <a:latin typeface="Open Sans"/>
              <a:ea typeface="Open Sans"/>
              <a:cs typeface="Open Sans"/>
              <a:sym typeface="Open Sans"/>
            </a:endParaRPr>
          </a:p>
          <a:p>
            <a:pPr indent="0" lvl="0" marL="0" rtl="0" algn="l">
              <a:lnSpc>
                <a:spcPct val="139984"/>
              </a:lnSpc>
              <a:spcBef>
                <a:spcPts val="0"/>
              </a:spcBef>
              <a:spcAft>
                <a:spcPts val="0"/>
              </a:spcAft>
              <a:buNone/>
            </a:pPr>
            <a:r>
              <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Espera-se que a resposta do modelo contenha uma lista dos problemas e sentimentos do feedback do cliente</a:t>
            </a:r>
            <a:endParaRPr sz="1200">
              <a:latin typeface="Open Sans"/>
              <a:ea typeface="Open Sans"/>
              <a:cs typeface="Open Sans"/>
              <a:sym typeface="Open Sans"/>
            </a:endParaRPr>
          </a:p>
        </p:txBody>
      </p:sp>
      <p:sp>
        <p:nvSpPr>
          <p:cNvPr id="410" name="Google Shape;410;p50"/>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11" name="Google Shape;411;p50"/>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12" name="Google Shape;412;p50"/>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13" name="Google Shape;413;p50"/>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14" name="Google Shape;414;p50"/>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15" name="Google Shape;415;p50"/>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1"/>
          <p:cNvSpPr txBox="1"/>
          <p:nvPr/>
        </p:nvSpPr>
        <p:spPr>
          <a:xfrm>
            <a:off x="279450" y="798275"/>
            <a:ext cx="7180500" cy="37185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Cadeia de Prompts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Prompt 2:  C</a:t>
            </a:r>
            <a:r>
              <a:rPr b="1" lang="en" sz="1200">
                <a:latin typeface="Open Sans"/>
                <a:ea typeface="Open Sans"/>
                <a:cs typeface="Open Sans"/>
                <a:sym typeface="Open Sans"/>
              </a:rPr>
              <a:t>lassificar problemas em categorias</a:t>
            </a:r>
            <a:endParaRPr b="1"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Em seguida, você deseja instruir o modelo a classificar os dados em categorias para que possa entender os tipos de problemas que os clientes enfrentam, usando a resposta da tarefa anterior. Um prompt que realiza essa tarefa pode ser semelhante ao seguinte, onde RESPOSTA_DA_TAREFA_1 é a resposta da tarefa anterior:</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a:t>
            </a:r>
            <a:r>
              <a:rPr lang="en" sz="1000">
                <a:latin typeface="Open Sans"/>
                <a:ea typeface="Open Sans"/>
                <a:cs typeface="Open Sans"/>
                <a:sym typeface="Open Sans"/>
              </a:rPr>
              <a:t>Classifique os problemas extraídos em categorias como confiabilidade do serviço, preocupações com preços, qualidade do suporte ao cliente e outras.</a:t>
            </a:r>
            <a:endParaRPr sz="10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000">
                <a:latin typeface="Open Sans"/>
                <a:ea typeface="Open Sans"/>
                <a:cs typeface="Open Sans"/>
                <a:sym typeface="Open Sans"/>
              </a:rPr>
              <a:t>Por favor, organize a saída em formato JSON com cada problema como a chave (key) e a categoria como o valor (value).</a:t>
            </a:r>
            <a:endParaRPr sz="10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0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000">
                <a:latin typeface="Open Sans"/>
                <a:ea typeface="Open Sans"/>
                <a:cs typeface="Open Sans"/>
                <a:sym typeface="Open Sans"/>
              </a:rPr>
              <a:t>Entrada: RESPOSTA_DA_TAREFA_1</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000">
                <a:latin typeface="Open Sans"/>
                <a:ea typeface="Open Sans"/>
                <a:cs typeface="Open Sans"/>
                <a:sym typeface="Open Sans"/>
              </a:rPr>
              <a:t>”</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Espera-se </a:t>
            </a:r>
            <a:r>
              <a:rPr lang="en" sz="1200">
                <a:latin typeface="Open Sans"/>
                <a:ea typeface="Open Sans"/>
                <a:cs typeface="Open Sans"/>
                <a:sym typeface="Open Sans"/>
              </a:rPr>
              <a:t>que a resposta do modelo contenha os problemas categorizados.</a:t>
            </a:r>
            <a:endParaRPr sz="1200">
              <a:latin typeface="Open Sans"/>
              <a:ea typeface="Open Sans"/>
              <a:cs typeface="Open Sans"/>
              <a:sym typeface="Open Sans"/>
            </a:endParaRPr>
          </a:p>
        </p:txBody>
      </p:sp>
      <p:sp>
        <p:nvSpPr>
          <p:cNvPr id="421" name="Google Shape;421;p51"/>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22" name="Google Shape;422;p51"/>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23" name="Google Shape;423;p51"/>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24" name="Google Shape;424;p51"/>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25" name="Google Shape;425;p51"/>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26" name="Google Shape;426;p51"/>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2"/>
          <p:cNvSpPr txBox="1"/>
          <p:nvPr/>
        </p:nvSpPr>
        <p:spPr>
          <a:xfrm>
            <a:off x="279450" y="798275"/>
            <a:ext cx="7260000" cy="3933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Cadeia de Prompts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0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Prompt 3:  G</a:t>
            </a:r>
            <a:r>
              <a:rPr b="1" lang="en" sz="1200">
                <a:latin typeface="Open Sans"/>
                <a:ea typeface="Open Sans"/>
                <a:cs typeface="Open Sans"/>
                <a:sym typeface="Open Sans"/>
              </a:rPr>
              <a:t>erar soluções</a:t>
            </a:r>
            <a:endParaRPr b="1"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Agora, você deseja instruir o modelo a gerar recomendações acionáveis com base nos problemas categorizados para melhorar a satisfação do cliente, usando a resposta da tarefa anterior. Um prompt que realiza essa tarefa pode ser semelhante ao seguinte, onde RESPOSTA_DA_TAREFA_2 é a resposta da tarefa anterior:</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a:t>
            </a:r>
            <a:r>
              <a:rPr lang="en" sz="1000">
                <a:latin typeface="Open Sans"/>
                <a:ea typeface="Open Sans"/>
                <a:cs typeface="Open Sans"/>
                <a:sym typeface="Open Sans"/>
              </a:rPr>
              <a:t>Gere recomendações detalhadas para cada categoria de problemas identificada a partir do feedback.</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000">
                <a:latin typeface="Open Sans"/>
                <a:ea typeface="Open Sans"/>
                <a:cs typeface="Open Sans"/>
                <a:sym typeface="Open Sans"/>
              </a:rPr>
              <a:t>Sugira ações específicas para abordar a confiabilidade do serviço, melhorar o suporte ao cliente e ajustar os modelos de precificação, se necessário.</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000">
                <a:latin typeface="Open Sans"/>
                <a:ea typeface="Open Sans"/>
                <a:cs typeface="Open Sans"/>
                <a:sym typeface="Open Sans"/>
              </a:rPr>
              <a:t>Por favor, organize a saída em formato JSON com cada categoria como a chave (key), e a recomendação como o valor (value).</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000">
                <a:latin typeface="Open Sans"/>
                <a:ea typeface="Open Sans"/>
                <a:cs typeface="Open Sans"/>
                <a:sym typeface="Open Sans"/>
              </a:rPr>
              <a:t>”</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Espera-se que a resposta do modelo contenha recomendações para cada categoria, com o objetivo de melhorar a experiência do cliente e a qualidade do serviço, o que satisfaz nosso objetivo geral.</a:t>
            </a:r>
            <a:endParaRPr sz="1200">
              <a:latin typeface="Open Sans"/>
              <a:ea typeface="Open Sans"/>
              <a:cs typeface="Open Sans"/>
              <a:sym typeface="Open Sans"/>
            </a:endParaRPr>
          </a:p>
        </p:txBody>
      </p:sp>
      <p:sp>
        <p:nvSpPr>
          <p:cNvPr id="432" name="Google Shape;432;p52"/>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33" name="Google Shape;433;p52"/>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34" name="Google Shape;434;p52"/>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35" name="Google Shape;435;p52"/>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36" name="Google Shape;436;p52"/>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37" name="Google Shape;437;p52"/>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3"/>
          <p:cNvSpPr txBox="1"/>
          <p:nvPr/>
        </p:nvSpPr>
        <p:spPr>
          <a:xfrm>
            <a:off x="279450" y="798275"/>
            <a:ext cx="7260000" cy="2598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Agregar respostas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0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Em casos em que você tem tarefas complexas, mas não precisa executá-las em uma </a:t>
            </a:r>
            <a:r>
              <a:rPr b="1" lang="en" sz="1200">
                <a:latin typeface="Open Sans"/>
                <a:ea typeface="Open Sans"/>
                <a:cs typeface="Open Sans"/>
                <a:sym typeface="Open Sans"/>
              </a:rPr>
              <a:t>ordem específica, </a:t>
            </a:r>
            <a:r>
              <a:rPr lang="en" sz="1200">
                <a:latin typeface="Open Sans"/>
                <a:ea typeface="Open Sans"/>
                <a:cs typeface="Open Sans"/>
                <a:sym typeface="Open Sans"/>
              </a:rPr>
              <a:t>você pode rodar prompts paralelos e agregar as respostas do modelo.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Por exemplo</a:t>
            </a:r>
            <a:r>
              <a:rPr lang="en" sz="1200">
                <a:latin typeface="Open Sans"/>
                <a:ea typeface="Open Sans"/>
                <a:cs typeface="Open Sans"/>
                <a:sym typeface="Open Sans"/>
              </a:rPr>
              <a:t>, suponha que você possua uma loja de discos e queira usar um modelo para ajudá-lo a decidir quais discos estocar com base nas tendências de streaming de música e nos dados de vendas da sua loja.</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443" name="Google Shape;443;p53"/>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44" name="Google Shape;444;p53"/>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45" name="Google Shape;445;p53"/>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46" name="Google Shape;446;p53"/>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47" name="Google Shape;447;p53"/>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48" name="Google Shape;448;p53"/>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4"/>
          <p:cNvSpPr txBox="1"/>
          <p:nvPr/>
        </p:nvSpPr>
        <p:spPr>
          <a:xfrm>
            <a:off x="279450" y="798275"/>
            <a:ext cx="7260000" cy="4407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Agregar respostas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0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O objetivo é decidir quais discos comprar com base em dados de vendas e tendências de streaming.</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Análise em Paralelo</a:t>
            </a:r>
            <a:r>
              <a:rPr lang="en" sz="1200">
                <a:latin typeface="Open Sans"/>
                <a:ea typeface="Open Sans"/>
                <a:cs typeface="Open Sans"/>
                <a:sym typeface="Open Sans"/>
              </a:rPr>
              <a:t> (Tarefas Simultâneas):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Tarefa A: Analisar os dados de vendas da loja para listar os discos mais vendidos.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Tarefa B: Analisar os dados de plataformas de streaming para identificar os álbuns mais ouvidos.</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Agregação dos Resultados</a:t>
            </a:r>
            <a:r>
              <a:rPr lang="en" sz="1200">
                <a:latin typeface="Open Sans"/>
                <a:ea typeface="Open Sans"/>
                <a:cs typeface="Open Sans"/>
                <a:sym typeface="Open Sans"/>
              </a:rPr>
              <a:t>:</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Um novo comando (prompt) recebe os resultados das duas análises anteriores.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Resultado Final: O modelo gera uma lista de estoque recomendada com 20 discos, priorizando os mais vendidos (75% da decisão) e complementando com os mais populares em streaming (25% da decisão).</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454" name="Google Shape;454;p54"/>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55" name="Google Shape;455;p54"/>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56" name="Google Shape;456;p54"/>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57" name="Google Shape;457;p54"/>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58" name="Google Shape;458;p54"/>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59" name="Google Shape;459;p54"/>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5"/>
          <p:cNvSpPr txBox="1"/>
          <p:nvPr/>
        </p:nvSpPr>
        <p:spPr>
          <a:xfrm>
            <a:off x="279450" y="798275"/>
            <a:ext cx="7260000" cy="38907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Melhores práticas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0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Recapitulando</a:t>
            </a:r>
            <a:r>
              <a:rPr lang="en" sz="1200">
                <a:latin typeface="Open Sans"/>
                <a:ea typeface="Open Sans"/>
                <a:cs typeface="Open Sans"/>
                <a:sym typeface="Open Sans"/>
              </a:rPr>
              <a:t>, as melhores práticas de design de prompt incluem o seguinte:</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Dê instruções claras e específicas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Inclua exemplos com poucas amostras (few-shot examples)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Atribua um papel (Persona)</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Adicione informações contextuais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Use instruções de sistema</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Estruture os prompts utilizando delimitadores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Instrua o modelo a explicar seu raciocínio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Divida tarefas complexas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Experimente com os valores dos parâmetros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Estratégias de iteração de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465" name="Google Shape;465;p55"/>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66" name="Google Shape;466;p55"/>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67" name="Google Shape;467;p55"/>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68" name="Google Shape;468;p55"/>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69" name="Google Shape;469;p55"/>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70" name="Google Shape;470;p55"/>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6"/>
          <p:cNvSpPr txBox="1"/>
          <p:nvPr/>
        </p:nvSpPr>
        <p:spPr>
          <a:xfrm>
            <a:off x="279450" y="798275"/>
            <a:ext cx="7260000" cy="44511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Checklist de saúde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Se um prompt não está performando como o esperado, use a seguinte lista de verificação para identificar possíveis problemas e melhorar o desempenho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Problemas de Escrita:</a:t>
            </a:r>
            <a:endParaRPr b="1"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Erros de digitação</a:t>
            </a:r>
            <a:r>
              <a:rPr lang="en" sz="1200">
                <a:latin typeface="Open Sans"/>
                <a:ea typeface="Open Sans"/>
                <a:cs typeface="Open Sans"/>
                <a:sym typeface="Open Sans"/>
              </a:rPr>
              <a:t>: Verifique palavras-chave que definem a tarefa (por exemplo, resumir escrito incorretamente), termos técnicos ou nomes de entidades, pois erros de ortografia podem levar a um baixo desempenho.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Gramática</a:t>
            </a:r>
            <a:r>
              <a:rPr lang="en" sz="1200">
                <a:latin typeface="Open Sans"/>
                <a:ea typeface="Open Sans"/>
                <a:cs typeface="Open Sans"/>
                <a:sym typeface="Open Sans"/>
              </a:rPr>
              <a:t>: Se uma frase é difícil de analisar, contém fragmentos desconexos, tem sujeitos e verbos que não concordam, ou parece estruturalmente estranha, o modelo pode não entender o prompt corretamente.</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Pontuação</a:t>
            </a:r>
            <a:r>
              <a:rPr lang="en" sz="1200">
                <a:latin typeface="Open Sans"/>
                <a:ea typeface="Open Sans"/>
                <a:cs typeface="Open Sans"/>
                <a:sym typeface="Open Sans"/>
              </a:rPr>
              <a:t>: Verifique o uso de vírgulas, pontos, aspas e outros separadores, pois a pontuação incorreta pode fazer com que o modelo interprete mal o prompt.</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Uso de jargão não definido</a:t>
            </a:r>
            <a:r>
              <a:rPr lang="en" sz="1200">
                <a:latin typeface="Open Sans"/>
                <a:ea typeface="Open Sans"/>
                <a:cs typeface="Open Sans"/>
                <a:sym typeface="Open Sans"/>
              </a:rPr>
              <a:t>: Evite usar termos específicos de um domínio, acrônimos ou siglas como se tivessem um significado universal, a menos que sejam explicitamente definidos no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476" name="Google Shape;476;p56"/>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77" name="Google Shape;477;p56"/>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78" name="Google Shape;478;p56"/>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79" name="Google Shape;479;p56"/>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80" name="Google Shape;480;p56"/>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81" name="Google Shape;481;p56"/>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7"/>
          <p:cNvSpPr txBox="1"/>
          <p:nvPr/>
        </p:nvSpPr>
        <p:spPr>
          <a:xfrm>
            <a:off x="279450" y="798275"/>
            <a:ext cx="7260000" cy="3933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Checklist de saúde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Clareza</a:t>
            </a:r>
            <a:r>
              <a:rPr lang="en" sz="1200">
                <a:latin typeface="Open Sans"/>
                <a:ea typeface="Open Sans"/>
                <a:cs typeface="Open Sans"/>
                <a:sym typeface="Open Sans"/>
              </a:rPr>
              <a:t>: Se você se pegar questionando o escopo, as etapas específicas a serem seguidas ou as suposições implícitas que estão sendo feitas, o prompt provavelmente não está claro.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Ambiguidade</a:t>
            </a:r>
            <a:r>
              <a:rPr lang="en" sz="1200">
                <a:latin typeface="Open Sans"/>
                <a:ea typeface="Open Sans"/>
                <a:cs typeface="Open Sans"/>
                <a:sym typeface="Open Sans"/>
              </a:rPr>
              <a:t>: Evite usar qualificadores subjetivos ou relativos que não tenham uma definição concreta e mensurável. Em vez disso, forneça restrições objetivas (por exemplo, "escreva um resumo de 3 frases ou menos" em vez de "escreva um resumo breve").</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Falta de informações cruciais</a:t>
            </a:r>
            <a:r>
              <a:rPr lang="en" sz="1200">
                <a:latin typeface="Open Sans"/>
                <a:ea typeface="Open Sans"/>
                <a:cs typeface="Open Sans"/>
                <a:sym typeface="Open Sans"/>
              </a:rPr>
              <a:t>: Se a tarefa requer conhecimento de um documento específico, política da empresa, histórico do usuário ou conjunto de dados, certifique-se de que essa informação esteja explicitamente incluída no prompt.</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Escolha de palavras inadequada</a:t>
            </a:r>
            <a:r>
              <a:rPr lang="en" sz="1200">
                <a:latin typeface="Open Sans"/>
                <a:ea typeface="Open Sans"/>
                <a:cs typeface="Open Sans"/>
                <a:sym typeface="Open Sans"/>
              </a:rPr>
              <a:t>: Verifique se o prompt contém formulações desnecessariamente complexas, vagas ou prolixas, pois isso pode confundir o modelo.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Revisão secundária</a:t>
            </a:r>
            <a:r>
              <a:rPr lang="en" sz="1200">
                <a:latin typeface="Open Sans"/>
                <a:ea typeface="Open Sans"/>
                <a:cs typeface="Open Sans"/>
                <a:sym typeface="Open Sans"/>
              </a:rPr>
              <a:t>: Se o modelo continuar a ter um desempenho ruim, peça para outra pessoa revisar seu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487" name="Google Shape;487;p57"/>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88" name="Google Shape;488;p57"/>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89" name="Google Shape;489;p57"/>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90" name="Google Shape;490;p57"/>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91" name="Google Shape;491;p57"/>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92" name="Google Shape;492;p57"/>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8"/>
          <p:cNvSpPr txBox="1"/>
          <p:nvPr/>
        </p:nvSpPr>
        <p:spPr>
          <a:xfrm>
            <a:off x="279450" y="798275"/>
            <a:ext cx="7260000" cy="44511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Checklist de saúde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Problemas com instruções e exemplos</a:t>
            </a:r>
            <a:r>
              <a:rPr b="1" lang="en" sz="1200">
                <a:latin typeface="Open Sans"/>
                <a:ea typeface="Open Sans"/>
                <a:cs typeface="Open Sans"/>
                <a:sym typeface="Open Sans"/>
              </a:rPr>
              <a:t>:</a:t>
            </a:r>
            <a:endParaRPr b="1"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Manipulação excessiva</a:t>
            </a:r>
            <a:r>
              <a:rPr lang="en" sz="1200">
                <a:latin typeface="Open Sans"/>
                <a:ea typeface="Open Sans"/>
                <a:cs typeface="Open Sans"/>
                <a:sym typeface="Open Sans"/>
              </a:rPr>
              <a:t>: Remova do prompt qualquer linguagem fora da tarefa principal que tente influenciar o desempenho usando apelos emocionais, elogios ou pressão artificial. Embora os modelos de fundação de primeira geração tenham mostrado melhorias em algumas circunstâncias com instruções como "coisas muito ruins acontecerão se você não acertar isso", o desempenho dos modelos de fundação mais recentes não melhorará e, em muitos casos, irá piorar.</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Instruções e exemplos conflitantes</a:t>
            </a:r>
            <a:r>
              <a:rPr lang="en" sz="1200">
                <a:latin typeface="Open Sans"/>
                <a:ea typeface="Open Sans"/>
                <a:cs typeface="Open Sans"/>
                <a:sym typeface="Open Sans"/>
              </a:rPr>
              <a:t>: Verifique isso auditando o prompt em busca de contradições lógicas ou incompatibilidades entre as instruções, ou entre uma instrução e um exemplo.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Instruções e exemplos redundantes</a:t>
            </a:r>
            <a:r>
              <a:rPr lang="en" sz="1200">
                <a:latin typeface="Open Sans"/>
                <a:ea typeface="Open Sans"/>
                <a:cs typeface="Open Sans"/>
                <a:sym typeface="Open Sans"/>
              </a:rPr>
              <a:t>: Examine o prompt e os exemplos para ver se a mesma instrução ou conceito exato é declarado várias vezes de maneiras ligeiramente diferentes, sem adicionar novas informações ou nuances.</a:t>
            </a:r>
            <a:endParaRPr sz="1200">
              <a:latin typeface="Open Sans"/>
              <a:ea typeface="Open Sans"/>
              <a:cs typeface="Open Sans"/>
              <a:sym typeface="Open Sans"/>
            </a:endParaRPr>
          </a:p>
          <a:p>
            <a:pPr indent="0" lvl="0" marL="45720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498" name="Google Shape;498;p58"/>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99" name="Google Shape;499;p58"/>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500" name="Google Shape;500;p58"/>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01" name="Google Shape;501;p58"/>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502" name="Google Shape;502;p58"/>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503" name="Google Shape;503;p58"/>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9"/>
          <p:cNvSpPr txBox="1"/>
          <p:nvPr/>
        </p:nvSpPr>
        <p:spPr>
          <a:xfrm>
            <a:off x="279450" y="798275"/>
            <a:ext cx="7260000" cy="3933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Checklist de saúde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Instruções e exemplos irrelevantes</a:t>
            </a:r>
            <a:r>
              <a:rPr lang="en" sz="1200">
                <a:latin typeface="Open Sans"/>
                <a:ea typeface="Open Sans"/>
                <a:cs typeface="Open Sans"/>
                <a:sym typeface="Open Sans"/>
              </a:rPr>
              <a:t>: Verifique se todas as instruções e exemplos são essenciais para a tarefa principal. Se alguma instrução ou exemplo puder ser removido sem diminuir a capacidade do modelo de executar a tarefa principal, eles podem ser irrelevantes.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Uso de exemplos "few-shot" (com poucas amostras)</a:t>
            </a:r>
            <a:r>
              <a:rPr lang="en" sz="1200">
                <a:latin typeface="Open Sans"/>
                <a:ea typeface="Open Sans"/>
                <a:cs typeface="Open Sans"/>
                <a:sym typeface="Open Sans"/>
              </a:rPr>
              <a:t>: Se a tarefa for complexa, exigir um formato específico ou tiver um tom sutil, certifique-se de que haja exemplos concretos e ilustrativos que mostrem uma entrada de amostra e a saída correspondente.</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Falta de especificação do formato de saída</a:t>
            </a:r>
            <a:r>
              <a:rPr lang="en" sz="1200">
                <a:latin typeface="Open Sans"/>
                <a:ea typeface="Open Sans"/>
                <a:cs typeface="Open Sans"/>
                <a:sym typeface="Open Sans"/>
              </a:rPr>
              <a:t>: Evite deixar o modelo adivinhar a estrutura da saída; em vez disso, use uma instrução clara e explícita para especificar o formato e mostre a estrutura da saída em seus exemplos few-shot.</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Falta de definição de papel</a:t>
            </a:r>
            <a:r>
              <a:rPr lang="en" sz="1200">
                <a:latin typeface="Open Sans"/>
                <a:ea typeface="Open Sans"/>
                <a:cs typeface="Open Sans"/>
                <a:sym typeface="Open Sans"/>
              </a:rPr>
              <a:t>: Se você for pedir ao modelo para atuar em um papel específico, certifique-se de que esse papel esteja definido nas instruções do sistema.</a:t>
            </a:r>
            <a:endParaRPr sz="1200">
              <a:latin typeface="Open Sans"/>
              <a:ea typeface="Open Sans"/>
              <a:cs typeface="Open Sans"/>
              <a:sym typeface="Open Sans"/>
            </a:endParaRPr>
          </a:p>
          <a:p>
            <a:pPr indent="0" lvl="0" marL="45720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509" name="Google Shape;509;p59"/>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10" name="Google Shape;510;p59"/>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511" name="Google Shape;511;p59"/>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12" name="Google Shape;512;p59"/>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513" name="Google Shape;513;p59"/>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514" name="Google Shape;514;p59"/>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60"/>
          <p:cNvSpPr txBox="1"/>
          <p:nvPr/>
        </p:nvSpPr>
        <p:spPr>
          <a:xfrm>
            <a:off x="279450" y="798275"/>
            <a:ext cx="7260000" cy="41925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Checklist de saúde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Problemas de design de prompt e de sistema:</a:t>
            </a:r>
            <a:endParaRPr b="1"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Tarefa com especificação insuficiente</a:t>
            </a:r>
            <a:r>
              <a:rPr lang="en" sz="1200">
                <a:latin typeface="Open Sans"/>
                <a:ea typeface="Open Sans"/>
                <a:cs typeface="Open Sans"/>
                <a:sym typeface="Open Sans"/>
              </a:rPr>
              <a:t>: Garanta que as instruções do prompt forneçam um caminho claro para lidar com casos extremos (edge cases) e entradas inesperadas, e forneça instruções para lidar com dados ausentes em vez de presumir que os dados inseridos estarão sempre presentes e bem formatados.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Tarefa fora das capacidades do modelo</a:t>
            </a:r>
            <a:r>
              <a:rPr lang="en" sz="1200">
                <a:latin typeface="Open Sans"/>
                <a:ea typeface="Open Sans"/>
                <a:cs typeface="Open Sans"/>
                <a:sym typeface="Open Sans"/>
              </a:rPr>
              <a:t>: Evite usar prompts que peçam ao modelo para realizar uma tarefa para a qual ele tem uma limitação fundamental conhecida.</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Muitas tarefas</a:t>
            </a:r>
            <a:r>
              <a:rPr lang="en" sz="1200">
                <a:latin typeface="Open Sans"/>
                <a:ea typeface="Open Sans"/>
                <a:cs typeface="Open Sans"/>
                <a:sym typeface="Open Sans"/>
              </a:rPr>
              <a:t>: Se o prompt pede ao modelo para executar várias ações cognitivas distintas em uma única passagem (por exemplo, 1. Resumir, 2. Extrair entidades, 3. Traduzir e 4. Redigir um e-mail), é provável que esteja tentando fazer demais. Divida as solicitações em prompts separados.</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45720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520" name="Google Shape;520;p60"/>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21" name="Google Shape;521;p60"/>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522" name="Google Shape;522;p60"/>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23" name="Google Shape;523;p60"/>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524" name="Google Shape;524;p60"/>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525" name="Google Shape;525;p60"/>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1"/>
          <p:cNvSpPr txBox="1"/>
          <p:nvPr/>
        </p:nvSpPr>
        <p:spPr>
          <a:xfrm>
            <a:off x="279450" y="798275"/>
            <a:ext cx="7260000" cy="3933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Checklist de saúde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Formato de dados não padrão</a:t>
            </a:r>
            <a:r>
              <a:rPr lang="en" sz="1200">
                <a:latin typeface="Open Sans"/>
                <a:ea typeface="Open Sans"/>
                <a:cs typeface="Open Sans"/>
                <a:sym typeface="Open Sans"/>
              </a:rPr>
              <a:t>: Quando as saídas do modelo precisam ser legíveis por máquina ou seguir um formato específico, use um padrão amplamente reconhecido como JSON, XML, Markdown ou YAML, que pode ser analisado por bibliotecas comuns. Se o seu caso de uso exigir um formato não padrão, considere pedir ao modelo para gerar a saída em um formato comum e, em seguida, usar código para converter o resultado.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Ordem incorreta da Cadeia de Pensamento (CoT):</a:t>
            </a:r>
            <a:r>
              <a:rPr lang="en" sz="1200">
                <a:latin typeface="Open Sans"/>
                <a:ea typeface="Open Sans"/>
                <a:cs typeface="Open Sans"/>
                <a:sym typeface="Open Sans"/>
              </a:rPr>
              <a:t> Evite fornecer exemplos que mostrem o modelo gerando sua resposta final e estruturada antes de ter concluído seu raciocínio passo a passo.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Pensamento (Thinking) vs. Raciocínio:</a:t>
            </a:r>
            <a:r>
              <a:rPr lang="en" sz="1200">
                <a:latin typeface="Open Sans"/>
                <a:ea typeface="Open Sans"/>
                <a:cs typeface="Open Sans"/>
                <a:sym typeface="Open Sans"/>
              </a:rPr>
              <a:t> Se você estiver usando a função Thinking, tente usar um prompt sem instruções passo a passo sobre como o modelo deve raciocinar para a tarefa. Em vez disso, teste confiando no Thinking e veja se o raciocínio passo a passo que ele gera melhora o desempenho em comparação com suas instruções explícitas de raciocínio passo a passo.</a:t>
            </a:r>
            <a:endParaRPr b="1" sz="1200">
              <a:latin typeface="Open Sans"/>
              <a:ea typeface="Open Sans"/>
              <a:cs typeface="Open Sans"/>
              <a:sym typeface="Open Sans"/>
            </a:endParaRPr>
          </a:p>
        </p:txBody>
      </p:sp>
      <p:sp>
        <p:nvSpPr>
          <p:cNvPr id="531" name="Google Shape;531;p61"/>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32" name="Google Shape;532;p61"/>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533" name="Google Shape;533;p61"/>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34" name="Google Shape;534;p61"/>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535" name="Google Shape;535;p61"/>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536" name="Google Shape;536;p61"/>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62"/>
          <p:cNvSpPr txBox="1"/>
          <p:nvPr/>
        </p:nvSpPr>
        <p:spPr>
          <a:xfrm>
            <a:off x="279450" y="798275"/>
            <a:ext cx="7260000" cy="2124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Checklist de saúde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Referências internas conflitantes:</a:t>
            </a:r>
            <a:r>
              <a:rPr lang="en" sz="1200">
                <a:latin typeface="Open Sans"/>
                <a:ea typeface="Open Sans"/>
                <a:cs typeface="Open Sans"/>
                <a:sym typeface="Open Sans"/>
              </a:rPr>
              <a:t> Evite escrever um prompt com lógica não linear ou condicionais que exijam que o modelo junte instruções fragmentadas de múltiplos lugares diferentes no prompt.</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Risco de injeção de prompt (prompt injection):</a:t>
            </a:r>
            <a:r>
              <a:rPr lang="en" sz="1200">
                <a:latin typeface="Open Sans"/>
                <a:ea typeface="Open Sans"/>
                <a:cs typeface="Open Sans"/>
                <a:sym typeface="Open Sans"/>
              </a:rPr>
              <a:t> Verifique se existem proteções explícitas em torno da entrada não confiável do usuário que é inserida no prompt, pois isso pode ser um grande risco de segurança.</a:t>
            </a:r>
            <a:endParaRPr sz="1200">
              <a:latin typeface="Open Sans"/>
              <a:ea typeface="Open Sans"/>
              <a:cs typeface="Open Sans"/>
              <a:sym typeface="Open Sans"/>
            </a:endParaRPr>
          </a:p>
        </p:txBody>
      </p:sp>
      <p:sp>
        <p:nvSpPr>
          <p:cNvPr id="542" name="Google Shape;542;p62"/>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43" name="Google Shape;543;p62"/>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544" name="Google Shape;544;p62"/>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45" name="Google Shape;545;p62"/>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546" name="Google Shape;546;p62"/>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547" name="Google Shape;547;p62"/>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3"/>
          <p:cNvSpPr/>
          <p:nvPr/>
        </p:nvSpPr>
        <p:spPr>
          <a:xfrm>
            <a:off x="7164451" y="1158587"/>
            <a:ext cx="3664872" cy="3173797"/>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696"/>
          </a:solidFill>
          <a:ln>
            <a:noFill/>
          </a:ln>
        </p:spPr>
      </p:sp>
      <p:sp>
        <p:nvSpPr>
          <p:cNvPr id="553" name="Google Shape;553;p63"/>
          <p:cNvSpPr/>
          <p:nvPr/>
        </p:nvSpPr>
        <p:spPr>
          <a:xfrm>
            <a:off x="6061472" y="3517563"/>
            <a:ext cx="2488494" cy="2155047"/>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554" name="Google Shape;554;p63"/>
          <p:cNvSpPr/>
          <p:nvPr/>
        </p:nvSpPr>
        <p:spPr>
          <a:xfrm>
            <a:off x="6168171" y="2977421"/>
            <a:ext cx="1140183" cy="987403"/>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55" name="Google Shape;555;p63"/>
          <p:cNvSpPr/>
          <p:nvPr/>
        </p:nvSpPr>
        <p:spPr>
          <a:xfrm>
            <a:off x="6868885" y="186802"/>
            <a:ext cx="1900304" cy="1645672"/>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56" name="Google Shape;556;p63"/>
          <p:cNvSpPr/>
          <p:nvPr/>
        </p:nvSpPr>
        <p:spPr>
          <a:xfrm>
            <a:off x="514350" y="369051"/>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557" name="Google Shape;557;p63"/>
          <p:cNvSpPr/>
          <p:nvPr/>
        </p:nvSpPr>
        <p:spPr>
          <a:xfrm>
            <a:off x="184424" y="4593608"/>
            <a:ext cx="1342176" cy="411675"/>
          </a:xfrm>
          <a:custGeom>
            <a:rect b="b" l="l" r="r" t="t"/>
            <a:pathLst>
              <a:path extrusionOk="0" h="823351" w="2684351">
                <a:moveTo>
                  <a:pt x="0" y="0"/>
                </a:moveTo>
                <a:lnTo>
                  <a:pt x="2684350" y="0"/>
                </a:lnTo>
                <a:lnTo>
                  <a:pt x="2684350" y="823351"/>
                </a:lnTo>
                <a:lnTo>
                  <a:pt x="0" y="823351"/>
                </a:lnTo>
                <a:lnTo>
                  <a:pt x="0" y="0"/>
                </a:lnTo>
                <a:close/>
              </a:path>
            </a:pathLst>
          </a:custGeom>
          <a:blipFill rotWithShape="1">
            <a:blip r:embed="rId4">
              <a:alphaModFix/>
            </a:blip>
            <a:stretch>
              <a:fillRect b="0" l="0" r="0" t="0"/>
            </a:stretch>
          </a:blipFill>
          <a:ln>
            <a:noFill/>
          </a:ln>
        </p:spPr>
      </p:sp>
      <p:grpSp>
        <p:nvGrpSpPr>
          <p:cNvPr id="558" name="Google Shape;558;p63"/>
          <p:cNvGrpSpPr/>
          <p:nvPr/>
        </p:nvGrpSpPr>
        <p:grpSpPr>
          <a:xfrm>
            <a:off x="514350" y="869375"/>
            <a:ext cx="9446063" cy="3570704"/>
            <a:chOff x="0" y="-3216137"/>
            <a:chExt cx="25189500" cy="9521877"/>
          </a:xfrm>
        </p:grpSpPr>
        <p:sp>
          <p:nvSpPr>
            <p:cNvPr id="559" name="Google Shape;559;p63"/>
            <p:cNvSpPr txBox="1"/>
            <p:nvPr/>
          </p:nvSpPr>
          <p:spPr>
            <a:xfrm>
              <a:off x="0" y="-3216137"/>
              <a:ext cx="25189500" cy="4827000"/>
            </a:xfrm>
            <a:prstGeom prst="rect">
              <a:avLst/>
            </a:prstGeom>
            <a:noFill/>
            <a:ln>
              <a:noFill/>
            </a:ln>
          </p:spPr>
          <p:txBody>
            <a:bodyPr anchorCtr="0" anchor="t" bIns="0" lIns="0" spcFirstLastPara="1" rIns="0" wrap="square" tIns="0">
              <a:spAutoFit/>
            </a:bodyPr>
            <a:lstStyle/>
            <a:p>
              <a:pPr indent="0" lvl="0" marL="0" marR="0" rtl="0" algn="l">
                <a:lnSpc>
                  <a:spcPct val="120001"/>
                </a:lnSpc>
                <a:spcBef>
                  <a:spcPts val="0"/>
                </a:spcBef>
                <a:spcAft>
                  <a:spcPts val="0"/>
                </a:spcAft>
                <a:buNone/>
              </a:pPr>
              <a:r>
                <a:rPr b="1" lang="en" sz="4800">
                  <a:latin typeface="Fira Sans"/>
                  <a:ea typeface="Fira Sans"/>
                  <a:cs typeface="Fira Sans"/>
                  <a:sym typeface="Fira Sans"/>
                </a:rPr>
                <a:t>Agradecemos!</a:t>
              </a:r>
              <a:endParaRPr b="1" sz="4800">
                <a:latin typeface="Fira Sans"/>
                <a:ea typeface="Fira Sans"/>
                <a:cs typeface="Fira Sans"/>
                <a:sym typeface="Fira Sans"/>
              </a:endParaRPr>
            </a:p>
            <a:p>
              <a:pPr indent="0" lvl="0" marL="0" marR="0" rtl="0" algn="l">
                <a:lnSpc>
                  <a:spcPct val="120001"/>
                </a:lnSpc>
                <a:spcBef>
                  <a:spcPts val="0"/>
                </a:spcBef>
                <a:spcAft>
                  <a:spcPts val="0"/>
                </a:spcAft>
                <a:buNone/>
              </a:pPr>
              <a:r>
                <a:t/>
              </a:r>
              <a:endParaRPr b="1" sz="6000">
                <a:latin typeface="Fira Sans"/>
                <a:ea typeface="Fira Sans"/>
                <a:cs typeface="Fira Sans"/>
                <a:sym typeface="Fira Sans"/>
              </a:endParaRPr>
            </a:p>
          </p:txBody>
        </p:sp>
        <p:sp>
          <p:nvSpPr>
            <p:cNvPr id="560" name="Google Shape;560;p63"/>
            <p:cNvSpPr txBox="1"/>
            <p:nvPr/>
          </p:nvSpPr>
          <p:spPr>
            <a:xfrm>
              <a:off x="0" y="5566839"/>
              <a:ext cx="13603500" cy="738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lang="en" sz="1800">
                  <a:latin typeface="Fira Sans Light"/>
                  <a:ea typeface="Fira Sans Light"/>
                  <a:cs typeface="Fira Sans Light"/>
                  <a:sym typeface="Fira Sans Light"/>
                </a:rPr>
                <a:t>7</a:t>
              </a:r>
              <a:r>
                <a:rPr lang="en" sz="1800">
                  <a:latin typeface="Fira Sans Light"/>
                  <a:ea typeface="Fira Sans Light"/>
                  <a:cs typeface="Fira Sans Light"/>
                  <a:sym typeface="Fira Sans Light"/>
                </a:rPr>
                <a:t> de Novembro de 2025</a:t>
              </a:r>
              <a:endParaRPr sz="700"/>
            </a:p>
          </p:txBody>
        </p:sp>
      </p:grpSp>
      <p:sp>
        <p:nvSpPr>
          <p:cNvPr id="561" name="Google Shape;561;p63"/>
          <p:cNvSpPr txBox="1"/>
          <p:nvPr/>
        </p:nvSpPr>
        <p:spPr>
          <a:xfrm>
            <a:off x="3056925" y="4804800"/>
            <a:ext cx="3432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562" name="Google Shape;562;p63"/>
          <p:cNvSpPr txBox="1"/>
          <p:nvPr/>
        </p:nvSpPr>
        <p:spPr>
          <a:xfrm>
            <a:off x="514350" y="1878400"/>
            <a:ext cx="3432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7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